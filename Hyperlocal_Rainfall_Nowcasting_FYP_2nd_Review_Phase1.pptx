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309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review focuses on what has actually been implemented in Phase 1. We will demonstrate the backend ingestion system, database, feature engineering and live dashboard, followed by the planned ML and NWP modules.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is primarily an engineering foundation. We have moved from a conceptual design to a running backend, real station ingestion, persistent data, engineered features and a live web dashboard.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engineering challenge is integration: reliable collection, normalization and storage must come before useful prediction. The final platform is intended to bring observation, prediction and geospatial forecast context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not claiming these systems are inadequate. They solve different parts of the weather-information problem. Our engineering contribution is a unified workflow tailored to a regional hyperlocal nowcasting use case.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proposed system is layered so each concern is testable independently. Phase 1 has implemented the observation and web foundation, while the ML and NWP intelligence layers are the main Phase 2 development targets.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architecture reflects the actual Phase 1 implementation. The backend runs scheduled adapters, persists data through SQLAlchemy and exposes REST APIs. The Next.js frontend consumes those APIs. ML and ECMWF branches are shown as planned extensions.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complete backend module. The scheduler runs every 60 seconds, adapters normalize provider data, startup backfill protects continuity, and database constraints plus an explicit existence check prevent duplicate readings. The two screenshots should demonstrate the live API rather than mock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feature engineering module is already implemented. The three primary engineered signals capture moisture state and atmospheric tendency, while spatial neighbor features are intended to represent local variation. These are designed as model inputs, not as standalone rainfall rules.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frontend is also operational. HeroWeather displays aggregate statistics, StationCard shows the latest weather values, and TrendChart provides a 24-hour view. The dashboard automatically refreshes every 30 seconds and supports search and source filtering.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ML engine is Phase 2, not a completed Phase 1 module. We will establish RF and XGBoost baselines first, then test temporal and spatiotemporal neural architectures. This staged approach lets us quantify whether complexity produces meaningful improvement.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NWP module will turn gridded ECMWF forecast data into interactive geospatial layers. The key engineering step is converting GRIB2 fields into a raster representation that can be efficiently displayed together with station observations.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features are planned for Phase 2. The database already includes a BlogPost table, while authentication and community interaction are still to be implemented and secured before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separates implemented work from planned work. For the review, the completed modules are the evidence of Phase 1 progress, while the remaining items define the Phase 2 execution roadmap.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literature group establishes the evolution from ConvLSTM to modern deep nowcasting. The important gap for our project is not simply model novelty; it is adapting spatiotemporal ideas to heterogeneous local station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group motivates our model progression. Tree models are practical baselines, while GNNs can represent relationships among stations. Hybrid NWP-learning approaches motivate keeping ECMWF as a parallel contextual source.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 1 scope is already demonstrable. The broader project objectives continue into Phase 2, especially model training, NWP processing and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technology stack is intentionally modular. Python handles data and ML, FastAPI exposes services, SQLAlchemy manages persistence, Next.js provides the user interface, and the geospatial stack will process ECMWF data in Phase 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has converted the original concept into a working data and visualization platform. Phase 2 will add the core predictive intelligence and geospatial NWP layer, followed by authentication, community features and production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references cover the scientific foundation of precipitation nowcasting and the operational/software components used in the project. The final report will expand the literature review and include exact URLs, DOIs and access dates where applicable.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1725978"/>
            <a:ext cx="10972800" cy="861774"/>
          </a:xfrm>
          <a:prstGeom prst="rect">
            <a:avLst/>
          </a:prstGeom>
          <a:noFill/>
        </p:spPr>
        <p:txBody>
          <a:bodyPr wrap="square">
            <a:spAutoFit/>
          </a:bodyPr>
          <a:lstStyle/>
          <a:p>
            <a:r>
              <a:rPr lang="en-US" sz="2500" b="1" dirty="0">
                <a:latin typeface="Times New Roman" panose="02020603050405020304" pitchFamily="18" charset="0"/>
                <a:cs typeface="Times New Roman" panose="02020603050405020304" pitchFamily="18" charset="0"/>
              </a:rPr>
              <a:t>MULTI-SOURCE AI FOR HYPERLOCAL RAINFALL NOWCASTING</a:t>
            </a:r>
            <a:endParaRPr lang="en-IN" sz="2500" dirty="0">
              <a:latin typeface="Times New Roman" panose="02020603050405020304" pitchFamily="18" charset="0"/>
              <a:cs typeface="Times New Roman" panose="02020603050405020304" pitchFamily="18" charset="0"/>
            </a:endParaRPr>
          </a:p>
          <a:p>
            <a:pPr algn="l"/>
            <a:endParaRPr sz="2500" b="1" dirty="0">
              <a:solidFill>
                <a:srgbClr val="141414"/>
              </a:solidFill>
              <a:latin typeface="Times New Roman" panose="02020603050405020304" pitchFamily="18" charset="0"/>
              <a:cs typeface="Times New Roman" panose="02020603050405020304" pitchFamily="18" charset="0"/>
            </a:endParaRPr>
          </a:p>
        </p:txBody>
      </p:sp>
      <p:sp>
        <p:nvSpPr>
          <p:cNvPr id="4" name="Rectangle 3"/>
          <p:cNvSpPr/>
          <p:nvPr/>
        </p:nvSpPr>
        <p:spPr>
          <a:xfrm>
            <a:off x="829056" y="241630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2040" y="2825496"/>
            <a:ext cx="10332720" cy="822960"/>
          </a:xfrm>
          <a:prstGeom prst="rect">
            <a:avLst/>
          </a:prstGeom>
          <a:noFill/>
        </p:spPr>
        <p:txBody>
          <a:bodyPr wrap="square">
            <a:spAutoFit/>
          </a:bodyPr>
          <a:lstStyle/>
          <a:p>
            <a:pPr algn="ctr"/>
            <a:r>
              <a:rPr sz="2200" b="1" dirty="0">
                <a:solidFill>
                  <a:srgbClr val="141414"/>
                </a:solidFill>
                <a:latin typeface="Aptos"/>
              </a:rPr>
              <a:t>ACTUAL IMPLEMENTATION · CODE ARCHITECTURE · LIVE DATA · DASHBOARD</a:t>
            </a:r>
          </a:p>
        </p:txBody>
      </p:sp>
      <p:sp>
        <p:nvSpPr>
          <p:cNvPr id="7" name="Rounded Rectangle 6"/>
          <p:cNvSpPr/>
          <p:nvPr/>
        </p:nvSpPr>
        <p:spPr>
          <a:xfrm>
            <a:off x="1962912" y="3621024"/>
            <a:ext cx="8570976" cy="18745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1512" y="3867912"/>
            <a:ext cx="8046720" cy="1323439"/>
          </a:xfrm>
          <a:prstGeom prst="rect">
            <a:avLst/>
          </a:prstGeom>
          <a:noFill/>
        </p:spPr>
        <p:txBody>
          <a:bodyPr wrap="square">
            <a:spAutoFit/>
          </a:bodyPr>
          <a:lstStyle/>
          <a:p>
            <a:pPr algn="ctr"/>
            <a:r>
              <a:rPr sz="2000" b="0" dirty="0">
                <a:solidFill>
                  <a:srgbClr val="141414"/>
                </a:solidFill>
                <a:latin typeface="Times New Roman" panose="02020603050405020304" pitchFamily="18" charset="0"/>
                <a:cs typeface="Times New Roman" panose="02020603050405020304" pitchFamily="18" charset="0"/>
              </a:rPr>
              <a:t>Bharath B (23UCS025) · Ariyan M (23UCS015) · </a:t>
            </a:r>
            <a:r>
              <a:rPr sz="2000" b="0" dirty="0" err="1">
                <a:solidFill>
                  <a:srgbClr val="141414"/>
                </a:solidFill>
                <a:latin typeface="Times New Roman" panose="02020603050405020304" pitchFamily="18" charset="0"/>
                <a:cs typeface="Times New Roman" panose="02020603050405020304" pitchFamily="18" charset="0"/>
              </a:rPr>
              <a:t>Hemnnath</a:t>
            </a:r>
            <a:r>
              <a:rPr sz="2000" b="0" dirty="0">
                <a:solidFill>
                  <a:srgbClr val="141414"/>
                </a:solidFill>
                <a:latin typeface="Times New Roman" panose="02020603050405020304" pitchFamily="18" charset="0"/>
                <a:cs typeface="Times New Roman" panose="02020603050405020304" pitchFamily="18" charset="0"/>
              </a:rPr>
              <a:t> G (23UCS066)</a:t>
            </a:r>
            <a:endParaRPr lang="en-US" sz="2000" b="0" dirty="0">
              <a:solidFill>
                <a:srgbClr val="141414"/>
              </a:solidFill>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IV Year CSE </a:t>
            </a:r>
            <a:r>
              <a:rPr sz="2000" b="0" dirty="0">
                <a:solidFill>
                  <a:srgbClr val="141414"/>
                </a:solidFill>
                <a:latin typeface="Times New Roman" panose="02020603050405020304" pitchFamily="18" charset="0"/>
                <a:cs typeface="Times New Roman" panose="02020603050405020304" pitchFamily="18" charset="0"/>
              </a:rPr>
              <a:t>
Guide: Mrs. N. </a:t>
            </a:r>
            <a:r>
              <a:rPr sz="2000" b="0" dirty="0" err="1">
                <a:solidFill>
                  <a:srgbClr val="141414"/>
                </a:solidFill>
                <a:latin typeface="Times New Roman" panose="02020603050405020304" pitchFamily="18" charset="0"/>
                <a:cs typeface="Times New Roman" panose="02020603050405020304" pitchFamily="18" charset="0"/>
              </a:rPr>
              <a:t>Danapaquiame</a:t>
            </a:r>
            <a:r>
              <a:rPr sz="2000" b="0" dirty="0">
                <a:solidFill>
                  <a:srgbClr val="141414"/>
                </a:solidFill>
                <a:latin typeface="Times New Roman" panose="02020603050405020304" pitchFamily="18" charset="0"/>
                <a:cs typeface="Times New Roman" panose="02020603050405020304" pitchFamily="18" charset="0"/>
              </a:rPr>
              <a:t>, Professor &amp; HOD, CSE
Sri Manakula Vinayagar Engineering College </a:t>
            </a:r>
          </a:p>
        </p:txBody>
      </p:sp>
      <p:pic>
        <p:nvPicPr>
          <p:cNvPr id="5" name="Picture 4">
            <a:extLst>
              <a:ext uri="{FF2B5EF4-FFF2-40B4-BE49-F238E27FC236}">
                <a16:creationId xmlns:a16="http://schemas.microsoft.com/office/drawing/2014/main" id="{0A6BAE81-E1B5-1150-CA00-0C48CEF56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759" y="118873"/>
            <a:ext cx="8830849" cy="7680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77054"/>
          </a:xfrm>
          <a:prstGeom prst="rect">
            <a:avLst/>
          </a:prstGeom>
          <a:noFill/>
        </p:spPr>
        <p:txBody>
          <a:bodyPr wrap="square">
            <a:spAutoFit/>
          </a:bodyPr>
          <a:lstStyle/>
          <a:p>
            <a:pPr algn="l"/>
            <a:r>
              <a:rPr sz="2500" b="1" dirty="0">
                <a:solidFill>
                  <a:srgbClr val="141414"/>
                </a:solidFill>
                <a:latin typeface="Times New Roman" panose="02020603050405020304" pitchFamily="18" charset="0"/>
                <a:cs typeface="Times New Roman" panose="02020603050405020304" pitchFamily="18" charset="0"/>
              </a:rPr>
              <a:t>Abstract</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5" name="Rounded Rectangle 4"/>
          <p:cNvSpPr/>
          <p:nvPr/>
        </p:nvSpPr>
        <p:spPr>
          <a:xfrm>
            <a:off x="731520" y="1371600"/>
            <a:ext cx="10698480" cy="475488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6" name="TextBox 5"/>
          <p:cNvSpPr txBox="1"/>
          <p:nvPr/>
        </p:nvSpPr>
        <p:spPr>
          <a:xfrm>
            <a:off x="960120" y="1609344"/>
            <a:ext cx="10149840"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The project implements a hyperlocal rainfall intelligence platform for Puducherry and Tamil Nadu, targeting a future 0–3 hour nowcasting layer. Phase 1 establishes the data and application foundation required for reliable model development.</a:t>
            </a:r>
          </a:p>
        </p:txBody>
      </p:sp>
      <p:sp>
        <p:nvSpPr>
          <p:cNvPr id="7" name="TextBox 6"/>
          <p:cNvSpPr txBox="1"/>
          <p:nvPr/>
        </p:nvSpPr>
        <p:spPr>
          <a:xfrm>
            <a:off x="960120" y="2432304"/>
            <a:ext cx="10149840" cy="784830"/>
          </a:xfrm>
          <a:prstGeom prst="rect">
            <a:avLst/>
          </a:prstGeom>
          <a:noFill/>
        </p:spPr>
        <p:txBody>
          <a:bodyPr wrap="square">
            <a:spAutoFit/>
          </a:bodyPr>
          <a:lstStyle/>
          <a:p>
            <a:pPr algn="l"/>
            <a:r>
              <a:rPr sz="1500" b="0" dirty="0">
                <a:solidFill>
                  <a:srgbClr val="141414"/>
                </a:solidFill>
                <a:latin typeface="Times New Roman" panose="02020603050405020304" pitchFamily="18" charset="0"/>
                <a:cs typeface="Times New Roman" panose="02020603050405020304" pitchFamily="18" charset="0"/>
              </a:rPr>
              <a:t>Live weather observations are collected through modular adapters. The current implementation integrates six real Personal Weather Stations in Puducherry/Auroville and supports Open-</a:t>
            </a:r>
            <a:r>
              <a:rPr sz="1500" b="0" dirty="0" err="1">
                <a:solidFill>
                  <a:srgbClr val="141414"/>
                </a:solidFill>
                <a:latin typeface="Times New Roman" panose="02020603050405020304" pitchFamily="18" charset="0"/>
                <a:cs typeface="Times New Roman" panose="02020603050405020304" pitchFamily="18" charset="0"/>
              </a:rPr>
              <a:t>Meteo</a:t>
            </a:r>
            <a:r>
              <a:rPr sz="1500" b="0" dirty="0">
                <a:solidFill>
                  <a:srgbClr val="141414"/>
                </a:solidFill>
                <a:latin typeface="Times New Roman" panose="02020603050405020304" pitchFamily="18" charset="0"/>
                <a:cs typeface="Times New Roman" panose="02020603050405020304" pitchFamily="18" charset="0"/>
              </a:rPr>
              <a:t> live/backfill ingestion, while the IMD adapter is prepared as a stub.</a:t>
            </a:r>
          </a:p>
        </p:txBody>
      </p:sp>
      <p:sp>
        <p:nvSpPr>
          <p:cNvPr id="8" name="TextBox 7"/>
          <p:cNvSpPr txBox="1"/>
          <p:nvPr/>
        </p:nvSpPr>
        <p:spPr>
          <a:xfrm>
            <a:off x="960120" y="3255264"/>
            <a:ext cx="10149840"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An asynchronous FastAPI backend, APScheduler and SQLAlchemy manage scheduled ingestion, deduplication, 48-hour startup backfill and persistent storage in SQLite. REST endpoints expose overview, station and reading data to the frontend.</a:t>
            </a:r>
          </a:p>
        </p:txBody>
      </p:sp>
      <p:sp>
        <p:nvSpPr>
          <p:cNvPr id="9" name="TextBox 8"/>
          <p:cNvSpPr txBox="1"/>
          <p:nvPr/>
        </p:nvSpPr>
        <p:spPr>
          <a:xfrm>
            <a:off x="960120" y="4078224"/>
            <a:ext cx="10149840" cy="784830"/>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The ML pipeline already contains domain-driven feature engineering for dew-point spread, pressure-drop rate and humidity change. These features form the input foundation for the planned RF/XGBoost, LSTM and CNN/GNN-LSTM nowcasting experiments.</a:t>
            </a:r>
          </a:p>
        </p:txBody>
      </p:sp>
      <p:sp>
        <p:nvSpPr>
          <p:cNvPr id="10" name="TextBox 9"/>
          <p:cNvSpPr txBox="1"/>
          <p:nvPr/>
        </p:nvSpPr>
        <p:spPr>
          <a:xfrm>
            <a:off x="960120" y="4901184"/>
            <a:ext cx="10149840"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A Next.js dashboard provides 30-second auto-refresh, live station cards, 24-hour Recharts trends, search and source filtering. Phase 2 will add the trained nowcasting engine, ECMWF NWP raster maps, authentication and community features.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77054"/>
          </a:xfrm>
          <a:prstGeom prst="rect">
            <a:avLst/>
          </a:prstGeom>
          <a:noFill/>
        </p:spPr>
        <p:txBody>
          <a:bodyPr wrap="square">
            <a:spAutoFit/>
          </a:bodyPr>
          <a:lstStyle/>
          <a:p>
            <a:pPr algn="l"/>
            <a:r>
              <a:rPr sz="2500" b="1" dirty="0">
                <a:solidFill>
                  <a:srgbClr val="141414"/>
                </a:solidFill>
                <a:latin typeface="Aptos"/>
              </a:rPr>
              <a:t>Problem Statement</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ounded Rectangle 4"/>
          <p:cNvSpPr/>
          <p:nvPr/>
        </p:nvSpPr>
        <p:spPr>
          <a:xfrm>
            <a:off x="777240" y="1417320"/>
            <a:ext cx="5074920" cy="164592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p:cNvSpPr txBox="1"/>
          <p:nvPr/>
        </p:nvSpPr>
        <p:spPr>
          <a:xfrm>
            <a:off x="960120" y="1600200"/>
            <a:ext cx="457200" cy="338554"/>
          </a:xfrm>
          <a:prstGeom prst="rect">
            <a:avLst/>
          </a:prstGeom>
          <a:noFill/>
        </p:spPr>
        <p:txBody>
          <a:bodyPr wrap="square">
            <a:spAutoFit/>
          </a:bodyPr>
          <a:lstStyle/>
          <a:p>
            <a:pPr algn="l"/>
            <a:r>
              <a:rPr sz="1600" b="1">
                <a:solidFill>
                  <a:srgbClr val="5F5F5F"/>
                </a:solidFill>
                <a:latin typeface="Aptos"/>
              </a:rPr>
              <a:t>01</a:t>
            </a:r>
          </a:p>
        </p:txBody>
      </p:sp>
      <p:sp>
        <p:nvSpPr>
          <p:cNvPr id="7" name="TextBox 6"/>
          <p:cNvSpPr txBox="1"/>
          <p:nvPr/>
        </p:nvSpPr>
        <p:spPr>
          <a:xfrm>
            <a:off x="1508760" y="1581912"/>
            <a:ext cx="4023360" cy="338554"/>
          </a:xfrm>
          <a:prstGeom prst="rect">
            <a:avLst/>
          </a:prstGeom>
          <a:noFill/>
        </p:spPr>
        <p:txBody>
          <a:bodyPr wrap="square">
            <a:spAutoFit/>
          </a:bodyPr>
          <a:lstStyle/>
          <a:p>
            <a:pPr algn="l"/>
            <a:r>
              <a:rPr sz="1600" b="1">
                <a:solidFill>
                  <a:srgbClr val="141414"/>
                </a:solidFill>
                <a:latin typeface="Aptos"/>
              </a:rPr>
              <a:t>Fragmented weather observations</a:t>
            </a:r>
          </a:p>
        </p:txBody>
      </p:sp>
      <p:sp>
        <p:nvSpPr>
          <p:cNvPr id="8" name="TextBox 7"/>
          <p:cNvSpPr txBox="1"/>
          <p:nvPr/>
        </p:nvSpPr>
        <p:spPr>
          <a:xfrm>
            <a:off x="1508760" y="2011680"/>
            <a:ext cx="4069080" cy="830997"/>
          </a:xfrm>
          <a:prstGeom prst="rect">
            <a:avLst/>
          </a:prstGeom>
          <a:noFill/>
        </p:spPr>
        <p:txBody>
          <a:bodyPr wrap="square">
            <a:spAutoFit/>
          </a:bodyPr>
          <a:lstStyle/>
          <a:p>
            <a:pPr algn="l"/>
            <a:r>
              <a:rPr sz="1600" b="0">
                <a:solidFill>
                  <a:srgbClr val="141414"/>
                </a:solidFill>
                <a:latin typeface="Aptos"/>
              </a:rPr>
              <a:t>Official and personal stations are distributed across different sources and APIs.</a:t>
            </a:r>
          </a:p>
        </p:txBody>
      </p:sp>
      <p:sp>
        <p:nvSpPr>
          <p:cNvPr id="9" name="Rounded Rectangle 8"/>
          <p:cNvSpPr/>
          <p:nvPr/>
        </p:nvSpPr>
        <p:spPr>
          <a:xfrm>
            <a:off x="6263640" y="1417320"/>
            <a:ext cx="5074920" cy="164592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6446520" y="1600200"/>
            <a:ext cx="457200" cy="338554"/>
          </a:xfrm>
          <a:prstGeom prst="rect">
            <a:avLst/>
          </a:prstGeom>
          <a:noFill/>
        </p:spPr>
        <p:txBody>
          <a:bodyPr wrap="square">
            <a:spAutoFit/>
          </a:bodyPr>
          <a:lstStyle/>
          <a:p>
            <a:pPr algn="l"/>
            <a:r>
              <a:rPr sz="1600" b="1">
                <a:solidFill>
                  <a:srgbClr val="5F5F5F"/>
                </a:solidFill>
                <a:latin typeface="Aptos"/>
              </a:rPr>
              <a:t>02</a:t>
            </a:r>
          </a:p>
        </p:txBody>
      </p:sp>
      <p:sp>
        <p:nvSpPr>
          <p:cNvPr id="11" name="TextBox 10"/>
          <p:cNvSpPr txBox="1"/>
          <p:nvPr/>
        </p:nvSpPr>
        <p:spPr>
          <a:xfrm>
            <a:off x="6995159" y="1581912"/>
            <a:ext cx="4023360" cy="338554"/>
          </a:xfrm>
          <a:prstGeom prst="rect">
            <a:avLst/>
          </a:prstGeom>
          <a:noFill/>
        </p:spPr>
        <p:txBody>
          <a:bodyPr wrap="square">
            <a:spAutoFit/>
          </a:bodyPr>
          <a:lstStyle/>
          <a:p>
            <a:pPr algn="l"/>
            <a:r>
              <a:rPr sz="1600" b="1">
                <a:solidFill>
                  <a:srgbClr val="141414"/>
                </a:solidFill>
                <a:latin typeface="Aptos"/>
              </a:rPr>
              <a:t>Immediate 0–3h prediction gap</a:t>
            </a:r>
          </a:p>
        </p:txBody>
      </p:sp>
      <p:sp>
        <p:nvSpPr>
          <p:cNvPr id="12" name="TextBox 11"/>
          <p:cNvSpPr txBox="1"/>
          <p:nvPr/>
        </p:nvSpPr>
        <p:spPr>
          <a:xfrm>
            <a:off x="6995159" y="2011680"/>
            <a:ext cx="4069080" cy="1077218"/>
          </a:xfrm>
          <a:prstGeom prst="rect">
            <a:avLst/>
          </a:prstGeom>
          <a:noFill/>
        </p:spPr>
        <p:txBody>
          <a:bodyPr wrap="square">
            <a:spAutoFit/>
          </a:bodyPr>
          <a:lstStyle/>
          <a:p>
            <a:pPr algn="l"/>
            <a:r>
              <a:rPr sz="1600" b="0">
                <a:solidFill>
                  <a:srgbClr val="141414"/>
                </a:solidFill>
                <a:latin typeface="Aptos"/>
              </a:rPr>
              <a:t>Users can observe current weather or access broader forecasts, but the project targets a unified hyperlocal nowcast window.</a:t>
            </a:r>
          </a:p>
        </p:txBody>
      </p:sp>
      <p:sp>
        <p:nvSpPr>
          <p:cNvPr id="13" name="Rounded Rectangle 12"/>
          <p:cNvSpPr/>
          <p:nvPr/>
        </p:nvSpPr>
        <p:spPr>
          <a:xfrm>
            <a:off x="777240" y="3474720"/>
            <a:ext cx="5074920" cy="164592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960120" y="3657600"/>
            <a:ext cx="457200" cy="338554"/>
          </a:xfrm>
          <a:prstGeom prst="rect">
            <a:avLst/>
          </a:prstGeom>
          <a:noFill/>
        </p:spPr>
        <p:txBody>
          <a:bodyPr wrap="square">
            <a:spAutoFit/>
          </a:bodyPr>
          <a:lstStyle/>
          <a:p>
            <a:pPr algn="l"/>
            <a:r>
              <a:rPr sz="1600" b="1">
                <a:solidFill>
                  <a:srgbClr val="5F5F5F"/>
                </a:solidFill>
                <a:latin typeface="Aptos"/>
              </a:rPr>
              <a:t>03</a:t>
            </a:r>
          </a:p>
        </p:txBody>
      </p:sp>
      <p:sp>
        <p:nvSpPr>
          <p:cNvPr id="15" name="TextBox 14"/>
          <p:cNvSpPr txBox="1"/>
          <p:nvPr/>
        </p:nvSpPr>
        <p:spPr>
          <a:xfrm>
            <a:off x="1508760" y="3639312"/>
            <a:ext cx="4023360" cy="338554"/>
          </a:xfrm>
          <a:prstGeom prst="rect">
            <a:avLst/>
          </a:prstGeom>
          <a:noFill/>
        </p:spPr>
        <p:txBody>
          <a:bodyPr wrap="square">
            <a:spAutoFit/>
          </a:bodyPr>
          <a:lstStyle/>
          <a:p>
            <a:pPr algn="l"/>
            <a:r>
              <a:rPr sz="1600" b="1">
                <a:solidFill>
                  <a:srgbClr val="141414"/>
                </a:solidFill>
                <a:latin typeface="Aptos"/>
              </a:rPr>
              <a:t>Heterogeneous time-series data</a:t>
            </a:r>
          </a:p>
        </p:txBody>
      </p:sp>
      <p:sp>
        <p:nvSpPr>
          <p:cNvPr id="16" name="TextBox 15"/>
          <p:cNvSpPr txBox="1"/>
          <p:nvPr/>
        </p:nvSpPr>
        <p:spPr>
          <a:xfrm>
            <a:off x="1508760" y="4069080"/>
            <a:ext cx="4069080" cy="830997"/>
          </a:xfrm>
          <a:prstGeom prst="rect">
            <a:avLst/>
          </a:prstGeom>
          <a:noFill/>
        </p:spPr>
        <p:txBody>
          <a:bodyPr wrap="square">
            <a:spAutoFit/>
          </a:bodyPr>
          <a:lstStyle/>
          <a:p>
            <a:pPr algn="l"/>
            <a:r>
              <a:rPr sz="1600" b="0">
                <a:solidFill>
                  <a:srgbClr val="141414"/>
                </a:solidFill>
                <a:latin typeface="Aptos"/>
              </a:rPr>
              <a:t>Different timestamps, sampling intervals, missing values and sensor characteristics must be normalized before ML.</a:t>
            </a:r>
          </a:p>
        </p:txBody>
      </p:sp>
      <p:sp>
        <p:nvSpPr>
          <p:cNvPr id="17" name="Rounded Rectangle 16"/>
          <p:cNvSpPr/>
          <p:nvPr/>
        </p:nvSpPr>
        <p:spPr>
          <a:xfrm>
            <a:off x="6263640" y="3474720"/>
            <a:ext cx="5074920" cy="164592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446520" y="3657600"/>
            <a:ext cx="457200" cy="338554"/>
          </a:xfrm>
          <a:prstGeom prst="rect">
            <a:avLst/>
          </a:prstGeom>
          <a:noFill/>
        </p:spPr>
        <p:txBody>
          <a:bodyPr wrap="square">
            <a:spAutoFit/>
          </a:bodyPr>
          <a:lstStyle/>
          <a:p>
            <a:pPr algn="l"/>
            <a:r>
              <a:rPr sz="1600" b="1">
                <a:solidFill>
                  <a:srgbClr val="5F5F5F"/>
                </a:solidFill>
                <a:latin typeface="Aptos"/>
              </a:rPr>
              <a:t>04</a:t>
            </a:r>
          </a:p>
        </p:txBody>
      </p:sp>
      <p:sp>
        <p:nvSpPr>
          <p:cNvPr id="19" name="TextBox 18"/>
          <p:cNvSpPr txBox="1"/>
          <p:nvPr/>
        </p:nvSpPr>
        <p:spPr>
          <a:xfrm>
            <a:off x="6995159" y="3639312"/>
            <a:ext cx="4023360" cy="338554"/>
          </a:xfrm>
          <a:prstGeom prst="rect">
            <a:avLst/>
          </a:prstGeom>
          <a:noFill/>
        </p:spPr>
        <p:txBody>
          <a:bodyPr wrap="square">
            <a:spAutoFit/>
          </a:bodyPr>
          <a:lstStyle/>
          <a:p>
            <a:pPr algn="l"/>
            <a:r>
              <a:rPr sz="1600" b="1">
                <a:solidFill>
                  <a:srgbClr val="141414"/>
                </a:solidFill>
                <a:latin typeface="Aptos"/>
              </a:rPr>
              <a:t>Separated user experience</a:t>
            </a:r>
          </a:p>
        </p:txBody>
      </p:sp>
      <p:sp>
        <p:nvSpPr>
          <p:cNvPr id="20" name="TextBox 19"/>
          <p:cNvSpPr txBox="1"/>
          <p:nvPr/>
        </p:nvSpPr>
        <p:spPr>
          <a:xfrm>
            <a:off x="6995159" y="4069080"/>
            <a:ext cx="4069080" cy="830997"/>
          </a:xfrm>
          <a:prstGeom prst="rect">
            <a:avLst/>
          </a:prstGeom>
          <a:noFill/>
        </p:spPr>
        <p:txBody>
          <a:bodyPr wrap="square">
            <a:spAutoFit/>
          </a:bodyPr>
          <a:lstStyle/>
          <a:p>
            <a:pPr algn="l"/>
            <a:r>
              <a:rPr sz="1600" b="0">
                <a:solidFill>
                  <a:srgbClr val="141414"/>
                </a:solidFill>
                <a:latin typeface="Aptos"/>
              </a:rPr>
              <a:t>Live observations, model predictions and NWP maps are often consumed through different interfaces.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77054"/>
          </a:xfrm>
          <a:prstGeom prst="rect">
            <a:avLst/>
          </a:prstGeom>
          <a:noFill/>
        </p:spPr>
        <p:txBody>
          <a:bodyPr wrap="square">
            <a:spAutoFit/>
          </a:bodyPr>
          <a:lstStyle/>
          <a:p>
            <a:pPr algn="l"/>
            <a:r>
              <a:rPr sz="2500" b="1" dirty="0">
                <a:solidFill>
                  <a:srgbClr val="141414"/>
                </a:solidFill>
                <a:latin typeface="Times New Roman" panose="02020603050405020304" pitchFamily="18" charset="0"/>
                <a:cs typeface="Times New Roman" panose="02020603050405020304" pitchFamily="18" charset="0"/>
              </a:rPr>
              <a:t>Existing Systems &amp; Limitations</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5" name="Rectangle 4"/>
          <p:cNvSpPr/>
          <p:nvPr/>
        </p:nvSpPr>
        <p:spPr>
          <a:xfrm>
            <a:off x="502920" y="1325880"/>
            <a:ext cx="1874519" cy="804672"/>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6" name="TextBox 5"/>
          <p:cNvSpPr txBox="1"/>
          <p:nvPr/>
        </p:nvSpPr>
        <p:spPr>
          <a:xfrm>
            <a:off x="539496" y="1380744"/>
            <a:ext cx="1801367" cy="323165"/>
          </a:xfrm>
          <a:prstGeom prst="rect">
            <a:avLst/>
          </a:prstGeom>
          <a:noFill/>
        </p:spPr>
        <p:txBody>
          <a:bodyPr wrap="square">
            <a:spAutoFit/>
          </a:bodyPr>
          <a:lstStyle/>
          <a:p>
            <a:pPr algn="l"/>
            <a:r>
              <a:rPr sz="1500" b="1" dirty="0">
                <a:solidFill>
                  <a:srgbClr val="141414"/>
                </a:solidFill>
                <a:latin typeface="Times New Roman" panose="02020603050405020304" pitchFamily="18" charset="0"/>
                <a:cs typeface="Times New Roman" panose="02020603050405020304" pitchFamily="18" charset="0"/>
              </a:rPr>
              <a:t>System</a:t>
            </a:r>
          </a:p>
        </p:txBody>
      </p:sp>
      <p:sp>
        <p:nvSpPr>
          <p:cNvPr id="7" name="Rectangle 6"/>
          <p:cNvSpPr/>
          <p:nvPr/>
        </p:nvSpPr>
        <p:spPr>
          <a:xfrm>
            <a:off x="2377439" y="1325880"/>
            <a:ext cx="4069080" cy="804672"/>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8" name="TextBox 7"/>
          <p:cNvSpPr txBox="1"/>
          <p:nvPr/>
        </p:nvSpPr>
        <p:spPr>
          <a:xfrm>
            <a:off x="2414015" y="1380744"/>
            <a:ext cx="3995928" cy="323165"/>
          </a:xfrm>
          <a:prstGeom prst="rect">
            <a:avLst/>
          </a:prstGeom>
          <a:noFill/>
        </p:spPr>
        <p:txBody>
          <a:bodyPr wrap="square">
            <a:spAutoFit/>
          </a:bodyPr>
          <a:lstStyle/>
          <a:p>
            <a:pPr algn="l"/>
            <a:r>
              <a:rPr sz="1500" b="1">
                <a:solidFill>
                  <a:srgbClr val="141414"/>
                </a:solidFill>
                <a:latin typeface="Times New Roman" panose="02020603050405020304" pitchFamily="18" charset="0"/>
                <a:cs typeface="Times New Roman" panose="02020603050405020304" pitchFamily="18" charset="0"/>
              </a:rPr>
              <a:t>What it offers</a:t>
            </a:r>
          </a:p>
        </p:txBody>
      </p:sp>
      <p:sp>
        <p:nvSpPr>
          <p:cNvPr id="9" name="Rectangle 8"/>
          <p:cNvSpPr/>
          <p:nvPr/>
        </p:nvSpPr>
        <p:spPr>
          <a:xfrm>
            <a:off x="6446520" y="1325880"/>
            <a:ext cx="5212080" cy="804672"/>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0" name="TextBox 9"/>
          <p:cNvSpPr txBox="1"/>
          <p:nvPr/>
        </p:nvSpPr>
        <p:spPr>
          <a:xfrm>
            <a:off x="6483096" y="1380744"/>
            <a:ext cx="5138928" cy="323165"/>
          </a:xfrm>
          <a:prstGeom prst="rect">
            <a:avLst/>
          </a:prstGeom>
          <a:noFill/>
        </p:spPr>
        <p:txBody>
          <a:bodyPr wrap="square">
            <a:spAutoFit/>
          </a:bodyPr>
          <a:lstStyle/>
          <a:p>
            <a:pPr algn="l"/>
            <a:r>
              <a:rPr sz="1500" b="1">
                <a:solidFill>
                  <a:srgbClr val="141414"/>
                </a:solidFill>
                <a:latin typeface="Times New Roman" panose="02020603050405020304" pitchFamily="18" charset="0"/>
                <a:cs typeface="Times New Roman" panose="02020603050405020304" pitchFamily="18" charset="0"/>
              </a:rPr>
              <a:t>Limitation</a:t>
            </a:r>
          </a:p>
        </p:txBody>
      </p:sp>
      <p:sp>
        <p:nvSpPr>
          <p:cNvPr id="11" name="Rectangle 10"/>
          <p:cNvSpPr/>
          <p:nvPr/>
        </p:nvSpPr>
        <p:spPr>
          <a:xfrm>
            <a:off x="502920" y="2130552"/>
            <a:ext cx="1874519"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2" name="TextBox 11"/>
          <p:cNvSpPr txBox="1"/>
          <p:nvPr/>
        </p:nvSpPr>
        <p:spPr>
          <a:xfrm>
            <a:off x="539496" y="2176272"/>
            <a:ext cx="1801367"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IMD Mausam</a:t>
            </a:r>
          </a:p>
        </p:txBody>
      </p:sp>
      <p:sp>
        <p:nvSpPr>
          <p:cNvPr id="13" name="Rectangle 12"/>
          <p:cNvSpPr/>
          <p:nvPr/>
        </p:nvSpPr>
        <p:spPr>
          <a:xfrm>
            <a:off x="2377439" y="2130552"/>
            <a:ext cx="4069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4" name="TextBox 13"/>
          <p:cNvSpPr txBox="1"/>
          <p:nvPr/>
        </p:nvSpPr>
        <p:spPr>
          <a:xfrm>
            <a:off x="2414015" y="2176272"/>
            <a:ext cx="3995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Official observations, forecasts and warnings</a:t>
            </a:r>
          </a:p>
        </p:txBody>
      </p:sp>
      <p:sp>
        <p:nvSpPr>
          <p:cNvPr id="15" name="Rectangle 14"/>
          <p:cNvSpPr/>
          <p:nvPr/>
        </p:nvSpPr>
        <p:spPr>
          <a:xfrm>
            <a:off x="6446520" y="2130552"/>
            <a:ext cx="5212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6" name="TextBox 15"/>
          <p:cNvSpPr txBox="1"/>
          <p:nvPr/>
        </p:nvSpPr>
        <p:spPr>
          <a:xfrm>
            <a:off x="6483096" y="2176272"/>
            <a:ext cx="5138928"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General public service; not our custom station-fusion ML workflow</a:t>
            </a:r>
          </a:p>
        </p:txBody>
      </p:sp>
      <p:sp>
        <p:nvSpPr>
          <p:cNvPr id="17" name="Rectangle 16"/>
          <p:cNvSpPr/>
          <p:nvPr/>
        </p:nvSpPr>
        <p:spPr>
          <a:xfrm>
            <a:off x="502920" y="2935224"/>
            <a:ext cx="1874519"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8" name="TextBox 17"/>
          <p:cNvSpPr txBox="1"/>
          <p:nvPr/>
        </p:nvSpPr>
        <p:spPr>
          <a:xfrm>
            <a:off x="539496" y="2980944"/>
            <a:ext cx="1801367"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Windy</a:t>
            </a:r>
          </a:p>
        </p:txBody>
      </p:sp>
      <p:sp>
        <p:nvSpPr>
          <p:cNvPr id="19" name="Rectangle 18"/>
          <p:cNvSpPr/>
          <p:nvPr/>
        </p:nvSpPr>
        <p:spPr>
          <a:xfrm>
            <a:off x="2377439" y="2935224"/>
            <a:ext cx="4069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0" name="TextBox 19"/>
          <p:cNvSpPr txBox="1"/>
          <p:nvPr/>
        </p:nvSpPr>
        <p:spPr>
          <a:xfrm>
            <a:off x="2414015" y="2980944"/>
            <a:ext cx="3995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Interactive multi-model weather maps</a:t>
            </a:r>
          </a:p>
        </p:txBody>
      </p:sp>
      <p:sp>
        <p:nvSpPr>
          <p:cNvPr id="21" name="Rectangle 20"/>
          <p:cNvSpPr/>
          <p:nvPr/>
        </p:nvSpPr>
        <p:spPr>
          <a:xfrm>
            <a:off x="6446520" y="2935224"/>
            <a:ext cx="5212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2" name="TextBox 21"/>
          <p:cNvSpPr txBox="1"/>
          <p:nvPr/>
        </p:nvSpPr>
        <p:spPr>
          <a:xfrm>
            <a:off x="6483096" y="2980944"/>
            <a:ext cx="5138928"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Model-centric; project focuses on regional station fusion and 0–3h ML</a:t>
            </a:r>
          </a:p>
        </p:txBody>
      </p:sp>
      <p:sp>
        <p:nvSpPr>
          <p:cNvPr id="23" name="Rectangle 22"/>
          <p:cNvSpPr/>
          <p:nvPr/>
        </p:nvSpPr>
        <p:spPr>
          <a:xfrm>
            <a:off x="502920" y="3739896"/>
            <a:ext cx="1874519"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4" name="TextBox 23"/>
          <p:cNvSpPr txBox="1"/>
          <p:nvPr/>
        </p:nvSpPr>
        <p:spPr>
          <a:xfrm>
            <a:off x="539496" y="3785615"/>
            <a:ext cx="1801367"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RainViewer</a:t>
            </a:r>
          </a:p>
        </p:txBody>
      </p:sp>
      <p:sp>
        <p:nvSpPr>
          <p:cNvPr id="25" name="Rectangle 24"/>
          <p:cNvSpPr/>
          <p:nvPr/>
        </p:nvSpPr>
        <p:spPr>
          <a:xfrm>
            <a:off x="2377439" y="3739896"/>
            <a:ext cx="4069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6" name="TextBox 25"/>
          <p:cNvSpPr txBox="1"/>
          <p:nvPr/>
        </p:nvSpPr>
        <p:spPr>
          <a:xfrm>
            <a:off x="2414015" y="3785615"/>
            <a:ext cx="3995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Radar precipitation visualization</a:t>
            </a:r>
          </a:p>
        </p:txBody>
      </p:sp>
      <p:sp>
        <p:nvSpPr>
          <p:cNvPr id="27" name="Rectangle 26"/>
          <p:cNvSpPr/>
          <p:nvPr/>
        </p:nvSpPr>
        <p:spPr>
          <a:xfrm>
            <a:off x="6446520" y="3739896"/>
            <a:ext cx="5212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8" name="TextBox 27"/>
          <p:cNvSpPr txBox="1"/>
          <p:nvPr/>
        </p:nvSpPr>
        <p:spPr>
          <a:xfrm>
            <a:off x="6483096" y="3785615"/>
            <a:ext cx="5138928"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Depends on radar coverage; different from our station-based pipeline</a:t>
            </a:r>
          </a:p>
        </p:txBody>
      </p:sp>
      <p:sp>
        <p:nvSpPr>
          <p:cNvPr id="29" name="Rectangle 28"/>
          <p:cNvSpPr/>
          <p:nvPr/>
        </p:nvSpPr>
        <p:spPr>
          <a:xfrm>
            <a:off x="502920" y="4544568"/>
            <a:ext cx="1874519"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0" name="TextBox 29"/>
          <p:cNvSpPr txBox="1"/>
          <p:nvPr/>
        </p:nvSpPr>
        <p:spPr>
          <a:xfrm>
            <a:off x="539496" y="4590288"/>
            <a:ext cx="1801367"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ChennaiRains.com</a:t>
            </a:r>
          </a:p>
        </p:txBody>
      </p:sp>
      <p:sp>
        <p:nvSpPr>
          <p:cNvPr id="31" name="Rectangle 30"/>
          <p:cNvSpPr/>
          <p:nvPr/>
        </p:nvSpPr>
        <p:spPr>
          <a:xfrm>
            <a:off x="2377439" y="4544568"/>
            <a:ext cx="4069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2" name="TextBox 31"/>
          <p:cNvSpPr txBox="1"/>
          <p:nvPr/>
        </p:nvSpPr>
        <p:spPr>
          <a:xfrm>
            <a:off x="2414015" y="4590288"/>
            <a:ext cx="3995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Regional rainfall analysis and forecast discussion</a:t>
            </a:r>
          </a:p>
        </p:txBody>
      </p:sp>
      <p:sp>
        <p:nvSpPr>
          <p:cNvPr id="33" name="Rectangle 32"/>
          <p:cNvSpPr/>
          <p:nvPr/>
        </p:nvSpPr>
        <p:spPr>
          <a:xfrm>
            <a:off x="6446520" y="4544568"/>
            <a:ext cx="5212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4" name="TextBox 33"/>
          <p:cNvSpPr txBox="1"/>
          <p:nvPr/>
        </p:nvSpPr>
        <p:spPr>
          <a:xfrm>
            <a:off x="6483096" y="4590288"/>
            <a:ext cx="5138928"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Provides regional context; our implementation is an end-to-end reproducible data pipeline</a:t>
            </a:r>
          </a:p>
        </p:txBody>
      </p:sp>
      <p:sp>
        <p:nvSpPr>
          <p:cNvPr id="35" name="Rectangle 34"/>
          <p:cNvSpPr/>
          <p:nvPr/>
        </p:nvSpPr>
        <p:spPr>
          <a:xfrm>
            <a:off x="502920" y="5349240"/>
            <a:ext cx="1874519"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6" name="TextBox 35"/>
          <p:cNvSpPr txBox="1"/>
          <p:nvPr/>
        </p:nvSpPr>
        <p:spPr>
          <a:xfrm>
            <a:off x="539496" y="5394960"/>
            <a:ext cx="1801367" cy="553998"/>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Ambient Weather Network</a:t>
            </a:r>
          </a:p>
        </p:txBody>
      </p:sp>
      <p:sp>
        <p:nvSpPr>
          <p:cNvPr id="37" name="Rectangle 36"/>
          <p:cNvSpPr/>
          <p:nvPr/>
        </p:nvSpPr>
        <p:spPr>
          <a:xfrm>
            <a:off x="2377439" y="5349240"/>
            <a:ext cx="4069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8" name="TextBox 37"/>
          <p:cNvSpPr txBox="1"/>
          <p:nvPr/>
        </p:nvSpPr>
        <p:spPr>
          <a:xfrm>
            <a:off x="2414015" y="5394960"/>
            <a:ext cx="3995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PWS observations and network visualization</a:t>
            </a:r>
          </a:p>
        </p:txBody>
      </p:sp>
      <p:sp>
        <p:nvSpPr>
          <p:cNvPr id="39" name="Rectangle 38"/>
          <p:cNvSpPr/>
          <p:nvPr/>
        </p:nvSpPr>
        <p:spPr>
          <a:xfrm>
            <a:off x="6446520" y="5349240"/>
            <a:ext cx="5212080" cy="80467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40" name="TextBox 39"/>
          <p:cNvSpPr txBox="1"/>
          <p:nvPr/>
        </p:nvSpPr>
        <p:spPr>
          <a:xfrm>
            <a:off x="6483096" y="5394960"/>
            <a:ext cx="5138928" cy="323165"/>
          </a:xfrm>
          <a:prstGeom prst="rect">
            <a:avLst/>
          </a:prstGeom>
          <a:noFill/>
        </p:spPr>
        <p:txBody>
          <a:bodyPr wrap="square">
            <a:spAutoFit/>
          </a:bodyPr>
          <a:lstStyle/>
          <a:p>
            <a:pPr algn="l"/>
            <a:r>
              <a:rPr sz="1500" b="0">
                <a:solidFill>
                  <a:srgbClr val="141414"/>
                </a:solidFill>
                <a:latin typeface="Times New Roman" panose="02020603050405020304" pitchFamily="18" charset="0"/>
                <a:cs typeface="Times New Roman" panose="02020603050405020304" pitchFamily="18" charset="0"/>
              </a:rPr>
              <a:t>Observation-focused; no project-specific ML nowcast engine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Proposed System</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463040"/>
            <a:ext cx="3429000" cy="20574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40"/>
            <a:ext cx="3063240" cy="274320"/>
          </a:xfrm>
          <a:prstGeom prst="rect">
            <a:avLst/>
          </a:prstGeom>
          <a:noFill/>
        </p:spPr>
        <p:txBody>
          <a:bodyPr wrap="square">
            <a:spAutoFit/>
          </a:bodyPr>
          <a:lstStyle/>
          <a:p>
            <a:pPr algn="ctr"/>
            <a:r>
              <a:rPr sz="1300" b="1">
                <a:solidFill>
                  <a:srgbClr val="234869"/>
                </a:solidFill>
                <a:latin typeface="Aptos"/>
              </a:rPr>
              <a:t>1 · OBSERVATION</a:t>
            </a:r>
          </a:p>
        </p:txBody>
      </p:sp>
      <p:sp>
        <p:nvSpPr>
          <p:cNvPr id="7" name="TextBox 6"/>
          <p:cNvSpPr txBox="1"/>
          <p:nvPr/>
        </p:nvSpPr>
        <p:spPr>
          <a:xfrm>
            <a:off x="914400" y="2148840"/>
            <a:ext cx="2971800" cy="594360"/>
          </a:xfrm>
          <a:prstGeom prst="rect">
            <a:avLst/>
          </a:prstGeom>
          <a:noFill/>
        </p:spPr>
        <p:txBody>
          <a:bodyPr wrap="square">
            <a:spAutoFit/>
          </a:bodyPr>
          <a:lstStyle/>
          <a:p>
            <a:pPr algn="ctr"/>
            <a:r>
              <a:rPr sz="1500" b="1">
                <a:solidFill>
                  <a:srgbClr val="141414"/>
                </a:solidFill>
                <a:latin typeface="Aptos"/>
              </a:rPr>
              <a:t>IMD AWS + 6 PWS
Open-Meteo + provider adapters</a:t>
            </a:r>
          </a:p>
        </p:txBody>
      </p:sp>
      <p:sp>
        <p:nvSpPr>
          <p:cNvPr id="8" name="TextBox 7"/>
          <p:cNvSpPr txBox="1"/>
          <p:nvPr/>
        </p:nvSpPr>
        <p:spPr>
          <a:xfrm>
            <a:off x="914400" y="2926080"/>
            <a:ext cx="2971800" cy="320040"/>
          </a:xfrm>
          <a:prstGeom prst="rect">
            <a:avLst/>
          </a:prstGeom>
          <a:noFill/>
        </p:spPr>
        <p:txBody>
          <a:bodyPr wrap="square">
            <a:spAutoFit/>
          </a:bodyPr>
          <a:lstStyle/>
          <a:p>
            <a:pPr algn="ctr"/>
            <a:r>
              <a:rPr sz="1050" b="0">
                <a:solidFill>
                  <a:srgbClr val="5F5F5F"/>
                </a:solidFill>
                <a:latin typeface="Aptos"/>
              </a:rPr>
              <a:t>60s scheduler · backfill · dedup</a:t>
            </a:r>
          </a:p>
        </p:txBody>
      </p:sp>
      <p:cxnSp>
        <p:nvCxnSpPr>
          <p:cNvPr id="9" name="Connector 8"/>
          <p:cNvCxnSpPr/>
          <p:nvPr/>
        </p:nvCxnSpPr>
        <p:spPr>
          <a:xfrm>
            <a:off x="4142231" y="2468880"/>
            <a:ext cx="292609"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80560" y="1463040"/>
            <a:ext cx="3429000" cy="20574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691640"/>
            <a:ext cx="3063240" cy="274320"/>
          </a:xfrm>
          <a:prstGeom prst="rect">
            <a:avLst/>
          </a:prstGeom>
          <a:noFill/>
        </p:spPr>
        <p:txBody>
          <a:bodyPr wrap="square">
            <a:spAutoFit/>
          </a:bodyPr>
          <a:lstStyle/>
          <a:p>
            <a:pPr algn="ctr"/>
            <a:r>
              <a:rPr sz="1300" b="1">
                <a:solidFill>
                  <a:srgbClr val="234869"/>
                </a:solidFill>
                <a:latin typeface="Aptos"/>
              </a:rPr>
              <a:t>2 · INTELLIGENCE</a:t>
            </a:r>
          </a:p>
        </p:txBody>
      </p:sp>
      <p:sp>
        <p:nvSpPr>
          <p:cNvPr id="12" name="TextBox 11"/>
          <p:cNvSpPr txBox="1"/>
          <p:nvPr/>
        </p:nvSpPr>
        <p:spPr>
          <a:xfrm>
            <a:off x="4709160" y="2148840"/>
            <a:ext cx="2971800" cy="594360"/>
          </a:xfrm>
          <a:prstGeom prst="rect">
            <a:avLst/>
          </a:prstGeom>
          <a:noFill/>
        </p:spPr>
        <p:txBody>
          <a:bodyPr wrap="square">
            <a:spAutoFit/>
          </a:bodyPr>
          <a:lstStyle/>
          <a:p>
            <a:pPr algn="ctr"/>
            <a:r>
              <a:rPr sz="1500" b="1">
                <a:solidFill>
                  <a:srgbClr val="141414"/>
                </a:solidFill>
                <a:latin typeface="Aptos"/>
              </a:rPr>
              <a:t>Feature engineering
RF/XGBoost → LSTM → CNN/GNN-LSTM</a:t>
            </a:r>
          </a:p>
        </p:txBody>
      </p:sp>
      <p:sp>
        <p:nvSpPr>
          <p:cNvPr id="13" name="TextBox 12"/>
          <p:cNvSpPr txBox="1"/>
          <p:nvPr/>
        </p:nvSpPr>
        <p:spPr>
          <a:xfrm>
            <a:off x="4709160" y="2926080"/>
            <a:ext cx="2971800" cy="320040"/>
          </a:xfrm>
          <a:prstGeom prst="rect">
            <a:avLst/>
          </a:prstGeom>
          <a:noFill/>
        </p:spPr>
        <p:txBody>
          <a:bodyPr wrap="square">
            <a:spAutoFit/>
          </a:bodyPr>
          <a:lstStyle/>
          <a:p>
            <a:pPr algn="ctr"/>
            <a:r>
              <a:rPr sz="1050" b="0">
                <a:solidFill>
                  <a:srgbClr val="5F5F5F"/>
                </a:solidFill>
                <a:latin typeface="Aptos"/>
              </a:rPr>
              <a:t>0–3h rainfall nowcast</a:t>
            </a:r>
          </a:p>
        </p:txBody>
      </p:sp>
      <p:cxnSp>
        <p:nvCxnSpPr>
          <p:cNvPr id="14" name="Connector 13"/>
          <p:cNvCxnSpPr/>
          <p:nvPr/>
        </p:nvCxnSpPr>
        <p:spPr>
          <a:xfrm>
            <a:off x="7936992" y="2468880"/>
            <a:ext cx="292608"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75320" y="1463040"/>
            <a:ext cx="3429000" cy="20574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58200" y="1691640"/>
            <a:ext cx="3063240" cy="274320"/>
          </a:xfrm>
          <a:prstGeom prst="rect">
            <a:avLst/>
          </a:prstGeom>
          <a:noFill/>
        </p:spPr>
        <p:txBody>
          <a:bodyPr wrap="square">
            <a:spAutoFit/>
          </a:bodyPr>
          <a:lstStyle/>
          <a:p>
            <a:pPr algn="ctr"/>
            <a:r>
              <a:rPr sz="1300" b="1">
                <a:solidFill>
                  <a:srgbClr val="234869"/>
                </a:solidFill>
                <a:latin typeface="Aptos"/>
              </a:rPr>
              <a:t>3 · NWP CONTEXT</a:t>
            </a:r>
          </a:p>
        </p:txBody>
      </p:sp>
      <p:sp>
        <p:nvSpPr>
          <p:cNvPr id="17" name="TextBox 16"/>
          <p:cNvSpPr txBox="1"/>
          <p:nvPr/>
        </p:nvSpPr>
        <p:spPr>
          <a:xfrm>
            <a:off x="8503920" y="2148840"/>
            <a:ext cx="2971800" cy="594360"/>
          </a:xfrm>
          <a:prstGeom prst="rect">
            <a:avLst/>
          </a:prstGeom>
          <a:noFill/>
        </p:spPr>
        <p:txBody>
          <a:bodyPr wrap="square">
            <a:spAutoFit/>
          </a:bodyPr>
          <a:lstStyle/>
          <a:p>
            <a:pPr algn="ctr"/>
            <a:r>
              <a:rPr sz="1500" b="1">
                <a:solidFill>
                  <a:srgbClr val="141414"/>
                </a:solidFill>
                <a:latin typeface="Aptos"/>
              </a:rPr>
              <a:t>ECMWF GRIB2
cfgrib/xarray → GeoTIFF</a:t>
            </a:r>
          </a:p>
        </p:txBody>
      </p:sp>
      <p:sp>
        <p:nvSpPr>
          <p:cNvPr id="18" name="TextBox 17"/>
          <p:cNvSpPr txBox="1"/>
          <p:nvPr/>
        </p:nvSpPr>
        <p:spPr>
          <a:xfrm>
            <a:off x="8503920" y="2926080"/>
            <a:ext cx="2971800" cy="320040"/>
          </a:xfrm>
          <a:prstGeom prst="rect">
            <a:avLst/>
          </a:prstGeom>
          <a:noFill/>
        </p:spPr>
        <p:txBody>
          <a:bodyPr wrap="square">
            <a:spAutoFit/>
          </a:bodyPr>
          <a:lstStyle/>
          <a:p>
            <a:pPr algn="ctr"/>
            <a:r>
              <a:rPr sz="1050" b="0">
                <a:solidFill>
                  <a:srgbClr val="5F5F5F"/>
                </a:solidFill>
                <a:latin typeface="Aptos"/>
              </a:rPr>
              <a:t>Interactive regional maps</a:t>
            </a:r>
          </a:p>
        </p:txBody>
      </p:sp>
      <p:sp>
        <p:nvSpPr>
          <p:cNvPr id="19" name="Rounded Rectangle 18"/>
          <p:cNvSpPr/>
          <p:nvPr/>
        </p:nvSpPr>
        <p:spPr>
          <a:xfrm>
            <a:off x="1005840" y="4023360"/>
            <a:ext cx="10149840" cy="1143000"/>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4251960"/>
            <a:ext cx="1920240" cy="274320"/>
          </a:xfrm>
          <a:prstGeom prst="rect">
            <a:avLst/>
          </a:prstGeom>
          <a:noFill/>
        </p:spPr>
        <p:txBody>
          <a:bodyPr wrap="square">
            <a:spAutoFit/>
          </a:bodyPr>
          <a:lstStyle/>
          <a:p>
            <a:pPr algn="l"/>
            <a:r>
              <a:rPr sz="1400" b="1">
                <a:solidFill>
                  <a:srgbClr val="141414"/>
                </a:solidFill>
                <a:latin typeface="Aptos"/>
              </a:rPr>
              <a:t>WEB DASHBOARD</a:t>
            </a:r>
          </a:p>
        </p:txBody>
      </p:sp>
      <p:sp>
        <p:nvSpPr>
          <p:cNvPr id="21" name="TextBox 20"/>
          <p:cNvSpPr txBox="1"/>
          <p:nvPr/>
        </p:nvSpPr>
        <p:spPr>
          <a:xfrm>
            <a:off x="3063240" y="4224528"/>
            <a:ext cx="7589520" cy="502920"/>
          </a:xfrm>
          <a:prstGeom prst="rect">
            <a:avLst/>
          </a:prstGeom>
          <a:noFill/>
        </p:spPr>
        <p:txBody>
          <a:bodyPr wrap="square">
            <a:spAutoFit/>
          </a:bodyPr>
          <a:lstStyle/>
          <a:p>
            <a:pPr algn="l"/>
            <a:r>
              <a:rPr sz="1300" b="0">
                <a:solidFill>
                  <a:srgbClr val="141414"/>
                </a:solidFill>
                <a:latin typeface="Aptos"/>
              </a:rPr>
              <a:t>Live station cards · 30s refresh · TrendChart · search/filter · future nowcast · future NWP layers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System Architecture</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a:extLst>
              <a:ext uri="{FF2B5EF4-FFF2-40B4-BE49-F238E27FC236}">
                <a16:creationId xmlns:a16="http://schemas.microsoft.com/office/drawing/2014/main" id="{F52CC433-1FE9-850B-BA5F-AD1EC29C5491}"/>
              </a:ext>
            </a:extLst>
          </p:cNvPr>
          <p:cNvPicPr>
            <a:picLocks noChangeAspect="1"/>
          </p:cNvPicPr>
          <p:nvPr/>
        </p:nvPicPr>
        <p:blipFill>
          <a:blip r:embed="rId3"/>
          <a:srcRect t="5868" b="5298"/>
          <a:stretch>
            <a:fillRect/>
          </a:stretch>
        </p:blipFill>
        <p:spPr>
          <a:xfrm>
            <a:off x="952500" y="1248156"/>
            <a:ext cx="10287000" cy="53126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Implementation: Module 1 – Data Acquisition &amp; Storage</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25880"/>
            <a:ext cx="5212080" cy="2952090"/>
          </a:xfrm>
          <a:prstGeom prst="rect">
            <a:avLst/>
          </a:prstGeom>
          <a:noFill/>
        </p:spPr>
        <p:txBody>
          <a:bodyPr wrap="square">
            <a:spAutoFit/>
          </a:bodyPr>
          <a:lstStyle/>
          <a:p>
            <a:pPr>
              <a:spcAft>
                <a:spcPts val="500"/>
              </a:spcAft>
              <a:defRPr sz="1150">
                <a:solidFill>
                  <a:srgbClr val="141414"/>
                </a:solidFill>
                <a:latin typeface="Aptos"/>
              </a:defRPr>
            </a:pPr>
            <a:r>
              <a:rPr sz="1500" dirty="0"/>
              <a:t>• FastAPI application runs at localhost:8000; Swagger documentation is available at /docs.</a:t>
            </a:r>
          </a:p>
          <a:p>
            <a:pPr>
              <a:spcAft>
                <a:spcPts val="500"/>
              </a:spcAft>
              <a:defRPr sz="1150">
                <a:solidFill>
                  <a:srgbClr val="141414"/>
                </a:solidFill>
                <a:latin typeface="Aptos"/>
              </a:defRPr>
            </a:pPr>
            <a:r>
              <a:rPr sz="1500" dirty="0"/>
              <a:t>• </a:t>
            </a:r>
            <a:r>
              <a:rPr sz="1500" dirty="0" err="1"/>
              <a:t>AsyncIOScheduler</a:t>
            </a:r>
            <a:r>
              <a:rPr sz="1500" dirty="0"/>
              <a:t> triggers ingestion every </a:t>
            </a:r>
            <a:r>
              <a:rPr lang="en-US" sz="1500" dirty="0"/>
              <a:t>3</a:t>
            </a:r>
            <a:r>
              <a:rPr sz="1500" dirty="0"/>
              <a:t>0 seconds.</a:t>
            </a:r>
          </a:p>
          <a:p>
            <a:pPr>
              <a:spcAft>
                <a:spcPts val="500"/>
              </a:spcAft>
              <a:defRPr sz="1150">
                <a:solidFill>
                  <a:srgbClr val="141414"/>
                </a:solidFill>
                <a:latin typeface="Aptos"/>
              </a:defRPr>
            </a:pPr>
            <a:r>
              <a:rPr sz="1500" dirty="0"/>
              <a:t>• Adapters: </a:t>
            </a:r>
            <a:r>
              <a:rPr sz="1500" dirty="0" err="1"/>
              <a:t>OpenMeteoAdapter</a:t>
            </a:r>
            <a:r>
              <a:rPr sz="1500" dirty="0"/>
              <a:t> (live + 48h backfill), </a:t>
            </a:r>
            <a:r>
              <a:rPr sz="1500" dirty="0" err="1"/>
              <a:t>AmbientWeatherAdapter</a:t>
            </a:r>
            <a:r>
              <a:rPr sz="1500" dirty="0"/>
              <a:t> (6 real PWS), </a:t>
            </a:r>
            <a:r>
              <a:rPr sz="1500" dirty="0" err="1"/>
              <a:t>IMDAdapter</a:t>
            </a:r>
            <a:r>
              <a:rPr sz="1500" dirty="0"/>
              <a:t> (stub).</a:t>
            </a:r>
          </a:p>
          <a:p>
            <a:pPr>
              <a:spcAft>
                <a:spcPts val="500"/>
              </a:spcAft>
              <a:defRPr sz="1150">
                <a:solidFill>
                  <a:srgbClr val="141414"/>
                </a:solidFill>
                <a:latin typeface="Aptos"/>
              </a:defRPr>
            </a:pPr>
            <a:r>
              <a:rPr sz="1500" dirty="0"/>
              <a:t>• 48-hour historical backfill executes on every backend startup.</a:t>
            </a:r>
          </a:p>
          <a:p>
            <a:pPr>
              <a:spcAft>
                <a:spcPts val="500"/>
              </a:spcAft>
              <a:defRPr sz="1150">
                <a:solidFill>
                  <a:srgbClr val="141414"/>
                </a:solidFill>
                <a:latin typeface="Aptos"/>
              </a:defRPr>
            </a:pPr>
            <a:r>
              <a:rPr sz="1500" dirty="0"/>
              <a:t>• _</a:t>
            </a:r>
            <a:r>
              <a:rPr sz="1500" dirty="0" err="1"/>
              <a:t>reading_exists</a:t>
            </a:r>
            <a:r>
              <a:rPr sz="1500" dirty="0"/>
              <a:t>() checks station + timestamp before every insert.</a:t>
            </a:r>
          </a:p>
          <a:p>
            <a:pPr>
              <a:spcAft>
                <a:spcPts val="500"/>
              </a:spcAft>
              <a:defRPr sz="1150">
                <a:solidFill>
                  <a:srgbClr val="141414"/>
                </a:solidFill>
                <a:latin typeface="Aptos"/>
              </a:defRPr>
            </a:pPr>
            <a:r>
              <a:rPr sz="1500" dirty="0"/>
              <a:t>• SQLite </a:t>
            </a:r>
            <a:r>
              <a:rPr sz="1500" dirty="0" err="1"/>
              <a:t>weather.db</a:t>
            </a:r>
            <a:r>
              <a:rPr sz="1500" dirty="0"/>
              <a:t> currently contains approximately 368 KB of real data.</a:t>
            </a:r>
          </a:p>
        </p:txBody>
      </p:sp>
      <p:sp>
        <p:nvSpPr>
          <p:cNvPr id="6" name="Rounded Rectangle 5"/>
          <p:cNvSpPr/>
          <p:nvPr/>
        </p:nvSpPr>
        <p:spPr>
          <a:xfrm>
            <a:off x="6126480" y="1325880"/>
            <a:ext cx="5212080" cy="288036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7" name="TextBox 6"/>
          <p:cNvSpPr txBox="1"/>
          <p:nvPr/>
        </p:nvSpPr>
        <p:spPr>
          <a:xfrm>
            <a:off x="6355080" y="1554480"/>
            <a:ext cx="4663440" cy="307777"/>
          </a:xfrm>
          <a:prstGeom prst="rect">
            <a:avLst/>
          </a:prstGeom>
          <a:noFill/>
        </p:spPr>
        <p:txBody>
          <a:bodyPr wrap="square">
            <a:spAutoFit/>
          </a:bodyPr>
          <a:lstStyle/>
          <a:p>
            <a:pPr algn="ctr"/>
            <a:r>
              <a:rPr sz="1400" b="1">
                <a:solidFill>
                  <a:srgbClr val="234869"/>
                </a:solidFill>
                <a:latin typeface="Aptos"/>
              </a:rPr>
              <a:t>API ENDPOINTS</a:t>
            </a:r>
          </a:p>
        </p:txBody>
      </p:sp>
      <p:sp>
        <p:nvSpPr>
          <p:cNvPr id="8" name="Rectangle 7"/>
          <p:cNvSpPr/>
          <p:nvPr/>
        </p:nvSpPr>
        <p:spPr>
          <a:xfrm>
            <a:off x="6355080" y="1965960"/>
            <a:ext cx="2468880" cy="512064"/>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6391656" y="2020824"/>
            <a:ext cx="2395728" cy="307777"/>
          </a:xfrm>
          <a:prstGeom prst="rect">
            <a:avLst/>
          </a:prstGeom>
          <a:noFill/>
        </p:spPr>
        <p:txBody>
          <a:bodyPr wrap="square">
            <a:spAutoFit/>
          </a:bodyPr>
          <a:lstStyle/>
          <a:p>
            <a:pPr algn="l"/>
            <a:r>
              <a:rPr sz="1400" b="1" dirty="0">
                <a:solidFill>
                  <a:srgbClr val="141414"/>
                </a:solidFill>
                <a:latin typeface="Aptos"/>
              </a:rPr>
              <a:t>Endpoint</a:t>
            </a:r>
          </a:p>
        </p:txBody>
      </p:sp>
      <p:sp>
        <p:nvSpPr>
          <p:cNvPr id="10" name="Rectangle 9"/>
          <p:cNvSpPr/>
          <p:nvPr/>
        </p:nvSpPr>
        <p:spPr>
          <a:xfrm>
            <a:off x="8823960" y="1965960"/>
            <a:ext cx="2286000" cy="512064"/>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860536" y="2020824"/>
            <a:ext cx="2212848" cy="307777"/>
          </a:xfrm>
          <a:prstGeom prst="rect">
            <a:avLst/>
          </a:prstGeom>
          <a:noFill/>
        </p:spPr>
        <p:txBody>
          <a:bodyPr wrap="square">
            <a:spAutoFit/>
          </a:bodyPr>
          <a:lstStyle/>
          <a:p>
            <a:pPr algn="l"/>
            <a:r>
              <a:rPr sz="1400" b="1">
                <a:solidFill>
                  <a:srgbClr val="141414"/>
                </a:solidFill>
                <a:latin typeface="Aptos"/>
              </a:rPr>
              <a:t>Purpose</a:t>
            </a:r>
          </a:p>
        </p:txBody>
      </p:sp>
      <p:sp>
        <p:nvSpPr>
          <p:cNvPr id="12" name="Rectangle 11"/>
          <p:cNvSpPr/>
          <p:nvPr/>
        </p:nvSpPr>
        <p:spPr>
          <a:xfrm>
            <a:off x="6355080" y="2478024"/>
            <a:ext cx="246888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6391656" y="2523744"/>
            <a:ext cx="2395728" cy="307777"/>
          </a:xfrm>
          <a:prstGeom prst="rect">
            <a:avLst/>
          </a:prstGeom>
          <a:noFill/>
        </p:spPr>
        <p:txBody>
          <a:bodyPr wrap="square">
            <a:spAutoFit/>
          </a:bodyPr>
          <a:lstStyle/>
          <a:p>
            <a:pPr algn="l"/>
            <a:r>
              <a:rPr sz="1400" b="0">
                <a:solidFill>
                  <a:srgbClr val="141414"/>
                </a:solidFill>
                <a:latin typeface="Aptos"/>
              </a:rPr>
              <a:t>/api/overview</a:t>
            </a:r>
          </a:p>
        </p:txBody>
      </p:sp>
      <p:sp>
        <p:nvSpPr>
          <p:cNvPr id="14" name="Rectangle 13"/>
          <p:cNvSpPr/>
          <p:nvPr/>
        </p:nvSpPr>
        <p:spPr>
          <a:xfrm>
            <a:off x="8823960" y="2478024"/>
            <a:ext cx="228600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8860536" y="2523744"/>
            <a:ext cx="2212848" cy="523220"/>
          </a:xfrm>
          <a:prstGeom prst="rect">
            <a:avLst/>
          </a:prstGeom>
          <a:noFill/>
        </p:spPr>
        <p:txBody>
          <a:bodyPr wrap="square">
            <a:spAutoFit/>
          </a:bodyPr>
          <a:lstStyle/>
          <a:p>
            <a:pPr algn="l"/>
            <a:r>
              <a:rPr sz="1400" b="0">
                <a:solidFill>
                  <a:srgbClr val="141414"/>
                </a:solidFill>
                <a:latin typeface="Aptos"/>
              </a:rPr>
              <a:t>Aggregate dashboard stats</a:t>
            </a:r>
          </a:p>
        </p:txBody>
      </p:sp>
      <p:sp>
        <p:nvSpPr>
          <p:cNvPr id="16" name="Rectangle 15"/>
          <p:cNvSpPr/>
          <p:nvPr/>
        </p:nvSpPr>
        <p:spPr>
          <a:xfrm>
            <a:off x="6355080" y="2990088"/>
            <a:ext cx="246888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6391656" y="3035808"/>
            <a:ext cx="2395728" cy="307777"/>
          </a:xfrm>
          <a:prstGeom prst="rect">
            <a:avLst/>
          </a:prstGeom>
          <a:noFill/>
        </p:spPr>
        <p:txBody>
          <a:bodyPr wrap="square">
            <a:spAutoFit/>
          </a:bodyPr>
          <a:lstStyle/>
          <a:p>
            <a:pPr algn="l"/>
            <a:r>
              <a:rPr sz="1400" b="0">
                <a:solidFill>
                  <a:srgbClr val="141414"/>
                </a:solidFill>
                <a:latin typeface="Aptos"/>
              </a:rPr>
              <a:t>/api/stations</a:t>
            </a:r>
          </a:p>
        </p:txBody>
      </p:sp>
      <p:sp>
        <p:nvSpPr>
          <p:cNvPr id="18" name="Rectangle 17"/>
          <p:cNvSpPr/>
          <p:nvPr/>
        </p:nvSpPr>
        <p:spPr>
          <a:xfrm>
            <a:off x="8823960" y="2990088"/>
            <a:ext cx="228600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8860536" y="3035808"/>
            <a:ext cx="2212848" cy="307777"/>
          </a:xfrm>
          <a:prstGeom prst="rect">
            <a:avLst/>
          </a:prstGeom>
          <a:noFill/>
        </p:spPr>
        <p:txBody>
          <a:bodyPr wrap="square">
            <a:spAutoFit/>
          </a:bodyPr>
          <a:lstStyle/>
          <a:p>
            <a:pPr algn="l"/>
            <a:r>
              <a:rPr sz="1400" b="0">
                <a:solidFill>
                  <a:srgbClr val="141414"/>
                </a:solidFill>
                <a:latin typeface="Aptos"/>
              </a:rPr>
              <a:t>Station list + metadata</a:t>
            </a:r>
          </a:p>
        </p:txBody>
      </p:sp>
      <p:sp>
        <p:nvSpPr>
          <p:cNvPr id="20" name="Rectangle 19"/>
          <p:cNvSpPr/>
          <p:nvPr/>
        </p:nvSpPr>
        <p:spPr>
          <a:xfrm>
            <a:off x="6355080" y="3502152"/>
            <a:ext cx="246888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6391656" y="3547872"/>
            <a:ext cx="2395728" cy="307777"/>
          </a:xfrm>
          <a:prstGeom prst="rect">
            <a:avLst/>
          </a:prstGeom>
          <a:noFill/>
        </p:spPr>
        <p:txBody>
          <a:bodyPr wrap="square">
            <a:spAutoFit/>
          </a:bodyPr>
          <a:lstStyle/>
          <a:p>
            <a:pPr algn="l"/>
            <a:r>
              <a:rPr sz="1400" b="0">
                <a:solidFill>
                  <a:srgbClr val="141414"/>
                </a:solidFill>
                <a:latin typeface="Aptos"/>
              </a:rPr>
              <a:t>/api/stations/{id}/readings</a:t>
            </a:r>
          </a:p>
        </p:txBody>
      </p:sp>
      <p:sp>
        <p:nvSpPr>
          <p:cNvPr id="22" name="Rectangle 21"/>
          <p:cNvSpPr/>
          <p:nvPr/>
        </p:nvSpPr>
        <p:spPr>
          <a:xfrm>
            <a:off x="8823960" y="3502152"/>
            <a:ext cx="228600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8860536" y="3547872"/>
            <a:ext cx="2212848" cy="307777"/>
          </a:xfrm>
          <a:prstGeom prst="rect">
            <a:avLst/>
          </a:prstGeom>
          <a:noFill/>
        </p:spPr>
        <p:txBody>
          <a:bodyPr wrap="square">
            <a:spAutoFit/>
          </a:bodyPr>
          <a:lstStyle/>
          <a:p>
            <a:pPr algn="l"/>
            <a:r>
              <a:rPr sz="1400" b="0">
                <a:solidFill>
                  <a:srgbClr val="141414"/>
                </a:solidFill>
                <a:latin typeface="Aptos"/>
              </a:rPr>
              <a:t>Readings up to 7 days</a:t>
            </a:r>
          </a:p>
        </p:txBody>
      </p:sp>
      <p:sp>
        <p:nvSpPr>
          <p:cNvPr id="24" name="Rectangle 23"/>
          <p:cNvSpPr/>
          <p:nvPr/>
        </p:nvSpPr>
        <p:spPr>
          <a:xfrm>
            <a:off x="6355080" y="4014216"/>
            <a:ext cx="246888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6391656" y="4059936"/>
            <a:ext cx="2395728" cy="307777"/>
          </a:xfrm>
          <a:prstGeom prst="rect">
            <a:avLst/>
          </a:prstGeom>
          <a:noFill/>
        </p:spPr>
        <p:txBody>
          <a:bodyPr wrap="square">
            <a:spAutoFit/>
          </a:bodyPr>
          <a:lstStyle/>
          <a:p>
            <a:pPr algn="l"/>
            <a:r>
              <a:rPr sz="1400" b="0">
                <a:solidFill>
                  <a:srgbClr val="141414"/>
                </a:solidFill>
                <a:latin typeface="Aptos"/>
              </a:rPr>
              <a:t>/api/readings/latest</a:t>
            </a:r>
          </a:p>
        </p:txBody>
      </p:sp>
      <p:sp>
        <p:nvSpPr>
          <p:cNvPr id="26" name="Rectangle 25"/>
          <p:cNvSpPr/>
          <p:nvPr/>
        </p:nvSpPr>
        <p:spPr>
          <a:xfrm>
            <a:off x="8823960" y="4014216"/>
            <a:ext cx="2286000" cy="512064"/>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860536" y="4059936"/>
            <a:ext cx="2212848" cy="307777"/>
          </a:xfrm>
          <a:prstGeom prst="rect">
            <a:avLst/>
          </a:prstGeom>
          <a:noFill/>
        </p:spPr>
        <p:txBody>
          <a:bodyPr wrap="square">
            <a:spAutoFit/>
          </a:bodyPr>
          <a:lstStyle/>
          <a:p>
            <a:pPr algn="l"/>
            <a:r>
              <a:rPr sz="1400" b="0">
                <a:solidFill>
                  <a:srgbClr val="141414"/>
                </a:solidFill>
                <a:latin typeface="Aptos"/>
              </a:rPr>
              <a:t>Latest readings</a:t>
            </a:r>
          </a:p>
        </p:txBody>
      </p:sp>
      <p:sp>
        <p:nvSpPr>
          <p:cNvPr id="28" name="TextBox 27"/>
          <p:cNvSpPr txBox="1"/>
          <p:nvPr/>
        </p:nvSpPr>
        <p:spPr>
          <a:xfrm>
            <a:off x="731520" y="4434840"/>
            <a:ext cx="3474720" cy="274320"/>
          </a:xfrm>
          <a:prstGeom prst="rect">
            <a:avLst/>
          </a:prstGeom>
          <a:noFill/>
        </p:spPr>
        <p:txBody>
          <a:bodyPr wrap="square">
            <a:spAutoFit/>
          </a:bodyPr>
          <a:lstStyle/>
          <a:p>
            <a:pPr algn="l"/>
            <a:r>
              <a:rPr sz="1300" b="1">
                <a:solidFill>
                  <a:srgbClr val="234869"/>
                </a:solidFill>
                <a:latin typeface="Aptos"/>
              </a:rPr>
              <a:t>DATABASE SCHEMA</a:t>
            </a:r>
          </a:p>
        </p:txBody>
      </p:sp>
      <p:sp>
        <p:nvSpPr>
          <p:cNvPr id="29" name="Rounded Rectangle 28"/>
          <p:cNvSpPr/>
          <p:nvPr/>
        </p:nvSpPr>
        <p:spPr>
          <a:xfrm>
            <a:off x="731520" y="4892040"/>
            <a:ext cx="2331720" cy="640080"/>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5084064"/>
            <a:ext cx="2331720" cy="228600"/>
          </a:xfrm>
          <a:prstGeom prst="rect">
            <a:avLst/>
          </a:prstGeom>
          <a:noFill/>
        </p:spPr>
        <p:txBody>
          <a:bodyPr wrap="square">
            <a:spAutoFit/>
          </a:bodyPr>
          <a:lstStyle/>
          <a:p>
            <a:pPr algn="ctr"/>
            <a:r>
              <a:rPr sz="1050" b="1">
                <a:solidFill>
                  <a:srgbClr val="141414"/>
                </a:solidFill>
                <a:latin typeface="Aptos"/>
              </a:rPr>
              <a:t>Station</a:t>
            </a:r>
          </a:p>
        </p:txBody>
      </p:sp>
      <p:sp>
        <p:nvSpPr>
          <p:cNvPr id="31" name="Rounded Rectangle 30"/>
          <p:cNvSpPr/>
          <p:nvPr/>
        </p:nvSpPr>
        <p:spPr>
          <a:xfrm>
            <a:off x="3474720" y="4892040"/>
            <a:ext cx="2331720" cy="640080"/>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0" y="5084064"/>
            <a:ext cx="2331720" cy="228600"/>
          </a:xfrm>
          <a:prstGeom prst="rect">
            <a:avLst/>
          </a:prstGeom>
          <a:noFill/>
        </p:spPr>
        <p:txBody>
          <a:bodyPr wrap="square">
            <a:spAutoFit/>
          </a:bodyPr>
          <a:lstStyle/>
          <a:p>
            <a:pPr algn="ctr"/>
            <a:r>
              <a:rPr sz="1050" b="1">
                <a:solidFill>
                  <a:srgbClr val="141414"/>
                </a:solidFill>
                <a:latin typeface="Aptos"/>
              </a:rPr>
              <a:t>WeatherReading</a:t>
            </a:r>
          </a:p>
        </p:txBody>
      </p:sp>
      <p:sp>
        <p:nvSpPr>
          <p:cNvPr id="33" name="Rounded Rectangle 32"/>
          <p:cNvSpPr/>
          <p:nvPr/>
        </p:nvSpPr>
        <p:spPr>
          <a:xfrm>
            <a:off x="6217920" y="4892040"/>
            <a:ext cx="2331720" cy="640080"/>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0" y="5084064"/>
            <a:ext cx="2331720" cy="228600"/>
          </a:xfrm>
          <a:prstGeom prst="rect">
            <a:avLst/>
          </a:prstGeom>
          <a:noFill/>
        </p:spPr>
        <p:txBody>
          <a:bodyPr wrap="square">
            <a:spAutoFit/>
          </a:bodyPr>
          <a:lstStyle/>
          <a:p>
            <a:pPr algn="ctr"/>
            <a:r>
              <a:rPr sz="1050" b="1">
                <a:solidFill>
                  <a:srgbClr val="141414"/>
                </a:solidFill>
                <a:latin typeface="Aptos"/>
              </a:rPr>
              <a:t>NowcastPrediction</a:t>
            </a:r>
          </a:p>
        </p:txBody>
      </p:sp>
      <p:sp>
        <p:nvSpPr>
          <p:cNvPr id="35" name="Rounded Rectangle 34"/>
          <p:cNvSpPr/>
          <p:nvPr/>
        </p:nvSpPr>
        <p:spPr>
          <a:xfrm>
            <a:off x="8961120" y="4892040"/>
            <a:ext cx="2331720" cy="640080"/>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61120" y="5084064"/>
            <a:ext cx="2331720" cy="228600"/>
          </a:xfrm>
          <a:prstGeom prst="rect">
            <a:avLst/>
          </a:prstGeom>
          <a:noFill/>
        </p:spPr>
        <p:txBody>
          <a:bodyPr wrap="square">
            <a:spAutoFit/>
          </a:bodyPr>
          <a:lstStyle/>
          <a:p>
            <a:pPr algn="ctr"/>
            <a:r>
              <a:rPr sz="1050" b="1">
                <a:solidFill>
                  <a:srgbClr val="141414"/>
                </a:solidFill>
                <a:latin typeface="Aptos"/>
              </a:rPr>
              <a:t>BlogPost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Implementation: Module 2 – Feature Engineering</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71600"/>
            <a:ext cx="5212080" cy="43434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663440" cy="274320"/>
          </a:xfrm>
          <a:prstGeom prst="rect">
            <a:avLst/>
          </a:prstGeom>
          <a:noFill/>
        </p:spPr>
        <p:txBody>
          <a:bodyPr wrap="square">
            <a:spAutoFit/>
          </a:bodyPr>
          <a:lstStyle/>
          <a:p>
            <a:pPr algn="ctr"/>
            <a:r>
              <a:rPr sz="1500" b="1">
                <a:solidFill>
                  <a:srgbClr val="234869"/>
                </a:solidFill>
                <a:latin typeface="Aptos"/>
              </a:rPr>
              <a:t>IMPLEMENTED FEATURES</a:t>
            </a:r>
          </a:p>
        </p:txBody>
      </p:sp>
      <p:sp>
        <p:nvSpPr>
          <p:cNvPr id="7" name="TextBox 6"/>
          <p:cNvSpPr txBox="1"/>
          <p:nvPr/>
        </p:nvSpPr>
        <p:spPr>
          <a:xfrm>
            <a:off x="960120" y="2103120"/>
            <a:ext cx="1828800" cy="228600"/>
          </a:xfrm>
          <a:prstGeom prst="rect">
            <a:avLst/>
          </a:prstGeom>
          <a:noFill/>
        </p:spPr>
        <p:txBody>
          <a:bodyPr wrap="square">
            <a:spAutoFit/>
          </a:bodyPr>
          <a:lstStyle/>
          <a:p>
            <a:pPr algn="l"/>
            <a:r>
              <a:rPr sz="1200" b="1">
                <a:solidFill>
                  <a:srgbClr val="141414"/>
                </a:solidFill>
                <a:latin typeface="Aptos"/>
              </a:rPr>
              <a:t>dew_point_spread</a:t>
            </a:r>
          </a:p>
        </p:txBody>
      </p:sp>
      <p:sp>
        <p:nvSpPr>
          <p:cNvPr id="8" name="TextBox 7"/>
          <p:cNvSpPr txBox="1"/>
          <p:nvPr/>
        </p:nvSpPr>
        <p:spPr>
          <a:xfrm>
            <a:off x="2788920" y="2103120"/>
            <a:ext cx="2057400" cy="228600"/>
          </a:xfrm>
          <a:prstGeom prst="rect">
            <a:avLst/>
          </a:prstGeom>
          <a:noFill/>
        </p:spPr>
        <p:txBody>
          <a:bodyPr wrap="square">
            <a:spAutoFit/>
          </a:bodyPr>
          <a:lstStyle/>
          <a:p>
            <a:pPr algn="ctr"/>
            <a:r>
              <a:rPr sz="1100" b="1">
                <a:solidFill>
                  <a:srgbClr val="141414"/>
                </a:solidFill>
                <a:latin typeface="Aptos"/>
              </a:rPr>
              <a:t>temp_c − dew_point_c</a:t>
            </a:r>
          </a:p>
        </p:txBody>
      </p:sp>
      <p:sp>
        <p:nvSpPr>
          <p:cNvPr id="9" name="TextBox 8"/>
          <p:cNvSpPr txBox="1"/>
          <p:nvPr/>
        </p:nvSpPr>
        <p:spPr>
          <a:xfrm>
            <a:off x="960120" y="2395727"/>
            <a:ext cx="4526280" cy="320040"/>
          </a:xfrm>
          <a:prstGeom prst="rect">
            <a:avLst/>
          </a:prstGeom>
          <a:noFill/>
        </p:spPr>
        <p:txBody>
          <a:bodyPr wrap="square">
            <a:spAutoFit/>
          </a:bodyPr>
          <a:lstStyle/>
          <a:p>
            <a:pPr algn="l"/>
            <a:r>
              <a:rPr sz="950" b="0">
                <a:solidFill>
                  <a:srgbClr val="5F5F5F"/>
                </a:solidFill>
                <a:latin typeface="Aptos"/>
              </a:rPr>
              <a:t>Near-surface moisture / saturation signal</a:t>
            </a:r>
          </a:p>
        </p:txBody>
      </p:sp>
      <p:sp>
        <p:nvSpPr>
          <p:cNvPr id="10" name="TextBox 9"/>
          <p:cNvSpPr txBox="1"/>
          <p:nvPr/>
        </p:nvSpPr>
        <p:spPr>
          <a:xfrm>
            <a:off x="960120" y="2944368"/>
            <a:ext cx="1828800" cy="228600"/>
          </a:xfrm>
          <a:prstGeom prst="rect">
            <a:avLst/>
          </a:prstGeom>
          <a:noFill/>
        </p:spPr>
        <p:txBody>
          <a:bodyPr wrap="square">
            <a:spAutoFit/>
          </a:bodyPr>
          <a:lstStyle/>
          <a:p>
            <a:pPr algn="l"/>
            <a:r>
              <a:rPr sz="1200" b="1">
                <a:solidFill>
                  <a:srgbClr val="141414"/>
                </a:solidFill>
                <a:latin typeface="Aptos"/>
              </a:rPr>
              <a:t>pressure_drop_rate</a:t>
            </a:r>
          </a:p>
        </p:txBody>
      </p:sp>
      <p:sp>
        <p:nvSpPr>
          <p:cNvPr id="11" name="TextBox 10"/>
          <p:cNvSpPr txBox="1"/>
          <p:nvPr/>
        </p:nvSpPr>
        <p:spPr>
          <a:xfrm>
            <a:off x="2788920" y="2944368"/>
            <a:ext cx="2057400" cy="228600"/>
          </a:xfrm>
          <a:prstGeom prst="rect">
            <a:avLst/>
          </a:prstGeom>
          <a:noFill/>
        </p:spPr>
        <p:txBody>
          <a:bodyPr wrap="square">
            <a:spAutoFit/>
          </a:bodyPr>
          <a:lstStyle/>
          <a:p>
            <a:pPr algn="ctr"/>
            <a:r>
              <a:rPr sz="1100" b="1">
                <a:solidFill>
                  <a:srgbClr val="141414"/>
                </a:solidFill>
                <a:latin typeface="Aptos"/>
              </a:rPr>
              <a:t>groupby(station_id).diff(3)</a:t>
            </a:r>
          </a:p>
        </p:txBody>
      </p:sp>
      <p:sp>
        <p:nvSpPr>
          <p:cNvPr id="12" name="TextBox 11"/>
          <p:cNvSpPr txBox="1"/>
          <p:nvPr/>
        </p:nvSpPr>
        <p:spPr>
          <a:xfrm>
            <a:off x="960120" y="3236975"/>
            <a:ext cx="4526280" cy="320040"/>
          </a:xfrm>
          <a:prstGeom prst="rect">
            <a:avLst/>
          </a:prstGeom>
          <a:noFill/>
        </p:spPr>
        <p:txBody>
          <a:bodyPr wrap="square">
            <a:spAutoFit/>
          </a:bodyPr>
          <a:lstStyle/>
          <a:p>
            <a:pPr algn="l"/>
            <a:r>
              <a:rPr sz="950" b="0">
                <a:solidFill>
                  <a:srgbClr val="5F5F5F"/>
                </a:solidFill>
                <a:latin typeface="Aptos"/>
              </a:rPr>
              <a:t>Short-term pressure tendency</a:t>
            </a:r>
          </a:p>
        </p:txBody>
      </p:sp>
      <p:sp>
        <p:nvSpPr>
          <p:cNvPr id="13" name="TextBox 12"/>
          <p:cNvSpPr txBox="1"/>
          <p:nvPr/>
        </p:nvSpPr>
        <p:spPr>
          <a:xfrm>
            <a:off x="960120" y="3785615"/>
            <a:ext cx="1828800" cy="228600"/>
          </a:xfrm>
          <a:prstGeom prst="rect">
            <a:avLst/>
          </a:prstGeom>
          <a:noFill/>
        </p:spPr>
        <p:txBody>
          <a:bodyPr wrap="square">
            <a:spAutoFit/>
          </a:bodyPr>
          <a:lstStyle/>
          <a:p>
            <a:pPr algn="l"/>
            <a:r>
              <a:rPr sz="1200" b="1">
                <a:solidFill>
                  <a:srgbClr val="141414"/>
                </a:solidFill>
                <a:latin typeface="Aptos"/>
              </a:rPr>
              <a:t>humidity_delta</a:t>
            </a:r>
          </a:p>
        </p:txBody>
      </p:sp>
      <p:sp>
        <p:nvSpPr>
          <p:cNvPr id="14" name="TextBox 13"/>
          <p:cNvSpPr txBox="1"/>
          <p:nvPr/>
        </p:nvSpPr>
        <p:spPr>
          <a:xfrm>
            <a:off x="2788920" y="3785615"/>
            <a:ext cx="2057400" cy="228600"/>
          </a:xfrm>
          <a:prstGeom prst="rect">
            <a:avLst/>
          </a:prstGeom>
          <a:noFill/>
        </p:spPr>
        <p:txBody>
          <a:bodyPr wrap="square">
            <a:spAutoFit/>
          </a:bodyPr>
          <a:lstStyle/>
          <a:p>
            <a:pPr algn="ctr"/>
            <a:r>
              <a:rPr sz="1100" b="1">
                <a:solidFill>
                  <a:srgbClr val="141414"/>
                </a:solidFill>
                <a:latin typeface="Aptos"/>
              </a:rPr>
              <a:t>groupby(station_id).diff(3)</a:t>
            </a:r>
          </a:p>
        </p:txBody>
      </p:sp>
      <p:sp>
        <p:nvSpPr>
          <p:cNvPr id="15" name="TextBox 14"/>
          <p:cNvSpPr txBox="1"/>
          <p:nvPr/>
        </p:nvSpPr>
        <p:spPr>
          <a:xfrm>
            <a:off x="960120" y="4078224"/>
            <a:ext cx="4526280" cy="320040"/>
          </a:xfrm>
          <a:prstGeom prst="rect">
            <a:avLst/>
          </a:prstGeom>
          <a:noFill/>
        </p:spPr>
        <p:txBody>
          <a:bodyPr wrap="square">
            <a:spAutoFit/>
          </a:bodyPr>
          <a:lstStyle/>
          <a:p>
            <a:pPr algn="l"/>
            <a:r>
              <a:rPr sz="950" b="0">
                <a:solidFill>
                  <a:srgbClr val="5F5F5F"/>
                </a:solidFill>
                <a:latin typeface="Aptos"/>
              </a:rPr>
              <a:t>Short-term moisture evolution</a:t>
            </a:r>
          </a:p>
        </p:txBody>
      </p:sp>
      <p:sp>
        <p:nvSpPr>
          <p:cNvPr id="16" name="TextBox 15"/>
          <p:cNvSpPr txBox="1"/>
          <p:nvPr/>
        </p:nvSpPr>
        <p:spPr>
          <a:xfrm>
            <a:off x="960120" y="4626864"/>
            <a:ext cx="1828800" cy="228600"/>
          </a:xfrm>
          <a:prstGeom prst="rect">
            <a:avLst/>
          </a:prstGeom>
          <a:noFill/>
        </p:spPr>
        <p:txBody>
          <a:bodyPr wrap="square">
            <a:spAutoFit/>
          </a:bodyPr>
          <a:lstStyle/>
          <a:p>
            <a:pPr algn="l"/>
            <a:r>
              <a:rPr sz="1200" b="1">
                <a:solidFill>
                  <a:srgbClr val="141414"/>
                </a:solidFill>
                <a:latin typeface="Aptos"/>
              </a:rPr>
              <a:t>spatial neighbors</a:t>
            </a:r>
          </a:p>
        </p:txBody>
      </p:sp>
      <p:sp>
        <p:nvSpPr>
          <p:cNvPr id="17" name="TextBox 16"/>
          <p:cNvSpPr txBox="1"/>
          <p:nvPr/>
        </p:nvSpPr>
        <p:spPr>
          <a:xfrm>
            <a:off x="2788920" y="4626864"/>
            <a:ext cx="2057400" cy="228600"/>
          </a:xfrm>
          <a:prstGeom prst="rect">
            <a:avLst/>
          </a:prstGeom>
          <a:noFill/>
        </p:spPr>
        <p:txBody>
          <a:bodyPr wrap="square">
            <a:spAutoFit/>
          </a:bodyPr>
          <a:lstStyle/>
          <a:p>
            <a:pPr algn="ctr"/>
            <a:r>
              <a:rPr sz="1100" b="1">
                <a:solidFill>
                  <a:srgbClr val="141414"/>
                </a:solidFill>
                <a:latin typeface="Aptos"/>
              </a:rPr>
              <a:t>nearby station features</a:t>
            </a:r>
          </a:p>
        </p:txBody>
      </p:sp>
      <p:sp>
        <p:nvSpPr>
          <p:cNvPr id="18" name="TextBox 17"/>
          <p:cNvSpPr txBox="1"/>
          <p:nvPr/>
        </p:nvSpPr>
        <p:spPr>
          <a:xfrm>
            <a:off x="960120" y="4919472"/>
            <a:ext cx="4526280" cy="320040"/>
          </a:xfrm>
          <a:prstGeom prst="rect">
            <a:avLst/>
          </a:prstGeom>
          <a:noFill/>
        </p:spPr>
        <p:txBody>
          <a:bodyPr wrap="square">
            <a:spAutoFit/>
          </a:bodyPr>
          <a:lstStyle/>
          <a:p>
            <a:pPr algn="l"/>
            <a:r>
              <a:rPr sz="950" b="0">
                <a:solidFill>
                  <a:srgbClr val="5F5F5F"/>
                </a:solidFill>
                <a:latin typeface="Aptos"/>
              </a:rPr>
              <a:t>Represents local spatial context</a:t>
            </a:r>
          </a:p>
        </p:txBody>
      </p:sp>
      <p:sp>
        <p:nvSpPr>
          <p:cNvPr id="19" name="Rounded Rectangle 18"/>
          <p:cNvSpPr/>
          <p:nvPr/>
        </p:nvSpPr>
        <p:spPr>
          <a:xfrm>
            <a:off x="6172200" y="1371600"/>
            <a:ext cx="5550408" cy="5221224"/>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645920"/>
            <a:ext cx="4663440" cy="274320"/>
          </a:xfrm>
          <a:prstGeom prst="rect">
            <a:avLst/>
          </a:prstGeom>
          <a:noFill/>
        </p:spPr>
        <p:txBody>
          <a:bodyPr wrap="square">
            <a:spAutoFit/>
          </a:bodyPr>
          <a:lstStyle/>
          <a:p>
            <a:pPr algn="ctr"/>
            <a:r>
              <a:rPr sz="1500" b="1">
                <a:solidFill>
                  <a:srgbClr val="234869"/>
                </a:solidFill>
                <a:latin typeface="Aptos"/>
              </a:rPr>
              <a:t>CODE / PIPELINE</a:t>
            </a:r>
          </a:p>
        </p:txBody>
      </p:sp>
      <p:sp>
        <p:nvSpPr>
          <p:cNvPr id="21" name="TextBox 20"/>
          <p:cNvSpPr txBox="1"/>
          <p:nvPr/>
        </p:nvSpPr>
        <p:spPr>
          <a:xfrm>
            <a:off x="6492240" y="2148840"/>
            <a:ext cx="4572000" cy="1828800"/>
          </a:xfrm>
          <a:prstGeom prst="rect">
            <a:avLst/>
          </a:prstGeom>
          <a:noFill/>
        </p:spPr>
        <p:txBody>
          <a:bodyPr wrap="square">
            <a:spAutoFit/>
          </a:bodyPr>
          <a:lstStyle/>
          <a:p>
            <a:pPr algn="l"/>
            <a:r>
              <a:rPr sz="1150" b="1" dirty="0">
                <a:solidFill>
                  <a:srgbClr val="141414"/>
                </a:solidFill>
                <a:latin typeface="Aptos"/>
              </a:rPr>
              <a:t>[CODE: ml-pipeline/</a:t>
            </a:r>
            <a:r>
              <a:rPr sz="1150" b="1" dirty="0" err="1">
                <a:solidFill>
                  <a:srgbClr val="141414"/>
                </a:solidFill>
                <a:latin typeface="Aptos"/>
              </a:rPr>
              <a:t>src</a:t>
            </a:r>
            <a:r>
              <a:rPr sz="1150" b="1" dirty="0">
                <a:solidFill>
                  <a:srgbClr val="141414"/>
                </a:solidFill>
                <a:latin typeface="Aptos"/>
              </a:rPr>
              <a:t>/feature_engineering.py]
</a:t>
            </a:r>
            <a:r>
              <a:rPr sz="1150" b="1" dirty="0" err="1">
                <a:solidFill>
                  <a:srgbClr val="141414"/>
                </a:solidFill>
                <a:latin typeface="Aptos"/>
              </a:rPr>
              <a:t>compute_dew_point_spread</a:t>
            </a:r>
            <a:r>
              <a:rPr sz="1150" b="1" dirty="0">
                <a:solidFill>
                  <a:srgbClr val="141414"/>
                </a:solidFill>
                <a:latin typeface="Aptos"/>
              </a:rPr>
              <a:t>()
</a:t>
            </a:r>
            <a:r>
              <a:rPr sz="1150" b="1" dirty="0" err="1">
                <a:solidFill>
                  <a:srgbClr val="141414"/>
                </a:solidFill>
                <a:latin typeface="Aptos"/>
              </a:rPr>
              <a:t>compute_pressure_trends</a:t>
            </a:r>
            <a:r>
              <a:rPr sz="1150" b="1" dirty="0">
                <a:solidFill>
                  <a:srgbClr val="141414"/>
                </a:solidFill>
                <a:latin typeface="Aptos"/>
              </a:rPr>
              <a:t>()
</a:t>
            </a:r>
            <a:r>
              <a:rPr sz="1150" b="1" dirty="0" err="1">
                <a:solidFill>
                  <a:srgbClr val="141414"/>
                </a:solidFill>
                <a:latin typeface="Aptos"/>
              </a:rPr>
              <a:t>compute_humidity_trend</a:t>
            </a:r>
            <a:r>
              <a:rPr sz="1150" b="1" dirty="0">
                <a:solidFill>
                  <a:srgbClr val="141414"/>
                </a:solidFill>
                <a:latin typeface="Aptos"/>
              </a:rPr>
              <a:t>()
Pipeline: raw readings → station grouping → temporal differences → model-ready features</a:t>
            </a:r>
          </a:p>
        </p:txBody>
      </p:sp>
      <p:pic>
        <p:nvPicPr>
          <p:cNvPr id="24" name="Picture 23">
            <a:extLst>
              <a:ext uri="{FF2B5EF4-FFF2-40B4-BE49-F238E27FC236}">
                <a16:creationId xmlns:a16="http://schemas.microsoft.com/office/drawing/2014/main" id="{0F8C72BF-1EB0-F4E1-E462-EDBE9C32EF27}"/>
              </a:ext>
            </a:extLst>
          </p:cNvPr>
          <p:cNvPicPr>
            <a:picLocks noChangeAspect="1"/>
          </p:cNvPicPr>
          <p:nvPr/>
        </p:nvPicPr>
        <p:blipFill>
          <a:blip r:embed="rId3"/>
          <a:stretch>
            <a:fillRect/>
          </a:stretch>
        </p:blipFill>
        <p:spPr>
          <a:xfrm>
            <a:off x="6245353" y="1993392"/>
            <a:ext cx="5374204" cy="39684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Implementation: Frontend Dashboard</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325880"/>
            <a:ext cx="3749039" cy="452628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00200"/>
            <a:ext cx="3291840" cy="274320"/>
          </a:xfrm>
          <a:prstGeom prst="rect">
            <a:avLst/>
          </a:prstGeom>
          <a:noFill/>
        </p:spPr>
        <p:txBody>
          <a:bodyPr wrap="square">
            <a:spAutoFit/>
          </a:bodyPr>
          <a:lstStyle/>
          <a:p>
            <a:pPr algn="ctr"/>
            <a:r>
              <a:rPr sz="1500" b="1">
                <a:solidFill>
                  <a:srgbClr val="234869"/>
                </a:solidFill>
                <a:latin typeface="Aptos"/>
              </a:rPr>
              <a:t>COMPONENT TREE</a:t>
            </a:r>
          </a:p>
        </p:txBody>
      </p:sp>
      <p:sp>
        <p:nvSpPr>
          <p:cNvPr id="7" name="Rounded Rectangle 6"/>
          <p:cNvSpPr/>
          <p:nvPr/>
        </p:nvSpPr>
        <p:spPr>
          <a:xfrm>
            <a:off x="1005840" y="2057400"/>
            <a:ext cx="2971800" cy="393192"/>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139696"/>
            <a:ext cx="2971800" cy="182880"/>
          </a:xfrm>
          <a:prstGeom prst="rect">
            <a:avLst/>
          </a:prstGeom>
          <a:noFill/>
        </p:spPr>
        <p:txBody>
          <a:bodyPr wrap="square">
            <a:spAutoFit/>
          </a:bodyPr>
          <a:lstStyle/>
          <a:p>
            <a:pPr algn="ctr"/>
            <a:r>
              <a:rPr sz="1050" b="1">
                <a:solidFill>
                  <a:srgbClr val="141414"/>
                </a:solidFill>
                <a:latin typeface="Aptos"/>
              </a:rPr>
              <a:t>HeroWeather</a:t>
            </a:r>
          </a:p>
        </p:txBody>
      </p:sp>
      <p:sp>
        <p:nvSpPr>
          <p:cNvPr id="9" name="Rounded Rectangle 8"/>
          <p:cNvSpPr/>
          <p:nvPr/>
        </p:nvSpPr>
        <p:spPr>
          <a:xfrm>
            <a:off x="1005840" y="2651760"/>
            <a:ext cx="2971800" cy="393192"/>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734056"/>
            <a:ext cx="2971800" cy="182880"/>
          </a:xfrm>
          <a:prstGeom prst="rect">
            <a:avLst/>
          </a:prstGeom>
          <a:noFill/>
        </p:spPr>
        <p:txBody>
          <a:bodyPr wrap="square">
            <a:spAutoFit/>
          </a:bodyPr>
          <a:lstStyle/>
          <a:p>
            <a:pPr algn="ctr"/>
            <a:r>
              <a:rPr sz="1050" b="1">
                <a:solidFill>
                  <a:srgbClr val="141414"/>
                </a:solidFill>
                <a:latin typeface="Aptos"/>
              </a:rPr>
              <a:t>StationCard × N</a:t>
            </a:r>
          </a:p>
        </p:txBody>
      </p:sp>
      <p:sp>
        <p:nvSpPr>
          <p:cNvPr id="11" name="Rounded Rectangle 10"/>
          <p:cNvSpPr/>
          <p:nvPr/>
        </p:nvSpPr>
        <p:spPr>
          <a:xfrm>
            <a:off x="1005840" y="3246120"/>
            <a:ext cx="2971800" cy="393192"/>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328415"/>
            <a:ext cx="2971800" cy="182880"/>
          </a:xfrm>
          <a:prstGeom prst="rect">
            <a:avLst/>
          </a:prstGeom>
          <a:noFill/>
        </p:spPr>
        <p:txBody>
          <a:bodyPr wrap="square">
            <a:spAutoFit/>
          </a:bodyPr>
          <a:lstStyle/>
          <a:p>
            <a:pPr algn="ctr"/>
            <a:r>
              <a:rPr sz="1050" b="1">
                <a:solidFill>
                  <a:srgbClr val="141414"/>
                </a:solidFill>
                <a:latin typeface="Aptos"/>
              </a:rPr>
              <a:t>TrendChart (Recharts)</a:t>
            </a:r>
          </a:p>
        </p:txBody>
      </p:sp>
      <p:sp>
        <p:nvSpPr>
          <p:cNvPr id="13" name="Rounded Rectangle 12"/>
          <p:cNvSpPr/>
          <p:nvPr/>
        </p:nvSpPr>
        <p:spPr>
          <a:xfrm>
            <a:off x="1005840" y="3840480"/>
            <a:ext cx="2971800" cy="393192"/>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922776"/>
            <a:ext cx="2971800" cy="182880"/>
          </a:xfrm>
          <a:prstGeom prst="rect">
            <a:avLst/>
          </a:prstGeom>
          <a:noFill/>
        </p:spPr>
        <p:txBody>
          <a:bodyPr wrap="square">
            <a:spAutoFit/>
          </a:bodyPr>
          <a:lstStyle/>
          <a:p>
            <a:pPr algn="ctr"/>
            <a:r>
              <a:rPr sz="1050" b="1">
                <a:solidFill>
                  <a:srgbClr val="141414"/>
                </a:solidFill>
                <a:latin typeface="Aptos"/>
              </a:rPr>
              <a:t>Search + Source Filter</a:t>
            </a:r>
          </a:p>
        </p:txBody>
      </p:sp>
      <p:sp>
        <p:nvSpPr>
          <p:cNvPr id="15" name="Rounded Rectangle 14"/>
          <p:cNvSpPr/>
          <p:nvPr/>
        </p:nvSpPr>
        <p:spPr>
          <a:xfrm>
            <a:off x="1005840" y="4434840"/>
            <a:ext cx="2971800" cy="393192"/>
          </a:xfrm>
          <a:prstGeom prst="round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517136"/>
            <a:ext cx="2971800" cy="182880"/>
          </a:xfrm>
          <a:prstGeom prst="rect">
            <a:avLst/>
          </a:prstGeom>
          <a:noFill/>
        </p:spPr>
        <p:txBody>
          <a:bodyPr wrap="square">
            <a:spAutoFit/>
          </a:bodyPr>
          <a:lstStyle/>
          <a:p>
            <a:pPr algn="ctr"/>
            <a:r>
              <a:rPr sz="1050" b="1">
                <a:solidFill>
                  <a:srgbClr val="141414"/>
                </a:solidFill>
                <a:latin typeface="Aptos"/>
              </a:rPr>
              <a:t>30s Countdown Refresh</a:t>
            </a:r>
          </a:p>
        </p:txBody>
      </p:sp>
      <p:sp>
        <p:nvSpPr>
          <p:cNvPr id="17" name="Rounded Rectangle 16"/>
          <p:cNvSpPr/>
          <p:nvPr/>
        </p:nvSpPr>
        <p:spPr>
          <a:xfrm>
            <a:off x="4663440" y="1325880"/>
            <a:ext cx="6720840" cy="214884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92040" y="1600200"/>
            <a:ext cx="6217920" cy="274320"/>
          </a:xfrm>
          <a:prstGeom prst="rect">
            <a:avLst/>
          </a:prstGeom>
          <a:noFill/>
        </p:spPr>
        <p:txBody>
          <a:bodyPr wrap="square">
            <a:spAutoFit/>
          </a:bodyPr>
          <a:lstStyle/>
          <a:p>
            <a:pPr algn="ctr"/>
            <a:r>
              <a:rPr sz="1400" b="1">
                <a:solidFill>
                  <a:srgbClr val="234869"/>
                </a:solidFill>
                <a:latin typeface="Aptos"/>
              </a:rPr>
              <a:t>AUTO-REFRESH LOGIC</a:t>
            </a:r>
          </a:p>
        </p:txBody>
      </p:sp>
      <p:sp>
        <p:nvSpPr>
          <p:cNvPr id="19" name="TextBox 18"/>
          <p:cNvSpPr txBox="1"/>
          <p:nvPr/>
        </p:nvSpPr>
        <p:spPr>
          <a:xfrm>
            <a:off x="5193792" y="1600200"/>
            <a:ext cx="5852160" cy="2970044"/>
          </a:xfrm>
          <a:prstGeom prst="rect">
            <a:avLst/>
          </a:prstGeom>
          <a:noFill/>
        </p:spPr>
        <p:txBody>
          <a:bodyPr wrap="square">
            <a:spAutoFit/>
          </a:bodyPr>
          <a:lstStyle/>
          <a:p>
            <a:r>
              <a:rPr lang="en-IN" sz="1100" dirty="0"/>
              <a:t> </a:t>
            </a:r>
            <a:r>
              <a:rPr lang="en-IN" sz="1100" dirty="0" err="1"/>
              <a:t>scheduler.add_job</a:t>
            </a:r>
            <a:r>
              <a:rPr lang="en-IN" sz="1100" dirty="0"/>
              <a:t>(</a:t>
            </a:r>
          </a:p>
          <a:p>
            <a:r>
              <a:rPr lang="en-IN" sz="1100" dirty="0"/>
              <a:t>        </a:t>
            </a:r>
            <a:r>
              <a:rPr lang="en-IN" sz="1100" dirty="0" err="1"/>
              <a:t>run_ingestion</a:t>
            </a:r>
            <a:r>
              <a:rPr lang="en-IN" sz="1100" dirty="0"/>
              <a:t>,</a:t>
            </a:r>
          </a:p>
          <a:p>
            <a:r>
              <a:rPr lang="en-IN" sz="1100" dirty="0"/>
              <a:t>        trigger=</a:t>
            </a:r>
            <a:r>
              <a:rPr lang="en-IN" sz="1100" dirty="0" err="1"/>
              <a:t>IntervalTrigger</a:t>
            </a:r>
            <a:r>
              <a:rPr lang="en-IN" sz="1100" dirty="0"/>
              <a:t>(seconds=</a:t>
            </a:r>
            <a:r>
              <a:rPr lang="en-IN" sz="1100" dirty="0" err="1"/>
              <a:t>settings.INGESTION_INTERVAL_SECONDS</a:t>
            </a:r>
            <a:r>
              <a:rPr lang="en-IN" sz="1100" dirty="0"/>
              <a:t>),</a:t>
            </a:r>
          </a:p>
          <a:p>
            <a:r>
              <a:rPr lang="en-IN" sz="1100" dirty="0"/>
              <a:t>        id="</a:t>
            </a:r>
            <a:r>
              <a:rPr lang="en-IN" sz="1100" dirty="0" err="1"/>
              <a:t>weather_ingestion</a:t>
            </a:r>
            <a:r>
              <a:rPr lang="en-IN" sz="1100" dirty="0"/>
              <a:t>",</a:t>
            </a:r>
          </a:p>
          <a:p>
            <a:r>
              <a:rPr lang="en-IN" sz="1100" dirty="0"/>
              <a:t>        name="Weather Data Ingestion",</a:t>
            </a:r>
          </a:p>
          <a:p>
            <a:r>
              <a:rPr lang="en-IN" sz="1100" dirty="0"/>
              <a:t>        </a:t>
            </a:r>
            <a:r>
              <a:rPr lang="en-IN" sz="1100" dirty="0" err="1"/>
              <a:t>replace_existing</a:t>
            </a:r>
            <a:r>
              <a:rPr lang="en-IN" sz="1100" dirty="0"/>
              <a:t>=True,</a:t>
            </a:r>
          </a:p>
          <a:p>
            <a:r>
              <a:rPr lang="en-IN" sz="1100" dirty="0"/>
              <a:t>    )</a:t>
            </a:r>
          </a:p>
          <a:p>
            <a:r>
              <a:rPr lang="en-IN" sz="1100" dirty="0"/>
              <a:t>    </a:t>
            </a:r>
            <a:r>
              <a:rPr lang="en-IN" sz="1100" dirty="0" err="1"/>
              <a:t>scheduler.start</a:t>
            </a:r>
            <a:r>
              <a:rPr lang="en-IN" sz="1100" dirty="0"/>
              <a:t>()</a:t>
            </a:r>
          </a:p>
          <a:p>
            <a:r>
              <a:rPr lang="en-IN" sz="1100" dirty="0"/>
              <a:t>    logger.info(f" High-frequency ingestion scheduled every {</a:t>
            </a:r>
            <a:r>
              <a:rPr lang="en-IN" sz="1100" dirty="0" err="1"/>
              <a:t>settings.INGESTION_INTERVAL_SECONDS</a:t>
            </a:r>
            <a:r>
              <a:rPr lang="en-IN" sz="1100" dirty="0"/>
              <a:t>} seconds")</a:t>
            </a:r>
          </a:p>
          <a:p>
            <a:br>
              <a:rPr lang="en-IN" sz="1100" dirty="0"/>
            </a:br>
            <a:endParaRPr lang="en-IN" sz="1100" dirty="0"/>
          </a:p>
          <a:p>
            <a:r>
              <a:rPr lang="en-IN" sz="1100" dirty="0"/>
              <a:t>   </a:t>
            </a:r>
          </a:p>
          <a:p>
            <a:br>
              <a:rPr lang="en-IN" sz="1100" dirty="0"/>
            </a:br>
            <a:endParaRPr lang="en-IN" sz="1100" dirty="0"/>
          </a:p>
          <a:p>
            <a:r>
              <a:rPr lang="en-IN" sz="1100" dirty="0"/>
              <a:t>    </a:t>
            </a:r>
            <a:r>
              <a:rPr lang="en-IN" sz="1100" dirty="0" err="1"/>
              <a:t>scheduler.shutdown</a:t>
            </a:r>
            <a:r>
              <a:rPr lang="en-IN" sz="1100" dirty="0"/>
              <a:t>(wait=False)</a:t>
            </a:r>
          </a:p>
          <a:p>
            <a:r>
              <a:rPr lang="en-IN" sz="1100" dirty="0"/>
              <a:t>    logger.info("🛑 Scheduler stopped. Backend shutting down.")</a:t>
            </a:r>
          </a:p>
        </p:txBody>
      </p:sp>
      <p:sp>
        <p:nvSpPr>
          <p:cNvPr id="20" name="Rounded Rectangle 19"/>
          <p:cNvSpPr/>
          <p:nvPr/>
        </p:nvSpPr>
        <p:spPr>
          <a:xfrm>
            <a:off x="4839098" y="3534156"/>
            <a:ext cx="6545182" cy="3300984"/>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92040" y="3529583"/>
            <a:ext cx="6217920" cy="274320"/>
          </a:xfrm>
          <a:prstGeom prst="rect">
            <a:avLst/>
          </a:prstGeom>
          <a:noFill/>
        </p:spPr>
        <p:txBody>
          <a:bodyPr wrap="square">
            <a:spAutoFit/>
          </a:bodyPr>
          <a:lstStyle/>
          <a:p>
            <a:pPr algn="ctr"/>
            <a:r>
              <a:rPr sz="1400" b="1" dirty="0">
                <a:solidFill>
                  <a:srgbClr val="234869"/>
                </a:solidFill>
                <a:latin typeface="Aptos"/>
              </a:rPr>
              <a:t>SCREENSHOT PLACEHOLDERS</a:t>
            </a:r>
          </a:p>
        </p:txBody>
      </p:sp>
      <p:sp>
        <p:nvSpPr>
          <p:cNvPr id="22" name="TextBox 21"/>
          <p:cNvSpPr txBox="1"/>
          <p:nvPr/>
        </p:nvSpPr>
        <p:spPr>
          <a:xfrm>
            <a:off x="4983480" y="4480560"/>
            <a:ext cx="5989320" cy="960120"/>
          </a:xfrm>
          <a:prstGeom prst="rect">
            <a:avLst/>
          </a:prstGeom>
          <a:noFill/>
        </p:spPr>
        <p:txBody>
          <a:bodyPr wrap="square">
            <a:spAutoFit/>
          </a:bodyPr>
          <a:lstStyle/>
          <a:p>
            <a:pPr algn="ctr"/>
            <a:r>
              <a:rPr sz="1100" b="1" dirty="0">
                <a:solidFill>
                  <a:srgbClr val="141414"/>
                </a:solidFill>
                <a:latin typeface="Aptos"/>
              </a:rPr>
              <a:t>[SCREENSHOT: Dashboard with live </a:t>
            </a:r>
            <a:r>
              <a:rPr sz="1100" b="1" dirty="0" err="1">
                <a:solidFill>
                  <a:srgbClr val="141414"/>
                </a:solidFill>
                <a:latin typeface="Aptos"/>
              </a:rPr>
              <a:t>StationCards</a:t>
            </a:r>
            <a:r>
              <a:rPr sz="1100" b="1" dirty="0">
                <a:solidFill>
                  <a:srgbClr val="141414"/>
                </a:solidFill>
                <a:latin typeface="Aptos"/>
              </a:rPr>
              <a:t>]
[SCREENSHOT: 24hr </a:t>
            </a:r>
            <a:r>
              <a:rPr sz="1100" b="1" dirty="0" err="1">
                <a:solidFill>
                  <a:srgbClr val="141414"/>
                </a:solidFill>
                <a:latin typeface="Aptos"/>
              </a:rPr>
              <a:t>TrendChart</a:t>
            </a:r>
            <a:r>
              <a:rPr sz="1100" b="1" dirty="0">
                <a:solidFill>
                  <a:srgbClr val="141414"/>
                </a:solidFill>
                <a:latin typeface="Aptos"/>
              </a:rPr>
              <a:t>]
[SCREENSHOT: Homepage with 3-layer section]</a:t>
            </a:r>
          </a:p>
        </p:txBody>
      </p:sp>
      <p:pic>
        <p:nvPicPr>
          <p:cNvPr id="24" name="Picture 23">
            <a:extLst>
              <a:ext uri="{FF2B5EF4-FFF2-40B4-BE49-F238E27FC236}">
                <a16:creationId xmlns:a16="http://schemas.microsoft.com/office/drawing/2014/main" id="{91CBC6DA-A8C5-5A9D-32DB-4E585E53F040}"/>
              </a:ext>
            </a:extLst>
          </p:cNvPr>
          <p:cNvPicPr>
            <a:picLocks noChangeAspect="1"/>
          </p:cNvPicPr>
          <p:nvPr/>
        </p:nvPicPr>
        <p:blipFill>
          <a:blip r:embed="rId3"/>
          <a:stretch>
            <a:fillRect/>
          </a:stretch>
        </p:blipFill>
        <p:spPr>
          <a:xfrm>
            <a:off x="5090160" y="3803903"/>
            <a:ext cx="6294120" cy="300480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Module 3: AI/ML Nowcasting Engine – Phase 2</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554480"/>
            <a:ext cx="30175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3017520" cy="228600"/>
          </a:xfrm>
          <a:prstGeom prst="rect">
            <a:avLst/>
          </a:prstGeom>
          <a:noFill/>
        </p:spPr>
        <p:txBody>
          <a:bodyPr wrap="square">
            <a:spAutoFit/>
          </a:bodyPr>
          <a:lstStyle/>
          <a:p>
            <a:pPr algn="ctr"/>
            <a:r>
              <a:rPr sz="1200" b="1">
                <a:solidFill>
                  <a:srgbClr val="234869"/>
                </a:solidFill>
                <a:latin typeface="Aptos"/>
              </a:rPr>
              <a:t>Baseline</a:t>
            </a:r>
          </a:p>
        </p:txBody>
      </p:sp>
      <p:sp>
        <p:nvSpPr>
          <p:cNvPr id="7" name="TextBox 6"/>
          <p:cNvSpPr txBox="1"/>
          <p:nvPr/>
        </p:nvSpPr>
        <p:spPr>
          <a:xfrm>
            <a:off x="914400" y="2121408"/>
            <a:ext cx="3017520" cy="411480"/>
          </a:xfrm>
          <a:prstGeom prst="rect">
            <a:avLst/>
          </a:prstGeom>
          <a:noFill/>
        </p:spPr>
        <p:txBody>
          <a:bodyPr wrap="square">
            <a:spAutoFit/>
          </a:bodyPr>
          <a:lstStyle/>
          <a:p>
            <a:pPr algn="ctr"/>
            <a:r>
              <a:rPr sz="1500" b="1">
                <a:solidFill>
                  <a:srgbClr val="141414"/>
                </a:solidFill>
                <a:latin typeface="Aptos"/>
              </a:rPr>
              <a:t>Random Forest
XGBoost</a:t>
            </a:r>
          </a:p>
        </p:txBody>
      </p:sp>
      <p:cxnSp>
        <p:nvCxnSpPr>
          <p:cNvPr id="8" name="Connector 7"/>
          <p:cNvCxnSpPr/>
          <p:nvPr/>
        </p:nvCxnSpPr>
        <p:spPr>
          <a:xfrm>
            <a:off x="3977639" y="2121408"/>
            <a:ext cx="548641"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0" y="1554480"/>
            <a:ext cx="30175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783080"/>
            <a:ext cx="3017520" cy="228600"/>
          </a:xfrm>
          <a:prstGeom prst="rect">
            <a:avLst/>
          </a:prstGeom>
          <a:noFill/>
        </p:spPr>
        <p:txBody>
          <a:bodyPr wrap="square">
            <a:spAutoFit/>
          </a:bodyPr>
          <a:lstStyle/>
          <a:p>
            <a:pPr algn="ctr"/>
            <a:r>
              <a:rPr sz="1200" b="1">
                <a:solidFill>
                  <a:srgbClr val="234869"/>
                </a:solidFill>
                <a:latin typeface="Aptos"/>
              </a:rPr>
              <a:t>Temporal</a:t>
            </a:r>
          </a:p>
        </p:txBody>
      </p:sp>
      <p:sp>
        <p:nvSpPr>
          <p:cNvPr id="11" name="TextBox 10"/>
          <p:cNvSpPr txBox="1"/>
          <p:nvPr/>
        </p:nvSpPr>
        <p:spPr>
          <a:xfrm>
            <a:off x="4572000" y="2121408"/>
            <a:ext cx="3017520" cy="411480"/>
          </a:xfrm>
          <a:prstGeom prst="rect">
            <a:avLst/>
          </a:prstGeom>
          <a:noFill/>
        </p:spPr>
        <p:txBody>
          <a:bodyPr wrap="square">
            <a:spAutoFit/>
          </a:bodyPr>
          <a:lstStyle/>
          <a:p>
            <a:pPr algn="ctr"/>
            <a:r>
              <a:rPr sz="1500" b="1">
                <a:solidFill>
                  <a:srgbClr val="141414"/>
                </a:solidFill>
                <a:latin typeface="Aptos"/>
              </a:rPr>
              <a:t>LSTM</a:t>
            </a:r>
          </a:p>
        </p:txBody>
      </p:sp>
      <p:cxnSp>
        <p:nvCxnSpPr>
          <p:cNvPr id="12" name="Connector 11"/>
          <p:cNvCxnSpPr/>
          <p:nvPr/>
        </p:nvCxnSpPr>
        <p:spPr>
          <a:xfrm>
            <a:off x="7635240" y="2121408"/>
            <a:ext cx="548639"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0" y="1554480"/>
            <a:ext cx="30175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783080"/>
            <a:ext cx="3017520" cy="228600"/>
          </a:xfrm>
          <a:prstGeom prst="rect">
            <a:avLst/>
          </a:prstGeom>
          <a:noFill/>
        </p:spPr>
        <p:txBody>
          <a:bodyPr wrap="square">
            <a:spAutoFit/>
          </a:bodyPr>
          <a:lstStyle/>
          <a:p>
            <a:pPr algn="ctr"/>
            <a:r>
              <a:rPr sz="1200" b="1">
                <a:solidFill>
                  <a:srgbClr val="234869"/>
                </a:solidFill>
                <a:latin typeface="Aptos"/>
              </a:rPr>
              <a:t>Target</a:t>
            </a:r>
          </a:p>
        </p:txBody>
      </p:sp>
      <p:sp>
        <p:nvSpPr>
          <p:cNvPr id="15" name="TextBox 14"/>
          <p:cNvSpPr txBox="1"/>
          <p:nvPr/>
        </p:nvSpPr>
        <p:spPr>
          <a:xfrm>
            <a:off x="8229600" y="2121408"/>
            <a:ext cx="3017520" cy="411480"/>
          </a:xfrm>
          <a:prstGeom prst="rect">
            <a:avLst/>
          </a:prstGeom>
          <a:noFill/>
        </p:spPr>
        <p:txBody>
          <a:bodyPr wrap="square">
            <a:spAutoFit/>
          </a:bodyPr>
          <a:lstStyle/>
          <a:p>
            <a:pPr algn="ctr"/>
            <a:r>
              <a:rPr sz="1500" b="1">
                <a:solidFill>
                  <a:srgbClr val="141414"/>
                </a:solidFill>
                <a:latin typeface="Aptos"/>
              </a:rPr>
              <a:t>CNN/GNN-LSTM</a:t>
            </a:r>
          </a:p>
        </p:txBody>
      </p:sp>
      <p:sp>
        <p:nvSpPr>
          <p:cNvPr id="16" name="TextBox 15"/>
          <p:cNvSpPr txBox="1"/>
          <p:nvPr/>
        </p:nvSpPr>
        <p:spPr>
          <a:xfrm>
            <a:off x="960120" y="3246120"/>
            <a:ext cx="10058400" cy="2811026"/>
          </a:xfrm>
          <a:prstGeom prst="rect">
            <a:avLst/>
          </a:prstGeom>
          <a:noFill/>
        </p:spPr>
        <p:txBody>
          <a:bodyPr wrap="square">
            <a:spAutoFit/>
          </a:bodyPr>
          <a:lstStyle/>
          <a:p>
            <a:pPr>
              <a:spcAft>
                <a:spcPts val="500"/>
              </a:spcAft>
              <a:defRPr sz="1250">
                <a:solidFill>
                  <a:srgbClr val="141414"/>
                </a:solidFill>
                <a:latin typeface="Aptos"/>
              </a:defRPr>
            </a:pPr>
            <a:r>
              <a:rPr sz="2000" dirty="0"/>
              <a:t>• Training sequence: historical station readings + engineered features → chronological train/validation/test split.</a:t>
            </a:r>
          </a:p>
          <a:p>
            <a:pPr>
              <a:spcAft>
                <a:spcPts val="500"/>
              </a:spcAft>
              <a:defRPr sz="1250">
                <a:solidFill>
                  <a:srgbClr val="141414"/>
                </a:solidFill>
                <a:latin typeface="Aptos"/>
              </a:defRPr>
            </a:pPr>
            <a:r>
              <a:rPr sz="2000" dirty="0"/>
              <a:t>• Compare RF/</a:t>
            </a:r>
            <a:r>
              <a:rPr sz="2000" dirty="0" err="1"/>
              <a:t>XGBoost</a:t>
            </a:r>
            <a:r>
              <a:rPr sz="2000" dirty="0"/>
              <a:t> tabular baselines before increasing model complexity.</a:t>
            </a:r>
          </a:p>
          <a:p>
            <a:pPr>
              <a:spcAft>
                <a:spcPts val="500"/>
              </a:spcAft>
              <a:defRPr sz="1250">
                <a:solidFill>
                  <a:srgbClr val="141414"/>
                </a:solidFill>
                <a:latin typeface="Aptos"/>
              </a:defRPr>
            </a:pPr>
            <a:r>
              <a:rPr sz="2000" dirty="0"/>
              <a:t>• LSTM learns temporal dependencies; CNN/GNN-LSTM is intended to capture spatial station relationships plus temporal evolution.</a:t>
            </a:r>
          </a:p>
          <a:p>
            <a:pPr>
              <a:spcAft>
                <a:spcPts val="500"/>
              </a:spcAft>
              <a:defRPr sz="1250">
                <a:solidFill>
                  <a:srgbClr val="141414"/>
                </a:solidFill>
                <a:latin typeface="Aptos"/>
              </a:defRPr>
            </a:pPr>
            <a:r>
              <a:rPr sz="2000" dirty="0"/>
              <a:t>• Output target: rainfall prediction for future intervals within the 0–3 hour horizon.</a:t>
            </a:r>
          </a:p>
          <a:p>
            <a:pPr>
              <a:spcAft>
                <a:spcPts val="500"/>
              </a:spcAft>
              <a:defRPr sz="1250">
                <a:solidFill>
                  <a:srgbClr val="141414"/>
                </a:solidFill>
                <a:latin typeface="Aptos"/>
              </a:defRPr>
            </a:pPr>
            <a:r>
              <a:rPr sz="2000" dirty="0"/>
              <a:t>• Evaluation will include MAE/RMSE plus event-based precision/recall/F1 where thresholds are defined.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Module 4: NWP Processing &amp; Interactive Map – Phase 2</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148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764792"/>
            <a:ext cx="1645920" cy="228600"/>
          </a:xfrm>
          <a:prstGeom prst="rect">
            <a:avLst/>
          </a:prstGeom>
          <a:noFill/>
        </p:spPr>
        <p:txBody>
          <a:bodyPr wrap="square">
            <a:spAutoFit/>
          </a:bodyPr>
          <a:lstStyle/>
          <a:p>
            <a:pPr algn="ctr"/>
            <a:r>
              <a:rPr sz="1150" b="1">
                <a:solidFill>
                  <a:srgbClr val="234869"/>
                </a:solidFill>
                <a:latin typeface="Aptos"/>
              </a:rPr>
              <a:t>ECMWF</a:t>
            </a:r>
          </a:p>
        </p:txBody>
      </p:sp>
      <p:sp>
        <p:nvSpPr>
          <p:cNvPr id="7" name="TextBox 6"/>
          <p:cNvSpPr txBox="1"/>
          <p:nvPr/>
        </p:nvSpPr>
        <p:spPr>
          <a:xfrm>
            <a:off x="484632" y="2103120"/>
            <a:ext cx="1499616" cy="365760"/>
          </a:xfrm>
          <a:prstGeom prst="rect">
            <a:avLst/>
          </a:prstGeom>
          <a:noFill/>
        </p:spPr>
        <p:txBody>
          <a:bodyPr wrap="square">
            <a:spAutoFit/>
          </a:bodyPr>
          <a:lstStyle/>
          <a:p>
            <a:pPr algn="ctr"/>
            <a:r>
              <a:rPr sz="950" b="0">
                <a:solidFill>
                  <a:srgbClr val="141414"/>
                </a:solidFill>
                <a:latin typeface="Aptos"/>
              </a:rPr>
              <a:t>Forecast fields</a:t>
            </a:r>
          </a:p>
        </p:txBody>
      </p:sp>
      <p:cxnSp>
        <p:nvCxnSpPr>
          <p:cNvPr id="8" name="Connector 7"/>
          <p:cNvCxnSpPr/>
          <p:nvPr/>
        </p:nvCxnSpPr>
        <p:spPr>
          <a:xfrm>
            <a:off x="2075688" y="2103120"/>
            <a:ext cx="22860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3172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31720" y="1764792"/>
            <a:ext cx="1645920" cy="228600"/>
          </a:xfrm>
          <a:prstGeom prst="rect">
            <a:avLst/>
          </a:prstGeom>
          <a:noFill/>
        </p:spPr>
        <p:txBody>
          <a:bodyPr wrap="square">
            <a:spAutoFit/>
          </a:bodyPr>
          <a:lstStyle/>
          <a:p>
            <a:pPr algn="ctr"/>
            <a:r>
              <a:rPr sz="1150" b="1">
                <a:solidFill>
                  <a:srgbClr val="234869"/>
                </a:solidFill>
                <a:latin typeface="Aptos"/>
              </a:rPr>
              <a:t>GRIB2</a:t>
            </a:r>
          </a:p>
        </p:txBody>
      </p:sp>
      <p:sp>
        <p:nvSpPr>
          <p:cNvPr id="11" name="TextBox 10"/>
          <p:cNvSpPr txBox="1"/>
          <p:nvPr/>
        </p:nvSpPr>
        <p:spPr>
          <a:xfrm>
            <a:off x="2404872" y="2103120"/>
            <a:ext cx="1499616" cy="365760"/>
          </a:xfrm>
          <a:prstGeom prst="rect">
            <a:avLst/>
          </a:prstGeom>
          <a:noFill/>
        </p:spPr>
        <p:txBody>
          <a:bodyPr wrap="square">
            <a:spAutoFit/>
          </a:bodyPr>
          <a:lstStyle/>
          <a:p>
            <a:pPr algn="ctr"/>
            <a:r>
              <a:rPr sz="950" b="0">
                <a:solidFill>
                  <a:srgbClr val="141414"/>
                </a:solidFill>
                <a:latin typeface="Aptos"/>
              </a:rPr>
              <a:t>Download / parse</a:t>
            </a:r>
          </a:p>
        </p:txBody>
      </p:sp>
      <p:cxnSp>
        <p:nvCxnSpPr>
          <p:cNvPr id="12" name="Connector 11"/>
          <p:cNvCxnSpPr/>
          <p:nvPr/>
        </p:nvCxnSpPr>
        <p:spPr>
          <a:xfrm>
            <a:off x="3995928" y="2103120"/>
            <a:ext cx="22860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5196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51960" y="1764792"/>
            <a:ext cx="1645920" cy="228600"/>
          </a:xfrm>
          <a:prstGeom prst="rect">
            <a:avLst/>
          </a:prstGeom>
          <a:noFill/>
        </p:spPr>
        <p:txBody>
          <a:bodyPr wrap="square">
            <a:spAutoFit/>
          </a:bodyPr>
          <a:lstStyle/>
          <a:p>
            <a:pPr algn="ctr"/>
            <a:r>
              <a:rPr sz="1150" b="1">
                <a:solidFill>
                  <a:srgbClr val="234869"/>
                </a:solidFill>
                <a:latin typeface="Aptos"/>
              </a:rPr>
              <a:t>cfgrib + xarray</a:t>
            </a:r>
          </a:p>
        </p:txBody>
      </p:sp>
      <p:sp>
        <p:nvSpPr>
          <p:cNvPr id="15" name="TextBox 14"/>
          <p:cNvSpPr txBox="1"/>
          <p:nvPr/>
        </p:nvSpPr>
        <p:spPr>
          <a:xfrm>
            <a:off x="4325112" y="2103120"/>
            <a:ext cx="1499616" cy="365760"/>
          </a:xfrm>
          <a:prstGeom prst="rect">
            <a:avLst/>
          </a:prstGeom>
          <a:noFill/>
        </p:spPr>
        <p:txBody>
          <a:bodyPr wrap="square">
            <a:spAutoFit/>
          </a:bodyPr>
          <a:lstStyle/>
          <a:p>
            <a:pPr algn="ctr"/>
            <a:r>
              <a:rPr sz="950" b="0">
                <a:solidFill>
                  <a:srgbClr val="141414"/>
                </a:solidFill>
                <a:latin typeface="Aptos"/>
              </a:rPr>
              <a:t>Subset / transform</a:t>
            </a:r>
          </a:p>
        </p:txBody>
      </p:sp>
      <p:cxnSp>
        <p:nvCxnSpPr>
          <p:cNvPr id="16" name="Connector 15"/>
          <p:cNvCxnSpPr/>
          <p:nvPr/>
        </p:nvCxnSpPr>
        <p:spPr>
          <a:xfrm>
            <a:off x="5916168" y="2103120"/>
            <a:ext cx="22860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7220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72200" y="1764792"/>
            <a:ext cx="1645920" cy="228600"/>
          </a:xfrm>
          <a:prstGeom prst="rect">
            <a:avLst/>
          </a:prstGeom>
          <a:noFill/>
        </p:spPr>
        <p:txBody>
          <a:bodyPr wrap="square">
            <a:spAutoFit/>
          </a:bodyPr>
          <a:lstStyle/>
          <a:p>
            <a:pPr algn="ctr"/>
            <a:r>
              <a:rPr sz="1150" b="1">
                <a:solidFill>
                  <a:srgbClr val="234869"/>
                </a:solidFill>
                <a:latin typeface="Aptos"/>
              </a:rPr>
              <a:t>rasterio</a:t>
            </a:r>
          </a:p>
        </p:txBody>
      </p:sp>
      <p:sp>
        <p:nvSpPr>
          <p:cNvPr id="19" name="TextBox 18"/>
          <p:cNvSpPr txBox="1"/>
          <p:nvPr/>
        </p:nvSpPr>
        <p:spPr>
          <a:xfrm>
            <a:off x="6245352" y="2103120"/>
            <a:ext cx="1499616" cy="365760"/>
          </a:xfrm>
          <a:prstGeom prst="rect">
            <a:avLst/>
          </a:prstGeom>
          <a:noFill/>
        </p:spPr>
        <p:txBody>
          <a:bodyPr wrap="square">
            <a:spAutoFit/>
          </a:bodyPr>
          <a:lstStyle/>
          <a:p>
            <a:pPr algn="ctr"/>
            <a:r>
              <a:rPr sz="950" b="0">
                <a:solidFill>
                  <a:srgbClr val="141414"/>
                </a:solidFill>
                <a:latin typeface="Aptos"/>
              </a:rPr>
              <a:t>Rasterize</a:t>
            </a:r>
          </a:p>
        </p:txBody>
      </p:sp>
      <p:cxnSp>
        <p:nvCxnSpPr>
          <p:cNvPr id="20" name="Connector 19"/>
          <p:cNvCxnSpPr/>
          <p:nvPr/>
        </p:nvCxnSpPr>
        <p:spPr>
          <a:xfrm>
            <a:off x="7836408" y="2103120"/>
            <a:ext cx="22860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9244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1764792"/>
            <a:ext cx="1645920" cy="228600"/>
          </a:xfrm>
          <a:prstGeom prst="rect">
            <a:avLst/>
          </a:prstGeom>
          <a:noFill/>
        </p:spPr>
        <p:txBody>
          <a:bodyPr wrap="square">
            <a:spAutoFit/>
          </a:bodyPr>
          <a:lstStyle/>
          <a:p>
            <a:pPr algn="ctr"/>
            <a:r>
              <a:rPr sz="1150" b="1">
                <a:solidFill>
                  <a:srgbClr val="234869"/>
                </a:solidFill>
                <a:latin typeface="Aptos"/>
              </a:rPr>
              <a:t>GeoTIFF</a:t>
            </a:r>
          </a:p>
        </p:txBody>
      </p:sp>
      <p:sp>
        <p:nvSpPr>
          <p:cNvPr id="23" name="TextBox 22"/>
          <p:cNvSpPr txBox="1"/>
          <p:nvPr/>
        </p:nvSpPr>
        <p:spPr>
          <a:xfrm>
            <a:off x="8165592" y="2103120"/>
            <a:ext cx="1499616" cy="365760"/>
          </a:xfrm>
          <a:prstGeom prst="rect">
            <a:avLst/>
          </a:prstGeom>
          <a:noFill/>
        </p:spPr>
        <p:txBody>
          <a:bodyPr wrap="square">
            <a:spAutoFit/>
          </a:bodyPr>
          <a:lstStyle/>
          <a:p>
            <a:pPr algn="ctr"/>
            <a:r>
              <a:rPr sz="950" b="0">
                <a:solidFill>
                  <a:srgbClr val="141414"/>
                </a:solidFill>
                <a:latin typeface="Aptos"/>
              </a:rPr>
              <a:t>Map layer</a:t>
            </a:r>
          </a:p>
        </p:txBody>
      </p:sp>
      <p:cxnSp>
        <p:nvCxnSpPr>
          <p:cNvPr id="24" name="Connector 23"/>
          <p:cNvCxnSpPr/>
          <p:nvPr/>
        </p:nvCxnSpPr>
        <p:spPr>
          <a:xfrm>
            <a:off x="9756648" y="2103120"/>
            <a:ext cx="22860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12680" y="1554480"/>
            <a:ext cx="1645920" cy="114300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12680" y="1764792"/>
            <a:ext cx="1645920" cy="228600"/>
          </a:xfrm>
          <a:prstGeom prst="rect">
            <a:avLst/>
          </a:prstGeom>
          <a:noFill/>
        </p:spPr>
        <p:txBody>
          <a:bodyPr wrap="square">
            <a:spAutoFit/>
          </a:bodyPr>
          <a:lstStyle/>
          <a:p>
            <a:pPr algn="ctr"/>
            <a:r>
              <a:rPr sz="1150" b="1">
                <a:solidFill>
                  <a:srgbClr val="234869"/>
                </a:solidFill>
                <a:latin typeface="Aptos"/>
              </a:rPr>
              <a:t>Leaflet</a:t>
            </a:r>
          </a:p>
        </p:txBody>
      </p:sp>
      <p:sp>
        <p:nvSpPr>
          <p:cNvPr id="27" name="TextBox 26"/>
          <p:cNvSpPr txBox="1"/>
          <p:nvPr/>
        </p:nvSpPr>
        <p:spPr>
          <a:xfrm>
            <a:off x="10085832" y="2103120"/>
            <a:ext cx="1499616" cy="365760"/>
          </a:xfrm>
          <a:prstGeom prst="rect">
            <a:avLst/>
          </a:prstGeom>
          <a:noFill/>
        </p:spPr>
        <p:txBody>
          <a:bodyPr wrap="square">
            <a:spAutoFit/>
          </a:bodyPr>
          <a:lstStyle/>
          <a:p>
            <a:pPr algn="ctr"/>
            <a:r>
              <a:rPr sz="950" b="0">
                <a:solidFill>
                  <a:srgbClr val="141414"/>
                </a:solidFill>
                <a:latin typeface="Aptos"/>
              </a:rPr>
              <a:t>Interactive map</a:t>
            </a:r>
          </a:p>
        </p:txBody>
      </p:sp>
      <p:sp>
        <p:nvSpPr>
          <p:cNvPr id="28" name="TextBox 27"/>
          <p:cNvSpPr txBox="1"/>
          <p:nvPr/>
        </p:nvSpPr>
        <p:spPr>
          <a:xfrm>
            <a:off x="914400" y="3246120"/>
            <a:ext cx="10058400" cy="1887696"/>
          </a:xfrm>
          <a:prstGeom prst="rect">
            <a:avLst/>
          </a:prstGeom>
          <a:noFill/>
        </p:spPr>
        <p:txBody>
          <a:bodyPr wrap="square">
            <a:spAutoFit/>
          </a:bodyPr>
          <a:lstStyle/>
          <a:p>
            <a:pPr>
              <a:spcAft>
                <a:spcPts val="500"/>
              </a:spcAft>
              <a:defRPr sz="1250">
                <a:solidFill>
                  <a:srgbClr val="141414"/>
                </a:solidFill>
                <a:latin typeface="Aptos"/>
              </a:defRPr>
            </a:pPr>
            <a:r>
              <a:rPr sz="2000" dirty="0"/>
              <a:t>• Process regional ECMWF grids relevant to Puducherry/Tamil Nadu.</a:t>
            </a:r>
          </a:p>
          <a:p>
            <a:pPr>
              <a:spcAft>
                <a:spcPts val="500"/>
              </a:spcAft>
              <a:defRPr sz="1250">
                <a:solidFill>
                  <a:srgbClr val="141414"/>
                </a:solidFill>
                <a:latin typeface="Aptos"/>
              </a:defRPr>
            </a:pPr>
            <a:r>
              <a:rPr sz="2000" dirty="0"/>
              <a:t>• Convert forecast variables into web-</a:t>
            </a:r>
            <a:r>
              <a:rPr sz="2000" dirty="0" err="1"/>
              <a:t>renderable</a:t>
            </a:r>
            <a:r>
              <a:rPr sz="2000" dirty="0"/>
              <a:t> raster layers.</a:t>
            </a:r>
          </a:p>
          <a:p>
            <a:pPr>
              <a:spcAft>
                <a:spcPts val="500"/>
              </a:spcAft>
              <a:defRPr sz="1250">
                <a:solidFill>
                  <a:srgbClr val="141414"/>
                </a:solidFill>
                <a:latin typeface="Aptos"/>
              </a:defRPr>
            </a:pPr>
            <a:r>
              <a:rPr sz="2000" dirty="0"/>
              <a:t>• Overlay PWS station locations and values on the map.</a:t>
            </a:r>
          </a:p>
          <a:p>
            <a:pPr>
              <a:spcAft>
                <a:spcPts val="500"/>
              </a:spcAft>
              <a:defRPr sz="1250">
                <a:solidFill>
                  <a:srgbClr val="141414"/>
                </a:solidFill>
                <a:latin typeface="Aptos"/>
              </a:defRPr>
            </a:pPr>
            <a:r>
              <a:rPr sz="2000" dirty="0"/>
              <a:t>• Explore compatible multi-model / multi-run blending as a future enhancement.</a:t>
            </a:r>
          </a:p>
          <a:p>
            <a:pPr>
              <a:spcAft>
                <a:spcPts val="500"/>
              </a:spcAft>
              <a:defRPr sz="1250">
                <a:solidFill>
                  <a:srgbClr val="141414"/>
                </a:solidFill>
                <a:latin typeface="Aptos"/>
              </a:defRPr>
            </a:pPr>
            <a:r>
              <a:rPr sz="2000" dirty="0"/>
              <a:t>• Present NWP as broader-scale context beside the 0–3h ML nowcast.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Module 5: Blog, Auth &amp; Community – Phase 2</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54480"/>
            <a:ext cx="3383280" cy="201168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28800"/>
            <a:ext cx="3017520" cy="274320"/>
          </a:xfrm>
          <a:prstGeom prst="rect">
            <a:avLst/>
          </a:prstGeom>
          <a:noFill/>
        </p:spPr>
        <p:txBody>
          <a:bodyPr wrap="square">
            <a:spAutoFit/>
          </a:bodyPr>
          <a:lstStyle/>
          <a:p>
            <a:pPr algn="ctr"/>
            <a:r>
              <a:rPr sz="1500" b="1">
                <a:solidFill>
                  <a:srgbClr val="234869"/>
                </a:solidFill>
                <a:latin typeface="Aptos"/>
              </a:rPr>
              <a:t>Authentication</a:t>
            </a:r>
          </a:p>
        </p:txBody>
      </p:sp>
      <p:sp>
        <p:nvSpPr>
          <p:cNvPr id="7" name="TextBox 6"/>
          <p:cNvSpPr txBox="1"/>
          <p:nvPr/>
        </p:nvSpPr>
        <p:spPr>
          <a:xfrm>
            <a:off x="960120" y="2331720"/>
            <a:ext cx="2926080" cy="640080"/>
          </a:xfrm>
          <a:prstGeom prst="rect">
            <a:avLst/>
          </a:prstGeom>
          <a:noFill/>
        </p:spPr>
        <p:txBody>
          <a:bodyPr wrap="square">
            <a:spAutoFit/>
          </a:bodyPr>
          <a:lstStyle/>
          <a:p>
            <a:pPr algn="ctr"/>
            <a:r>
              <a:rPr sz="1200" b="1">
                <a:solidFill>
                  <a:srgbClr val="141414"/>
                </a:solidFill>
                <a:latin typeface="Aptos"/>
              </a:rPr>
              <a:t>NextAuth.js + Firebase Auth
Google/Facebook OAuth</a:t>
            </a:r>
          </a:p>
        </p:txBody>
      </p:sp>
      <p:sp>
        <p:nvSpPr>
          <p:cNvPr id="8" name="Rounded Rectangle 7"/>
          <p:cNvSpPr/>
          <p:nvPr/>
        </p:nvSpPr>
        <p:spPr>
          <a:xfrm>
            <a:off x="4480559" y="1554480"/>
            <a:ext cx="3383280" cy="201168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828800"/>
            <a:ext cx="3017520" cy="274320"/>
          </a:xfrm>
          <a:prstGeom prst="rect">
            <a:avLst/>
          </a:prstGeom>
          <a:noFill/>
        </p:spPr>
        <p:txBody>
          <a:bodyPr wrap="square">
            <a:spAutoFit/>
          </a:bodyPr>
          <a:lstStyle/>
          <a:p>
            <a:pPr algn="ctr"/>
            <a:r>
              <a:rPr sz="1500" b="1">
                <a:solidFill>
                  <a:srgbClr val="234869"/>
                </a:solidFill>
                <a:latin typeface="Aptos"/>
              </a:rPr>
              <a:t>Blog CMS</a:t>
            </a:r>
          </a:p>
        </p:txBody>
      </p:sp>
      <p:sp>
        <p:nvSpPr>
          <p:cNvPr id="10" name="TextBox 9"/>
          <p:cNvSpPr txBox="1"/>
          <p:nvPr/>
        </p:nvSpPr>
        <p:spPr>
          <a:xfrm>
            <a:off x="4709159" y="2331720"/>
            <a:ext cx="2926080" cy="640080"/>
          </a:xfrm>
          <a:prstGeom prst="rect">
            <a:avLst/>
          </a:prstGeom>
          <a:noFill/>
        </p:spPr>
        <p:txBody>
          <a:bodyPr wrap="square">
            <a:spAutoFit/>
          </a:bodyPr>
          <a:lstStyle/>
          <a:p>
            <a:pPr algn="ctr"/>
            <a:r>
              <a:rPr sz="1200" b="1">
                <a:solidFill>
                  <a:srgbClr val="141414"/>
                </a:solidFill>
                <a:latin typeface="Aptos"/>
              </a:rPr>
              <a:t>BlogPost table
create/edit/publish workflow</a:t>
            </a:r>
          </a:p>
        </p:txBody>
      </p:sp>
      <p:sp>
        <p:nvSpPr>
          <p:cNvPr id="11" name="Rounded Rectangle 10"/>
          <p:cNvSpPr/>
          <p:nvPr/>
        </p:nvSpPr>
        <p:spPr>
          <a:xfrm>
            <a:off x="8229600" y="1554480"/>
            <a:ext cx="3383280" cy="201168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828800"/>
            <a:ext cx="3017520" cy="274320"/>
          </a:xfrm>
          <a:prstGeom prst="rect">
            <a:avLst/>
          </a:prstGeom>
          <a:noFill/>
        </p:spPr>
        <p:txBody>
          <a:bodyPr wrap="square">
            <a:spAutoFit/>
          </a:bodyPr>
          <a:lstStyle/>
          <a:p>
            <a:pPr algn="ctr"/>
            <a:r>
              <a:rPr sz="1500" b="1">
                <a:solidFill>
                  <a:srgbClr val="234869"/>
                </a:solidFill>
                <a:latin typeface="Aptos"/>
              </a:rPr>
              <a:t>Community</a:t>
            </a:r>
          </a:p>
        </p:txBody>
      </p:sp>
      <p:sp>
        <p:nvSpPr>
          <p:cNvPr id="13" name="TextBox 12"/>
          <p:cNvSpPr txBox="1"/>
          <p:nvPr/>
        </p:nvSpPr>
        <p:spPr>
          <a:xfrm>
            <a:off x="8458200" y="2331720"/>
            <a:ext cx="2926080" cy="640080"/>
          </a:xfrm>
          <a:prstGeom prst="rect">
            <a:avLst/>
          </a:prstGeom>
          <a:noFill/>
        </p:spPr>
        <p:txBody>
          <a:bodyPr wrap="square">
            <a:spAutoFit/>
          </a:bodyPr>
          <a:lstStyle/>
          <a:p>
            <a:pPr algn="ctr"/>
            <a:r>
              <a:rPr sz="1200" b="1">
                <a:solidFill>
                  <a:srgbClr val="141414"/>
                </a:solidFill>
                <a:latin typeface="Aptos"/>
              </a:rPr>
              <a:t>Comments, moderation
future user feedback loop</a:t>
            </a:r>
          </a:p>
        </p:txBody>
      </p:sp>
      <p:sp>
        <p:nvSpPr>
          <p:cNvPr id="14" name="TextBox 13"/>
          <p:cNvSpPr txBox="1"/>
          <p:nvPr/>
        </p:nvSpPr>
        <p:spPr>
          <a:xfrm>
            <a:off x="914400" y="3977639"/>
            <a:ext cx="10058400" cy="1823576"/>
          </a:xfrm>
          <a:prstGeom prst="rect">
            <a:avLst/>
          </a:prstGeom>
          <a:noFill/>
        </p:spPr>
        <p:txBody>
          <a:bodyPr wrap="square">
            <a:spAutoFit/>
          </a:bodyPr>
          <a:lstStyle/>
          <a:p>
            <a:pPr>
              <a:spcAft>
                <a:spcPts val="500"/>
              </a:spcAft>
              <a:defRPr sz="1250">
                <a:solidFill>
                  <a:srgbClr val="141414"/>
                </a:solidFill>
                <a:latin typeface="Aptos"/>
              </a:defRPr>
            </a:pPr>
            <a:r>
              <a:rPr sz="2000" dirty="0"/>
              <a:t>• Authentication will protect user-specific features and administration.</a:t>
            </a:r>
          </a:p>
          <a:p>
            <a:pPr>
              <a:spcAft>
                <a:spcPts val="500"/>
              </a:spcAft>
              <a:defRPr sz="1250">
                <a:solidFill>
                  <a:srgbClr val="141414"/>
                </a:solidFill>
                <a:latin typeface="Aptos"/>
              </a:defRPr>
            </a:pPr>
            <a:r>
              <a:rPr sz="2000" dirty="0"/>
              <a:t>• Blog content can communicate rainfall events, analysis and project updates.</a:t>
            </a:r>
          </a:p>
          <a:p>
            <a:pPr>
              <a:spcAft>
                <a:spcPts val="500"/>
              </a:spcAft>
              <a:defRPr sz="1250">
                <a:solidFill>
                  <a:srgbClr val="141414"/>
                </a:solidFill>
                <a:latin typeface="Aptos"/>
              </a:defRPr>
            </a:pPr>
            <a:r>
              <a:rPr sz="2000" dirty="0"/>
              <a:t>• Commenting creates a community layer, with moderation planned before public release.</a:t>
            </a:r>
          </a:p>
          <a:p>
            <a:pPr>
              <a:spcAft>
                <a:spcPts val="500"/>
              </a:spcAft>
              <a:defRPr sz="1250">
                <a:solidFill>
                  <a:srgbClr val="141414"/>
                </a:solidFill>
                <a:latin typeface="Aptos"/>
              </a:defRPr>
            </a:pPr>
            <a:r>
              <a:rPr sz="2000" dirty="0"/>
              <a:t>• Future possibility: use verified user feedback as an additional qualitative signal, without treating comments as sensor measurements.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Progress Tracker</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640080" y="1325880"/>
            <a:ext cx="2194560" cy="502920"/>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 name="TextBox 5"/>
          <p:cNvSpPr txBox="1"/>
          <p:nvPr/>
        </p:nvSpPr>
        <p:spPr>
          <a:xfrm>
            <a:off x="676656" y="1380744"/>
            <a:ext cx="2121408" cy="292388"/>
          </a:xfrm>
          <a:prstGeom prst="rect">
            <a:avLst/>
          </a:prstGeom>
          <a:noFill/>
        </p:spPr>
        <p:txBody>
          <a:bodyPr wrap="square">
            <a:spAutoFit/>
          </a:bodyPr>
          <a:lstStyle/>
          <a:p>
            <a:pPr algn="l"/>
            <a:r>
              <a:rPr sz="1300" b="1">
                <a:solidFill>
                  <a:srgbClr val="141414"/>
                </a:solidFill>
                <a:latin typeface="Aptos"/>
              </a:rPr>
              <a:t>Workstream</a:t>
            </a:r>
          </a:p>
        </p:txBody>
      </p:sp>
      <p:sp>
        <p:nvSpPr>
          <p:cNvPr id="7" name="Rectangle 6"/>
          <p:cNvSpPr/>
          <p:nvPr/>
        </p:nvSpPr>
        <p:spPr>
          <a:xfrm>
            <a:off x="2834639" y="1325880"/>
            <a:ext cx="6309360" cy="502920"/>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TextBox 7"/>
          <p:cNvSpPr txBox="1"/>
          <p:nvPr/>
        </p:nvSpPr>
        <p:spPr>
          <a:xfrm>
            <a:off x="2871215" y="1380744"/>
            <a:ext cx="6236208" cy="292388"/>
          </a:xfrm>
          <a:prstGeom prst="rect">
            <a:avLst/>
          </a:prstGeom>
          <a:noFill/>
        </p:spPr>
        <p:txBody>
          <a:bodyPr wrap="square">
            <a:spAutoFit/>
          </a:bodyPr>
          <a:lstStyle/>
          <a:p>
            <a:pPr algn="l"/>
            <a:r>
              <a:rPr sz="1300" b="1">
                <a:solidFill>
                  <a:srgbClr val="141414"/>
                </a:solidFill>
                <a:latin typeface="Aptos"/>
              </a:rPr>
              <a:t>Current state</a:t>
            </a:r>
          </a:p>
        </p:txBody>
      </p:sp>
      <p:sp>
        <p:nvSpPr>
          <p:cNvPr id="9" name="Rectangle 8"/>
          <p:cNvSpPr/>
          <p:nvPr/>
        </p:nvSpPr>
        <p:spPr>
          <a:xfrm>
            <a:off x="9144000" y="1325880"/>
            <a:ext cx="2377440" cy="502920"/>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0" name="TextBox 9"/>
          <p:cNvSpPr txBox="1"/>
          <p:nvPr/>
        </p:nvSpPr>
        <p:spPr>
          <a:xfrm>
            <a:off x="9180576" y="1380744"/>
            <a:ext cx="2304288" cy="292388"/>
          </a:xfrm>
          <a:prstGeom prst="rect">
            <a:avLst/>
          </a:prstGeom>
          <a:noFill/>
        </p:spPr>
        <p:txBody>
          <a:bodyPr wrap="square">
            <a:spAutoFit/>
          </a:bodyPr>
          <a:lstStyle/>
          <a:p>
            <a:pPr algn="l"/>
            <a:r>
              <a:rPr sz="1300" b="1">
                <a:solidFill>
                  <a:srgbClr val="141414"/>
                </a:solidFill>
                <a:latin typeface="Aptos"/>
              </a:rPr>
              <a:t>Status</a:t>
            </a:r>
          </a:p>
        </p:txBody>
      </p:sp>
      <p:sp>
        <p:nvSpPr>
          <p:cNvPr id="11" name="Rectangle 10"/>
          <p:cNvSpPr/>
          <p:nvPr/>
        </p:nvSpPr>
        <p:spPr>
          <a:xfrm>
            <a:off x="640080" y="182880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2" name="TextBox 11"/>
          <p:cNvSpPr txBox="1"/>
          <p:nvPr/>
        </p:nvSpPr>
        <p:spPr>
          <a:xfrm>
            <a:off x="676656" y="1874519"/>
            <a:ext cx="2121408" cy="292388"/>
          </a:xfrm>
          <a:prstGeom prst="rect">
            <a:avLst/>
          </a:prstGeom>
          <a:noFill/>
        </p:spPr>
        <p:txBody>
          <a:bodyPr wrap="square">
            <a:spAutoFit/>
          </a:bodyPr>
          <a:lstStyle/>
          <a:p>
            <a:pPr algn="l"/>
            <a:r>
              <a:rPr sz="1300" b="0">
                <a:solidFill>
                  <a:srgbClr val="141414"/>
                </a:solidFill>
                <a:latin typeface="Aptos"/>
              </a:rPr>
              <a:t>Data acquisition</a:t>
            </a:r>
          </a:p>
        </p:txBody>
      </p:sp>
      <p:sp>
        <p:nvSpPr>
          <p:cNvPr id="13" name="Rectangle 12"/>
          <p:cNvSpPr/>
          <p:nvPr/>
        </p:nvSpPr>
        <p:spPr>
          <a:xfrm>
            <a:off x="2834639" y="182880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TextBox 13"/>
          <p:cNvSpPr txBox="1"/>
          <p:nvPr/>
        </p:nvSpPr>
        <p:spPr>
          <a:xfrm>
            <a:off x="2871215" y="1874519"/>
            <a:ext cx="6236208" cy="292388"/>
          </a:xfrm>
          <a:prstGeom prst="rect">
            <a:avLst/>
          </a:prstGeom>
          <a:noFill/>
        </p:spPr>
        <p:txBody>
          <a:bodyPr wrap="square">
            <a:spAutoFit/>
          </a:bodyPr>
          <a:lstStyle/>
          <a:p>
            <a:pPr algn="l"/>
            <a:r>
              <a:rPr sz="1300" b="0">
                <a:solidFill>
                  <a:srgbClr val="141414"/>
                </a:solidFill>
                <a:latin typeface="Aptos"/>
              </a:rPr>
              <a:t>60s scheduler, adapters, 6 PWS, backfill</a:t>
            </a:r>
          </a:p>
        </p:txBody>
      </p:sp>
      <p:sp>
        <p:nvSpPr>
          <p:cNvPr id="15" name="Rectangle 14"/>
          <p:cNvSpPr/>
          <p:nvPr/>
        </p:nvSpPr>
        <p:spPr>
          <a:xfrm>
            <a:off x="9144000" y="182880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6" name="TextBox 15"/>
          <p:cNvSpPr txBox="1"/>
          <p:nvPr/>
        </p:nvSpPr>
        <p:spPr>
          <a:xfrm>
            <a:off x="9180576" y="1874519"/>
            <a:ext cx="2304288" cy="292388"/>
          </a:xfrm>
          <a:prstGeom prst="rect">
            <a:avLst/>
          </a:prstGeom>
          <a:noFill/>
        </p:spPr>
        <p:txBody>
          <a:bodyPr wrap="square">
            <a:spAutoFit/>
          </a:bodyPr>
          <a:lstStyle/>
          <a:p>
            <a:pPr algn="l"/>
            <a:r>
              <a:rPr sz="1300" b="0">
                <a:solidFill>
                  <a:srgbClr val="141414"/>
                </a:solidFill>
                <a:latin typeface="Aptos"/>
              </a:rPr>
              <a:t>COMPLETED</a:t>
            </a:r>
          </a:p>
        </p:txBody>
      </p:sp>
      <p:sp>
        <p:nvSpPr>
          <p:cNvPr id="17" name="Rectangle 16"/>
          <p:cNvSpPr/>
          <p:nvPr/>
        </p:nvSpPr>
        <p:spPr>
          <a:xfrm>
            <a:off x="640080" y="233172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8" name="TextBox 17"/>
          <p:cNvSpPr txBox="1"/>
          <p:nvPr/>
        </p:nvSpPr>
        <p:spPr>
          <a:xfrm>
            <a:off x="676656" y="2377439"/>
            <a:ext cx="2121408" cy="292388"/>
          </a:xfrm>
          <a:prstGeom prst="rect">
            <a:avLst/>
          </a:prstGeom>
          <a:noFill/>
        </p:spPr>
        <p:txBody>
          <a:bodyPr wrap="square">
            <a:spAutoFit/>
          </a:bodyPr>
          <a:lstStyle/>
          <a:p>
            <a:pPr algn="l"/>
            <a:r>
              <a:rPr sz="1300" b="0">
                <a:solidFill>
                  <a:srgbClr val="141414"/>
                </a:solidFill>
                <a:latin typeface="Aptos"/>
              </a:rPr>
              <a:t>Database</a:t>
            </a:r>
          </a:p>
        </p:txBody>
      </p:sp>
      <p:sp>
        <p:nvSpPr>
          <p:cNvPr id="19" name="Rectangle 18"/>
          <p:cNvSpPr/>
          <p:nvPr/>
        </p:nvSpPr>
        <p:spPr>
          <a:xfrm>
            <a:off x="2834639" y="233172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0" name="TextBox 19"/>
          <p:cNvSpPr txBox="1"/>
          <p:nvPr/>
        </p:nvSpPr>
        <p:spPr>
          <a:xfrm>
            <a:off x="2871215" y="2377439"/>
            <a:ext cx="6236208" cy="292388"/>
          </a:xfrm>
          <a:prstGeom prst="rect">
            <a:avLst/>
          </a:prstGeom>
          <a:noFill/>
        </p:spPr>
        <p:txBody>
          <a:bodyPr wrap="square">
            <a:spAutoFit/>
          </a:bodyPr>
          <a:lstStyle/>
          <a:p>
            <a:pPr algn="l"/>
            <a:r>
              <a:rPr sz="1300" b="0">
                <a:solidFill>
                  <a:srgbClr val="141414"/>
                </a:solidFill>
                <a:latin typeface="Aptos"/>
              </a:rPr>
              <a:t>SQLite schema + deduplication + REST reads</a:t>
            </a:r>
          </a:p>
        </p:txBody>
      </p:sp>
      <p:sp>
        <p:nvSpPr>
          <p:cNvPr id="21" name="Rectangle 20"/>
          <p:cNvSpPr/>
          <p:nvPr/>
        </p:nvSpPr>
        <p:spPr>
          <a:xfrm>
            <a:off x="9144000" y="233172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2" name="TextBox 21"/>
          <p:cNvSpPr txBox="1"/>
          <p:nvPr/>
        </p:nvSpPr>
        <p:spPr>
          <a:xfrm>
            <a:off x="9180576" y="2377439"/>
            <a:ext cx="2304288" cy="292388"/>
          </a:xfrm>
          <a:prstGeom prst="rect">
            <a:avLst/>
          </a:prstGeom>
          <a:noFill/>
        </p:spPr>
        <p:txBody>
          <a:bodyPr wrap="square">
            <a:spAutoFit/>
          </a:bodyPr>
          <a:lstStyle/>
          <a:p>
            <a:pPr algn="l"/>
            <a:r>
              <a:rPr sz="1300" b="0">
                <a:solidFill>
                  <a:srgbClr val="141414"/>
                </a:solidFill>
                <a:latin typeface="Aptos"/>
              </a:rPr>
              <a:t>COMPLETED</a:t>
            </a:r>
          </a:p>
        </p:txBody>
      </p:sp>
      <p:sp>
        <p:nvSpPr>
          <p:cNvPr id="23" name="Rectangle 22"/>
          <p:cNvSpPr/>
          <p:nvPr/>
        </p:nvSpPr>
        <p:spPr>
          <a:xfrm>
            <a:off x="640080" y="283464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4" name="TextBox 23"/>
          <p:cNvSpPr txBox="1"/>
          <p:nvPr/>
        </p:nvSpPr>
        <p:spPr>
          <a:xfrm>
            <a:off x="676656" y="2880360"/>
            <a:ext cx="2121408" cy="292388"/>
          </a:xfrm>
          <a:prstGeom prst="rect">
            <a:avLst/>
          </a:prstGeom>
          <a:noFill/>
        </p:spPr>
        <p:txBody>
          <a:bodyPr wrap="square">
            <a:spAutoFit/>
          </a:bodyPr>
          <a:lstStyle/>
          <a:p>
            <a:pPr algn="l"/>
            <a:r>
              <a:rPr sz="1300" b="0">
                <a:solidFill>
                  <a:srgbClr val="141414"/>
                </a:solidFill>
                <a:latin typeface="Aptos"/>
              </a:rPr>
              <a:t>Feature engineering</a:t>
            </a:r>
          </a:p>
        </p:txBody>
      </p:sp>
      <p:sp>
        <p:nvSpPr>
          <p:cNvPr id="25" name="Rectangle 24"/>
          <p:cNvSpPr/>
          <p:nvPr/>
        </p:nvSpPr>
        <p:spPr>
          <a:xfrm>
            <a:off x="2834639" y="283464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6" name="TextBox 25"/>
          <p:cNvSpPr txBox="1"/>
          <p:nvPr/>
        </p:nvSpPr>
        <p:spPr>
          <a:xfrm>
            <a:off x="2871215" y="2880360"/>
            <a:ext cx="6236208" cy="292388"/>
          </a:xfrm>
          <a:prstGeom prst="rect">
            <a:avLst/>
          </a:prstGeom>
          <a:noFill/>
        </p:spPr>
        <p:txBody>
          <a:bodyPr wrap="square">
            <a:spAutoFit/>
          </a:bodyPr>
          <a:lstStyle/>
          <a:p>
            <a:pPr algn="l"/>
            <a:r>
              <a:rPr sz="1300" b="0">
                <a:solidFill>
                  <a:srgbClr val="141414"/>
                </a:solidFill>
                <a:latin typeface="Aptos"/>
              </a:rPr>
              <a:t>3 core features + pipeline file</a:t>
            </a:r>
          </a:p>
        </p:txBody>
      </p:sp>
      <p:sp>
        <p:nvSpPr>
          <p:cNvPr id="27" name="Rectangle 26"/>
          <p:cNvSpPr/>
          <p:nvPr/>
        </p:nvSpPr>
        <p:spPr>
          <a:xfrm>
            <a:off x="9144000" y="283464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8" name="TextBox 27"/>
          <p:cNvSpPr txBox="1"/>
          <p:nvPr/>
        </p:nvSpPr>
        <p:spPr>
          <a:xfrm>
            <a:off x="9180576" y="2880360"/>
            <a:ext cx="2304288" cy="292388"/>
          </a:xfrm>
          <a:prstGeom prst="rect">
            <a:avLst/>
          </a:prstGeom>
          <a:noFill/>
        </p:spPr>
        <p:txBody>
          <a:bodyPr wrap="square">
            <a:spAutoFit/>
          </a:bodyPr>
          <a:lstStyle/>
          <a:p>
            <a:pPr algn="l"/>
            <a:r>
              <a:rPr sz="1300" b="0">
                <a:solidFill>
                  <a:srgbClr val="141414"/>
                </a:solidFill>
                <a:latin typeface="Aptos"/>
              </a:rPr>
              <a:t>COMPLETED</a:t>
            </a:r>
          </a:p>
        </p:txBody>
      </p:sp>
      <p:sp>
        <p:nvSpPr>
          <p:cNvPr id="29" name="Rectangle 28"/>
          <p:cNvSpPr/>
          <p:nvPr/>
        </p:nvSpPr>
        <p:spPr>
          <a:xfrm>
            <a:off x="640080" y="333756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0" name="TextBox 29"/>
          <p:cNvSpPr txBox="1"/>
          <p:nvPr/>
        </p:nvSpPr>
        <p:spPr>
          <a:xfrm>
            <a:off x="676656" y="3383280"/>
            <a:ext cx="2121408" cy="292388"/>
          </a:xfrm>
          <a:prstGeom prst="rect">
            <a:avLst/>
          </a:prstGeom>
          <a:noFill/>
        </p:spPr>
        <p:txBody>
          <a:bodyPr wrap="square">
            <a:spAutoFit/>
          </a:bodyPr>
          <a:lstStyle/>
          <a:p>
            <a:pPr algn="l"/>
            <a:r>
              <a:rPr sz="1300" b="0">
                <a:solidFill>
                  <a:srgbClr val="141414"/>
                </a:solidFill>
                <a:latin typeface="Aptos"/>
              </a:rPr>
              <a:t>Frontend dashboard</a:t>
            </a:r>
          </a:p>
        </p:txBody>
      </p:sp>
      <p:sp>
        <p:nvSpPr>
          <p:cNvPr id="31" name="Rectangle 30"/>
          <p:cNvSpPr/>
          <p:nvPr/>
        </p:nvSpPr>
        <p:spPr>
          <a:xfrm>
            <a:off x="2834639" y="333756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2" name="TextBox 31"/>
          <p:cNvSpPr txBox="1"/>
          <p:nvPr/>
        </p:nvSpPr>
        <p:spPr>
          <a:xfrm>
            <a:off x="2871215" y="3383280"/>
            <a:ext cx="6236208" cy="292388"/>
          </a:xfrm>
          <a:prstGeom prst="rect">
            <a:avLst/>
          </a:prstGeom>
          <a:noFill/>
        </p:spPr>
        <p:txBody>
          <a:bodyPr wrap="square">
            <a:spAutoFit/>
          </a:bodyPr>
          <a:lstStyle/>
          <a:p>
            <a:pPr algn="l"/>
            <a:r>
              <a:rPr sz="1300" b="0">
                <a:solidFill>
                  <a:srgbClr val="141414"/>
                </a:solidFill>
                <a:latin typeface="Aptos"/>
              </a:rPr>
              <a:t>Cards, charts, filters, 30s refresh</a:t>
            </a:r>
          </a:p>
        </p:txBody>
      </p:sp>
      <p:sp>
        <p:nvSpPr>
          <p:cNvPr id="33" name="Rectangle 32"/>
          <p:cNvSpPr/>
          <p:nvPr/>
        </p:nvSpPr>
        <p:spPr>
          <a:xfrm>
            <a:off x="9144000" y="333756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4" name="TextBox 33"/>
          <p:cNvSpPr txBox="1"/>
          <p:nvPr/>
        </p:nvSpPr>
        <p:spPr>
          <a:xfrm>
            <a:off x="9180576" y="3383280"/>
            <a:ext cx="2304288" cy="292388"/>
          </a:xfrm>
          <a:prstGeom prst="rect">
            <a:avLst/>
          </a:prstGeom>
          <a:noFill/>
        </p:spPr>
        <p:txBody>
          <a:bodyPr wrap="square">
            <a:spAutoFit/>
          </a:bodyPr>
          <a:lstStyle/>
          <a:p>
            <a:pPr algn="l"/>
            <a:r>
              <a:rPr sz="1300" b="0">
                <a:solidFill>
                  <a:srgbClr val="141414"/>
                </a:solidFill>
                <a:latin typeface="Aptos"/>
              </a:rPr>
              <a:t>COMPLETED</a:t>
            </a:r>
          </a:p>
        </p:txBody>
      </p:sp>
      <p:sp>
        <p:nvSpPr>
          <p:cNvPr id="35" name="Rectangle 34"/>
          <p:cNvSpPr/>
          <p:nvPr/>
        </p:nvSpPr>
        <p:spPr>
          <a:xfrm>
            <a:off x="640080" y="384048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6" name="TextBox 35"/>
          <p:cNvSpPr txBox="1"/>
          <p:nvPr/>
        </p:nvSpPr>
        <p:spPr>
          <a:xfrm>
            <a:off x="676656" y="3886200"/>
            <a:ext cx="2121408" cy="292388"/>
          </a:xfrm>
          <a:prstGeom prst="rect">
            <a:avLst/>
          </a:prstGeom>
          <a:noFill/>
        </p:spPr>
        <p:txBody>
          <a:bodyPr wrap="square">
            <a:spAutoFit/>
          </a:bodyPr>
          <a:lstStyle/>
          <a:p>
            <a:pPr algn="l"/>
            <a:r>
              <a:rPr sz="1300" b="0">
                <a:solidFill>
                  <a:srgbClr val="141414"/>
                </a:solidFill>
                <a:latin typeface="Aptos"/>
              </a:rPr>
              <a:t>ML baselines</a:t>
            </a:r>
          </a:p>
        </p:txBody>
      </p:sp>
      <p:sp>
        <p:nvSpPr>
          <p:cNvPr id="37" name="Rectangle 36"/>
          <p:cNvSpPr/>
          <p:nvPr/>
        </p:nvSpPr>
        <p:spPr>
          <a:xfrm>
            <a:off x="2834639" y="384048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8" name="TextBox 37"/>
          <p:cNvSpPr txBox="1"/>
          <p:nvPr/>
        </p:nvSpPr>
        <p:spPr>
          <a:xfrm>
            <a:off x="2871215" y="3886200"/>
            <a:ext cx="6236208" cy="292388"/>
          </a:xfrm>
          <a:prstGeom prst="rect">
            <a:avLst/>
          </a:prstGeom>
          <a:noFill/>
        </p:spPr>
        <p:txBody>
          <a:bodyPr wrap="square">
            <a:spAutoFit/>
          </a:bodyPr>
          <a:lstStyle/>
          <a:p>
            <a:pPr algn="l"/>
            <a:r>
              <a:rPr sz="1300" b="0">
                <a:solidFill>
                  <a:srgbClr val="141414"/>
                </a:solidFill>
                <a:latin typeface="Aptos"/>
              </a:rPr>
              <a:t>RF / XGBoost training + evaluation</a:t>
            </a:r>
          </a:p>
        </p:txBody>
      </p:sp>
      <p:sp>
        <p:nvSpPr>
          <p:cNvPr id="39" name="Rectangle 38"/>
          <p:cNvSpPr/>
          <p:nvPr/>
        </p:nvSpPr>
        <p:spPr>
          <a:xfrm>
            <a:off x="9144000" y="384048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0" name="TextBox 39"/>
          <p:cNvSpPr txBox="1"/>
          <p:nvPr/>
        </p:nvSpPr>
        <p:spPr>
          <a:xfrm>
            <a:off x="9180576" y="3886200"/>
            <a:ext cx="2304288" cy="292388"/>
          </a:xfrm>
          <a:prstGeom prst="rect">
            <a:avLst/>
          </a:prstGeom>
          <a:noFill/>
        </p:spPr>
        <p:txBody>
          <a:bodyPr wrap="square">
            <a:spAutoFit/>
          </a:bodyPr>
          <a:lstStyle/>
          <a:p>
            <a:pPr algn="l"/>
            <a:r>
              <a:rPr sz="1300" b="0">
                <a:solidFill>
                  <a:srgbClr val="141414"/>
                </a:solidFill>
                <a:latin typeface="Aptos"/>
              </a:rPr>
              <a:t>PLANNED</a:t>
            </a:r>
          </a:p>
        </p:txBody>
      </p:sp>
      <p:sp>
        <p:nvSpPr>
          <p:cNvPr id="41" name="Rectangle 40"/>
          <p:cNvSpPr/>
          <p:nvPr/>
        </p:nvSpPr>
        <p:spPr>
          <a:xfrm>
            <a:off x="640080" y="434340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2" name="TextBox 41"/>
          <p:cNvSpPr txBox="1"/>
          <p:nvPr/>
        </p:nvSpPr>
        <p:spPr>
          <a:xfrm>
            <a:off x="676656" y="4389120"/>
            <a:ext cx="2121408" cy="292388"/>
          </a:xfrm>
          <a:prstGeom prst="rect">
            <a:avLst/>
          </a:prstGeom>
          <a:noFill/>
        </p:spPr>
        <p:txBody>
          <a:bodyPr wrap="square">
            <a:spAutoFit/>
          </a:bodyPr>
          <a:lstStyle/>
          <a:p>
            <a:pPr algn="l"/>
            <a:r>
              <a:rPr sz="1300" b="0">
                <a:solidFill>
                  <a:srgbClr val="141414"/>
                </a:solidFill>
                <a:latin typeface="Aptos"/>
              </a:rPr>
              <a:t>Deep learning</a:t>
            </a:r>
          </a:p>
        </p:txBody>
      </p:sp>
      <p:sp>
        <p:nvSpPr>
          <p:cNvPr id="43" name="Rectangle 42"/>
          <p:cNvSpPr/>
          <p:nvPr/>
        </p:nvSpPr>
        <p:spPr>
          <a:xfrm>
            <a:off x="2834639" y="434340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4" name="TextBox 43"/>
          <p:cNvSpPr txBox="1"/>
          <p:nvPr/>
        </p:nvSpPr>
        <p:spPr>
          <a:xfrm>
            <a:off x="2871215" y="4389120"/>
            <a:ext cx="6236208" cy="292388"/>
          </a:xfrm>
          <a:prstGeom prst="rect">
            <a:avLst/>
          </a:prstGeom>
          <a:noFill/>
        </p:spPr>
        <p:txBody>
          <a:bodyPr wrap="square">
            <a:spAutoFit/>
          </a:bodyPr>
          <a:lstStyle/>
          <a:p>
            <a:pPr algn="l"/>
            <a:r>
              <a:rPr sz="1300" b="0">
                <a:solidFill>
                  <a:srgbClr val="141414"/>
                </a:solidFill>
                <a:latin typeface="Aptos"/>
              </a:rPr>
              <a:t>LSTM / CNN/GNN-LSTM</a:t>
            </a:r>
          </a:p>
        </p:txBody>
      </p:sp>
      <p:sp>
        <p:nvSpPr>
          <p:cNvPr id="45" name="Rectangle 44"/>
          <p:cNvSpPr/>
          <p:nvPr/>
        </p:nvSpPr>
        <p:spPr>
          <a:xfrm>
            <a:off x="9144000" y="434340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6" name="TextBox 45"/>
          <p:cNvSpPr txBox="1"/>
          <p:nvPr/>
        </p:nvSpPr>
        <p:spPr>
          <a:xfrm>
            <a:off x="9180576" y="4389120"/>
            <a:ext cx="2304288" cy="292388"/>
          </a:xfrm>
          <a:prstGeom prst="rect">
            <a:avLst/>
          </a:prstGeom>
          <a:noFill/>
        </p:spPr>
        <p:txBody>
          <a:bodyPr wrap="square">
            <a:spAutoFit/>
          </a:bodyPr>
          <a:lstStyle/>
          <a:p>
            <a:pPr algn="l"/>
            <a:r>
              <a:rPr sz="1300" b="0">
                <a:solidFill>
                  <a:srgbClr val="141414"/>
                </a:solidFill>
                <a:latin typeface="Aptos"/>
              </a:rPr>
              <a:t>PLANNED</a:t>
            </a:r>
          </a:p>
        </p:txBody>
      </p:sp>
      <p:sp>
        <p:nvSpPr>
          <p:cNvPr id="47" name="Rectangle 46"/>
          <p:cNvSpPr/>
          <p:nvPr/>
        </p:nvSpPr>
        <p:spPr>
          <a:xfrm>
            <a:off x="640080" y="484632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8" name="TextBox 47"/>
          <p:cNvSpPr txBox="1"/>
          <p:nvPr/>
        </p:nvSpPr>
        <p:spPr>
          <a:xfrm>
            <a:off x="676656" y="4892040"/>
            <a:ext cx="2121408" cy="292388"/>
          </a:xfrm>
          <a:prstGeom prst="rect">
            <a:avLst/>
          </a:prstGeom>
          <a:noFill/>
        </p:spPr>
        <p:txBody>
          <a:bodyPr wrap="square">
            <a:spAutoFit/>
          </a:bodyPr>
          <a:lstStyle/>
          <a:p>
            <a:pPr algn="l"/>
            <a:r>
              <a:rPr sz="1300" b="0">
                <a:solidFill>
                  <a:srgbClr val="141414"/>
                </a:solidFill>
                <a:latin typeface="Aptos"/>
              </a:rPr>
              <a:t>ECMWF NWP</a:t>
            </a:r>
          </a:p>
        </p:txBody>
      </p:sp>
      <p:sp>
        <p:nvSpPr>
          <p:cNvPr id="49" name="Rectangle 48"/>
          <p:cNvSpPr/>
          <p:nvPr/>
        </p:nvSpPr>
        <p:spPr>
          <a:xfrm>
            <a:off x="2834639" y="484632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0" name="TextBox 49"/>
          <p:cNvSpPr txBox="1"/>
          <p:nvPr/>
        </p:nvSpPr>
        <p:spPr>
          <a:xfrm>
            <a:off x="2871215" y="4892040"/>
            <a:ext cx="6236208" cy="292388"/>
          </a:xfrm>
          <a:prstGeom prst="rect">
            <a:avLst/>
          </a:prstGeom>
          <a:noFill/>
        </p:spPr>
        <p:txBody>
          <a:bodyPr wrap="square">
            <a:spAutoFit/>
          </a:bodyPr>
          <a:lstStyle/>
          <a:p>
            <a:pPr algn="l"/>
            <a:r>
              <a:rPr sz="1300" b="0">
                <a:solidFill>
                  <a:srgbClr val="141414"/>
                </a:solidFill>
                <a:latin typeface="Aptos"/>
              </a:rPr>
              <a:t>GRIB2 → GeoTIFF → Leaflet</a:t>
            </a:r>
          </a:p>
        </p:txBody>
      </p:sp>
      <p:sp>
        <p:nvSpPr>
          <p:cNvPr id="51" name="Rectangle 50"/>
          <p:cNvSpPr/>
          <p:nvPr/>
        </p:nvSpPr>
        <p:spPr>
          <a:xfrm>
            <a:off x="9144000" y="484632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2" name="TextBox 51"/>
          <p:cNvSpPr txBox="1"/>
          <p:nvPr/>
        </p:nvSpPr>
        <p:spPr>
          <a:xfrm>
            <a:off x="9180576" y="4892040"/>
            <a:ext cx="2304288" cy="292388"/>
          </a:xfrm>
          <a:prstGeom prst="rect">
            <a:avLst/>
          </a:prstGeom>
          <a:noFill/>
        </p:spPr>
        <p:txBody>
          <a:bodyPr wrap="square">
            <a:spAutoFit/>
          </a:bodyPr>
          <a:lstStyle/>
          <a:p>
            <a:pPr algn="l"/>
            <a:r>
              <a:rPr sz="1300" b="0">
                <a:solidFill>
                  <a:srgbClr val="141414"/>
                </a:solidFill>
                <a:latin typeface="Aptos"/>
              </a:rPr>
              <a:t>PLANNED</a:t>
            </a:r>
          </a:p>
        </p:txBody>
      </p:sp>
      <p:sp>
        <p:nvSpPr>
          <p:cNvPr id="53" name="Rectangle 52"/>
          <p:cNvSpPr/>
          <p:nvPr/>
        </p:nvSpPr>
        <p:spPr>
          <a:xfrm>
            <a:off x="640080" y="534924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4" name="TextBox 53"/>
          <p:cNvSpPr txBox="1"/>
          <p:nvPr/>
        </p:nvSpPr>
        <p:spPr>
          <a:xfrm>
            <a:off x="676656" y="5394960"/>
            <a:ext cx="2121408" cy="292388"/>
          </a:xfrm>
          <a:prstGeom prst="rect">
            <a:avLst/>
          </a:prstGeom>
          <a:noFill/>
        </p:spPr>
        <p:txBody>
          <a:bodyPr wrap="square">
            <a:spAutoFit/>
          </a:bodyPr>
          <a:lstStyle/>
          <a:p>
            <a:pPr algn="l"/>
            <a:r>
              <a:rPr sz="1300" b="0">
                <a:solidFill>
                  <a:srgbClr val="141414"/>
                </a:solidFill>
                <a:latin typeface="Aptos"/>
              </a:rPr>
              <a:t>Auth / Blog / Community</a:t>
            </a:r>
          </a:p>
        </p:txBody>
      </p:sp>
      <p:sp>
        <p:nvSpPr>
          <p:cNvPr id="55" name="Rectangle 54"/>
          <p:cNvSpPr/>
          <p:nvPr/>
        </p:nvSpPr>
        <p:spPr>
          <a:xfrm>
            <a:off x="2834639" y="534924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6" name="TextBox 55"/>
          <p:cNvSpPr txBox="1"/>
          <p:nvPr/>
        </p:nvSpPr>
        <p:spPr>
          <a:xfrm>
            <a:off x="2871215" y="5394960"/>
            <a:ext cx="6236208" cy="292388"/>
          </a:xfrm>
          <a:prstGeom prst="rect">
            <a:avLst/>
          </a:prstGeom>
          <a:noFill/>
        </p:spPr>
        <p:txBody>
          <a:bodyPr wrap="square">
            <a:spAutoFit/>
          </a:bodyPr>
          <a:lstStyle/>
          <a:p>
            <a:pPr algn="l"/>
            <a:r>
              <a:rPr sz="1300" b="0">
                <a:solidFill>
                  <a:srgbClr val="141414"/>
                </a:solidFill>
                <a:latin typeface="Aptos"/>
              </a:rPr>
              <a:t>OAuth + CMS + comments</a:t>
            </a:r>
          </a:p>
        </p:txBody>
      </p:sp>
      <p:sp>
        <p:nvSpPr>
          <p:cNvPr id="57" name="Rectangle 56"/>
          <p:cNvSpPr/>
          <p:nvPr/>
        </p:nvSpPr>
        <p:spPr>
          <a:xfrm>
            <a:off x="9144000" y="534924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8" name="TextBox 57"/>
          <p:cNvSpPr txBox="1"/>
          <p:nvPr/>
        </p:nvSpPr>
        <p:spPr>
          <a:xfrm>
            <a:off x="9180576" y="5394960"/>
            <a:ext cx="2304288" cy="292388"/>
          </a:xfrm>
          <a:prstGeom prst="rect">
            <a:avLst/>
          </a:prstGeom>
          <a:noFill/>
        </p:spPr>
        <p:txBody>
          <a:bodyPr wrap="square">
            <a:spAutoFit/>
          </a:bodyPr>
          <a:lstStyle/>
          <a:p>
            <a:pPr algn="l"/>
            <a:r>
              <a:rPr sz="1300" b="0">
                <a:solidFill>
                  <a:srgbClr val="141414"/>
                </a:solidFill>
                <a:latin typeface="Aptos"/>
              </a:rPr>
              <a:t>PLANNED</a:t>
            </a:r>
          </a:p>
        </p:txBody>
      </p:sp>
      <p:sp>
        <p:nvSpPr>
          <p:cNvPr id="59" name="Rectangle 58"/>
          <p:cNvSpPr/>
          <p:nvPr/>
        </p:nvSpPr>
        <p:spPr>
          <a:xfrm>
            <a:off x="640080" y="5852160"/>
            <a:ext cx="21945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0" name="TextBox 59"/>
          <p:cNvSpPr txBox="1"/>
          <p:nvPr/>
        </p:nvSpPr>
        <p:spPr>
          <a:xfrm>
            <a:off x="676656" y="5897880"/>
            <a:ext cx="2121408" cy="292388"/>
          </a:xfrm>
          <a:prstGeom prst="rect">
            <a:avLst/>
          </a:prstGeom>
          <a:noFill/>
        </p:spPr>
        <p:txBody>
          <a:bodyPr wrap="square">
            <a:spAutoFit/>
          </a:bodyPr>
          <a:lstStyle/>
          <a:p>
            <a:pPr algn="l"/>
            <a:r>
              <a:rPr sz="1300" b="0">
                <a:solidFill>
                  <a:srgbClr val="141414"/>
                </a:solidFill>
                <a:latin typeface="Aptos"/>
              </a:rPr>
              <a:t>Production deployment</a:t>
            </a:r>
          </a:p>
        </p:txBody>
      </p:sp>
      <p:sp>
        <p:nvSpPr>
          <p:cNvPr id="61" name="Rectangle 60"/>
          <p:cNvSpPr/>
          <p:nvPr/>
        </p:nvSpPr>
        <p:spPr>
          <a:xfrm>
            <a:off x="2834639" y="5852160"/>
            <a:ext cx="630936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2" name="TextBox 61"/>
          <p:cNvSpPr txBox="1"/>
          <p:nvPr/>
        </p:nvSpPr>
        <p:spPr>
          <a:xfrm>
            <a:off x="2871215" y="5897880"/>
            <a:ext cx="6236208" cy="292388"/>
          </a:xfrm>
          <a:prstGeom prst="rect">
            <a:avLst/>
          </a:prstGeom>
          <a:noFill/>
        </p:spPr>
        <p:txBody>
          <a:bodyPr wrap="square">
            <a:spAutoFit/>
          </a:bodyPr>
          <a:lstStyle/>
          <a:p>
            <a:pPr algn="l"/>
            <a:r>
              <a:rPr sz="1300" b="0">
                <a:solidFill>
                  <a:srgbClr val="141414"/>
                </a:solidFill>
                <a:latin typeface="Aptos"/>
              </a:rPr>
              <a:t>Docker + cloud CI/CD</a:t>
            </a:r>
          </a:p>
        </p:txBody>
      </p:sp>
      <p:sp>
        <p:nvSpPr>
          <p:cNvPr id="63" name="Rectangle 62"/>
          <p:cNvSpPr/>
          <p:nvPr/>
        </p:nvSpPr>
        <p:spPr>
          <a:xfrm>
            <a:off x="9144000" y="5852160"/>
            <a:ext cx="2377440" cy="502920"/>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4" name="TextBox 63"/>
          <p:cNvSpPr txBox="1"/>
          <p:nvPr/>
        </p:nvSpPr>
        <p:spPr>
          <a:xfrm>
            <a:off x="9180576" y="5897880"/>
            <a:ext cx="2304288" cy="292388"/>
          </a:xfrm>
          <a:prstGeom prst="rect">
            <a:avLst/>
          </a:prstGeom>
          <a:noFill/>
        </p:spPr>
        <p:txBody>
          <a:bodyPr wrap="square">
            <a:spAutoFit/>
          </a:bodyPr>
          <a:lstStyle/>
          <a:p>
            <a:pPr algn="l"/>
            <a:r>
              <a:rPr sz="1300" b="0">
                <a:solidFill>
                  <a:srgbClr val="141414"/>
                </a:solidFill>
                <a:latin typeface="Aptos"/>
              </a:rPr>
              <a:t>PLANNED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Literature Survey – Part 1</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 name="Rectangle 4"/>
          <p:cNvSpPr/>
          <p:nvPr/>
        </p:nvSpPr>
        <p:spPr>
          <a:xfrm>
            <a:off x="320040" y="1280160"/>
            <a:ext cx="201168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 name="TextBox 5"/>
          <p:cNvSpPr txBox="1"/>
          <p:nvPr/>
        </p:nvSpPr>
        <p:spPr>
          <a:xfrm>
            <a:off x="356615" y="1335024"/>
            <a:ext cx="1938528" cy="261610"/>
          </a:xfrm>
          <a:prstGeom prst="rect">
            <a:avLst/>
          </a:prstGeom>
          <a:noFill/>
        </p:spPr>
        <p:txBody>
          <a:bodyPr wrap="square">
            <a:spAutoFit/>
          </a:bodyPr>
          <a:lstStyle/>
          <a:p>
            <a:pPr algn="l"/>
            <a:r>
              <a:rPr sz="1100" b="1">
                <a:solidFill>
                  <a:srgbClr val="141414"/>
                </a:solidFill>
                <a:latin typeface="Aptos"/>
              </a:rPr>
              <a:t>Paper</a:t>
            </a:r>
          </a:p>
        </p:txBody>
      </p:sp>
      <p:sp>
        <p:nvSpPr>
          <p:cNvPr id="7" name="Rectangle 6"/>
          <p:cNvSpPr/>
          <p:nvPr/>
        </p:nvSpPr>
        <p:spPr>
          <a:xfrm>
            <a:off x="2331720" y="1280160"/>
            <a:ext cx="123444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8" name="TextBox 7"/>
          <p:cNvSpPr txBox="1"/>
          <p:nvPr/>
        </p:nvSpPr>
        <p:spPr>
          <a:xfrm>
            <a:off x="2368296" y="1335024"/>
            <a:ext cx="1161288" cy="261610"/>
          </a:xfrm>
          <a:prstGeom prst="rect">
            <a:avLst/>
          </a:prstGeom>
          <a:noFill/>
        </p:spPr>
        <p:txBody>
          <a:bodyPr wrap="square">
            <a:spAutoFit/>
          </a:bodyPr>
          <a:lstStyle/>
          <a:p>
            <a:pPr algn="l"/>
            <a:r>
              <a:rPr sz="1100" b="1">
                <a:solidFill>
                  <a:srgbClr val="141414"/>
                </a:solidFill>
                <a:latin typeface="Aptos"/>
              </a:rPr>
              <a:t>Authors</a:t>
            </a:r>
          </a:p>
        </p:txBody>
      </p:sp>
      <p:sp>
        <p:nvSpPr>
          <p:cNvPr id="9" name="Rectangle 8"/>
          <p:cNvSpPr/>
          <p:nvPr/>
        </p:nvSpPr>
        <p:spPr>
          <a:xfrm>
            <a:off x="3566160" y="1280160"/>
            <a:ext cx="54864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0" name="TextBox 9"/>
          <p:cNvSpPr txBox="1"/>
          <p:nvPr/>
        </p:nvSpPr>
        <p:spPr>
          <a:xfrm>
            <a:off x="3602736" y="1335024"/>
            <a:ext cx="548640" cy="230832"/>
          </a:xfrm>
          <a:prstGeom prst="rect">
            <a:avLst/>
          </a:prstGeom>
          <a:noFill/>
        </p:spPr>
        <p:txBody>
          <a:bodyPr wrap="square">
            <a:spAutoFit/>
          </a:bodyPr>
          <a:lstStyle/>
          <a:p>
            <a:pPr algn="l"/>
            <a:r>
              <a:rPr sz="900" b="1" dirty="0">
                <a:solidFill>
                  <a:srgbClr val="141414"/>
                </a:solidFill>
                <a:latin typeface="Aptos"/>
              </a:rPr>
              <a:t>Year</a:t>
            </a:r>
          </a:p>
        </p:txBody>
      </p:sp>
      <p:sp>
        <p:nvSpPr>
          <p:cNvPr id="11" name="Rectangle 10"/>
          <p:cNvSpPr/>
          <p:nvPr/>
        </p:nvSpPr>
        <p:spPr>
          <a:xfrm>
            <a:off x="4114800" y="1280160"/>
            <a:ext cx="141732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2" name="TextBox 11"/>
          <p:cNvSpPr txBox="1"/>
          <p:nvPr/>
        </p:nvSpPr>
        <p:spPr>
          <a:xfrm>
            <a:off x="4151376" y="1335024"/>
            <a:ext cx="1344168" cy="261610"/>
          </a:xfrm>
          <a:prstGeom prst="rect">
            <a:avLst/>
          </a:prstGeom>
          <a:noFill/>
        </p:spPr>
        <p:txBody>
          <a:bodyPr wrap="square">
            <a:spAutoFit/>
          </a:bodyPr>
          <a:lstStyle/>
          <a:p>
            <a:pPr algn="l"/>
            <a:r>
              <a:rPr sz="1100" b="1">
                <a:solidFill>
                  <a:srgbClr val="141414"/>
                </a:solidFill>
                <a:latin typeface="Aptos"/>
              </a:rPr>
              <a:t>Method</a:t>
            </a:r>
          </a:p>
        </p:txBody>
      </p:sp>
      <p:sp>
        <p:nvSpPr>
          <p:cNvPr id="13" name="Rectangle 12"/>
          <p:cNvSpPr/>
          <p:nvPr/>
        </p:nvSpPr>
        <p:spPr>
          <a:xfrm>
            <a:off x="5532120" y="1280160"/>
            <a:ext cx="274320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4" name="TextBox 13"/>
          <p:cNvSpPr txBox="1"/>
          <p:nvPr/>
        </p:nvSpPr>
        <p:spPr>
          <a:xfrm>
            <a:off x="5568696" y="1335024"/>
            <a:ext cx="2670048" cy="261610"/>
          </a:xfrm>
          <a:prstGeom prst="rect">
            <a:avLst/>
          </a:prstGeom>
          <a:noFill/>
        </p:spPr>
        <p:txBody>
          <a:bodyPr wrap="square">
            <a:spAutoFit/>
          </a:bodyPr>
          <a:lstStyle/>
          <a:p>
            <a:pPr algn="l"/>
            <a:r>
              <a:rPr sz="1100" b="1">
                <a:solidFill>
                  <a:srgbClr val="141414"/>
                </a:solidFill>
                <a:latin typeface="Aptos"/>
              </a:rPr>
              <a:t>Key Result</a:t>
            </a:r>
          </a:p>
        </p:txBody>
      </p:sp>
      <p:sp>
        <p:nvSpPr>
          <p:cNvPr id="15" name="Rectangle 14"/>
          <p:cNvSpPr/>
          <p:nvPr/>
        </p:nvSpPr>
        <p:spPr>
          <a:xfrm>
            <a:off x="8275320" y="1280160"/>
            <a:ext cx="361188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6" name="TextBox 15"/>
          <p:cNvSpPr txBox="1"/>
          <p:nvPr/>
        </p:nvSpPr>
        <p:spPr>
          <a:xfrm>
            <a:off x="8311896" y="1335024"/>
            <a:ext cx="3538728" cy="261610"/>
          </a:xfrm>
          <a:prstGeom prst="rect">
            <a:avLst/>
          </a:prstGeom>
          <a:noFill/>
        </p:spPr>
        <p:txBody>
          <a:bodyPr wrap="square">
            <a:spAutoFit/>
          </a:bodyPr>
          <a:lstStyle/>
          <a:p>
            <a:pPr algn="l"/>
            <a:r>
              <a:rPr sz="1100" b="1">
                <a:solidFill>
                  <a:srgbClr val="141414"/>
                </a:solidFill>
                <a:latin typeface="Aptos"/>
              </a:rPr>
              <a:t>Gap for Project</a:t>
            </a:r>
          </a:p>
        </p:txBody>
      </p:sp>
      <p:sp>
        <p:nvSpPr>
          <p:cNvPr id="17" name="Rectangle 16"/>
          <p:cNvSpPr/>
          <p:nvPr/>
        </p:nvSpPr>
        <p:spPr>
          <a:xfrm>
            <a:off x="320040" y="2029967"/>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8" name="TextBox 17"/>
          <p:cNvSpPr txBox="1"/>
          <p:nvPr/>
        </p:nvSpPr>
        <p:spPr>
          <a:xfrm>
            <a:off x="356615" y="2075687"/>
            <a:ext cx="1938528" cy="261610"/>
          </a:xfrm>
          <a:prstGeom prst="rect">
            <a:avLst/>
          </a:prstGeom>
          <a:noFill/>
        </p:spPr>
        <p:txBody>
          <a:bodyPr wrap="square">
            <a:spAutoFit/>
          </a:bodyPr>
          <a:lstStyle/>
          <a:p>
            <a:pPr algn="l"/>
            <a:r>
              <a:rPr sz="1100" b="0">
                <a:solidFill>
                  <a:srgbClr val="141414"/>
                </a:solidFill>
                <a:latin typeface="Aptos"/>
              </a:rPr>
              <a:t>ConvLSTM Network</a:t>
            </a:r>
          </a:p>
        </p:txBody>
      </p:sp>
      <p:sp>
        <p:nvSpPr>
          <p:cNvPr id="19" name="Rectangle 18"/>
          <p:cNvSpPr/>
          <p:nvPr/>
        </p:nvSpPr>
        <p:spPr>
          <a:xfrm>
            <a:off x="2331720" y="2029967"/>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0" name="TextBox 19"/>
          <p:cNvSpPr txBox="1"/>
          <p:nvPr/>
        </p:nvSpPr>
        <p:spPr>
          <a:xfrm>
            <a:off x="2368296" y="2075687"/>
            <a:ext cx="1161288" cy="261610"/>
          </a:xfrm>
          <a:prstGeom prst="rect">
            <a:avLst/>
          </a:prstGeom>
          <a:noFill/>
        </p:spPr>
        <p:txBody>
          <a:bodyPr wrap="square">
            <a:spAutoFit/>
          </a:bodyPr>
          <a:lstStyle/>
          <a:p>
            <a:pPr algn="l"/>
            <a:r>
              <a:rPr sz="1100" b="0">
                <a:solidFill>
                  <a:srgbClr val="141414"/>
                </a:solidFill>
                <a:latin typeface="Aptos"/>
              </a:rPr>
              <a:t>Shi et al.</a:t>
            </a:r>
          </a:p>
        </p:txBody>
      </p:sp>
      <p:sp>
        <p:nvSpPr>
          <p:cNvPr id="21" name="Rectangle 20"/>
          <p:cNvSpPr/>
          <p:nvPr/>
        </p:nvSpPr>
        <p:spPr>
          <a:xfrm>
            <a:off x="3566160" y="2029967"/>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2" name="TextBox 21"/>
          <p:cNvSpPr txBox="1"/>
          <p:nvPr/>
        </p:nvSpPr>
        <p:spPr>
          <a:xfrm>
            <a:off x="3602736" y="2075687"/>
            <a:ext cx="475488" cy="230832"/>
          </a:xfrm>
          <a:prstGeom prst="rect">
            <a:avLst/>
          </a:prstGeom>
          <a:noFill/>
        </p:spPr>
        <p:txBody>
          <a:bodyPr wrap="square">
            <a:spAutoFit/>
          </a:bodyPr>
          <a:lstStyle/>
          <a:p>
            <a:pPr algn="l"/>
            <a:r>
              <a:rPr sz="900" b="0">
                <a:solidFill>
                  <a:srgbClr val="141414"/>
                </a:solidFill>
                <a:latin typeface="Aptos"/>
              </a:rPr>
              <a:t>2015</a:t>
            </a:r>
          </a:p>
        </p:txBody>
      </p:sp>
      <p:sp>
        <p:nvSpPr>
          <p:cNvPr id="23" name="Rectangle 22"/>
          <p:cNvSpPr/>
          <p:nvPr/>
        </p:nvSpPr>
        <p:spPr>
          <a:xfrm>
            <a:off x="4114800" y="2029967"/>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4" name="TextBox 23"/>
          <p:cNvSpPr txBox="1"/>
          <p:nvPr/>
        </p:nvSpPr>
        <p:spPr>
          <a:xfrm>
            <a:off x="4151376" y="2075687"/>
            <a:ext cx="1344168" cy="261610"/>
          </a:xfrm>
          <a:prstGeom prst="rect">
            <a:avLst/>
          </a:prstGeom>
          <a:noFill/>
        </p:spPr>
        <p:txBody>
          <a:bodyPr wrap="square">
            <a:spAutoFit/>
          </a:bodyPr>
          <a:lstStyle/>
          <a:p>
            <a:pPr algn="l"/>
            <a:r>
              <a:rPr sz="1100" b="0">
                <a:solidFill>
                  <a:srgbClr val="141414"/>
                </a:solidFill>
                <a:latin typeface="Aptos"/>
              </a:rPr>
              <a:t>ConvLSTM</a:t>
            </a:r>
          </a:p>
        </p:txBody>
      </p:sp>
      <p:sp>
        <p:nvSpPr>
          <p:cNvPr id="25" name="Rectangle 24"/>
          <p:cNvSpPr/>
          <p:nvPr/>
        </p:nvSpPr>
        <p:spPr>
          <a:xfrm>
            <a:off x="5532120" y="2029967"/>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6" name="TextBox 25"/>
          <p:cNvSpPr txBox="1"/>
          <p:nvPr/>
        </p:nvSpPr>
        <p:spPr>
          <a:xfrm>
            <a:off x="5568696" y="2075687"/>
            <a:ext cx="2670048" cy="430887"/>
          </a:xfrm>
          <a:prstGeom prst="rect">
            <a:avLst/>
          </a:prstGeom>
          <a:noFill/>
        </p:spPr>
        <p:txBody>
          <a:bodyPr wrap="square">
            <a:spAutoFit/>
          </a:bodyPr>
          <a:lstStyle/>
          <a:p>
            <a:pPr algn="l"/>
            <a:r>
              <a:rPr sz="1100" b="0">
                <a:solidFill>
                  <a:srgbClr val="141414"/>
                </a:solidFill>
                <a:latin typeface="Aptos"/>
              </a:rPr>
              <a:t>Spatial convolutions inside recurrent units for precipitation nowcasting.</a:t>
            </a:r>
          </a:p>
        </p:txBody>
      </p:sp>
      <p:sp>
        <p:nvSpPr>
          <p:cNvPr id="27" name="Rectangle 26"/>
          <p:cNvSpPr/>
          <p:nvPr/>
        </p:nvSpPr>
        <p:spPr>
          <a:xfrm>
            <a:off x="8275320" y="2029967"/>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28" name="TextBox 27"/>
          <p:cNvSpPr txBox="1"/>
          <p:nvPr/>
        </p:nvSpPr>
        <p:spPr>
          <a:xfrm>
            <a:off x="8311896" y="2075687"/>
            <a:ext cx="3538728" cy="430887"/>
          </a:xfrm>
          <a:prstGeom prst="rect">
            <a:avLst/>
          </a:prstGeom>
          <a:noFill/>
        </p:spPr>
        <p:txBody>
          <a:bodyPr wrap="square">
            <a:spAutoFit/>
          </a:bodyPr>
          <a:lstStyle/>
          <a:p>
            <a:pPr algn="l"/>
            <a:r>
              <a:rPr sz="1100" b="0">
                <a:solidFill>
                  <a:srgbClr val="141414"/>
                </a:solidFill>
                <a:latin typeface="Aptos"/>
              </a:rPr>
              <a:t>Our sparse station setting requires different spatial representation.</a:t>
            </a:r>
          </a:p>
        </p:txBody>
      </p:sp>
      <p:sp>
        <p:nvSpPr>
          <p:cNvPr id="29" name="Rectangle 28"/>
          <p:cNvSpPr/>
          <p:nvPr/>
        </p:nvSpPr>
        <p:spPr>
          <a:xfrm>
            <a:off x="320040" y="2779776"/>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0" name="TextBox 29"/>
          <p:cNvSpPr txBox="1"/>
          <p:nvPr/>
        </p:nvSpPr>
        <p:spPr>
          <a:xfrm>
            <a:off x="356615" y="2825496"/>
            <a:ext cx="1938528" cy="430887"/>
          </a:xfrm>
          <a:prstGeom prst="rect">
            <a:avLst/>
          </a:prstGeom>
          <a:noFill/>
        </p:spPr>
        <p:txBody>
          <a:bodyPr wrap="square">
            <a:spAutoFit/>
          </a:bodyPr>
          <a:lstStyle/>
          <a:p>
            <a:pPr algn="l"/>
            <a:r>
              <a:rPr sz="1100" b="0">
                <a:solidFill>
                  <a:srgbClr val="141414"/>
                </a:solidFill>
                <a:latin typeface="Aptos"/>
              </a:rPr>
              <a:t>Deep Learning for Precipitation Nowcasting</a:t>
            </a:r>
          </a:p>
        </p:txBody>
      </p:sp>
      <p:sp>
        <p:nvSpPr>
          <p:cNvPr id="31" name="Rectangle 30"/>
          <p:cNvSpPr/>
          <p:nvPr/>
        </p:nvSpPr>
        <p:spPr>
          <a:xfrm>
            <a:off x="2331720" y="2779776"/>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2" name="TextBox 31"/>
          <p:cNvSpPr txBox="1"/>
          <p:nvPr/>
        </p:nvSpPr>
        <p:spPr>
          <a:xfrm>
            <a:off x="2368296" y="2825496"/>
            <a:ext cx="1161288" cy="261610"/>
          </a:xfrm>
          <a:prstGeom prst="rect">
            <a:avLst/>
          </a:prstGeom>
          <a:noFill/>
        </p:spPr>
        <p:txBody>
          <a:bodyPr wrap="square">
            <a:spAutoFit/>
          </a:bodyPr>
          <a:lstStyle/>
          <a:p>
            <a:pPr algn="l"/>
            <a:r>
              <a:rPr sz="1100" b="0">
                <a:solidFill>
                  <a:srgbClr val="141414"/>
                </a:solidFill>
                <a:latin typeface="Aptos"/>
              </a:rPr>
              <a:t>Shi et al.</a:t>
            </a:r>
          </a:p>
        </p:txBody>
      </p:sp>
      <p:sp>
        <p:nvSpPr>
          <p:cNvPr id="33" name="Rectangle 32"/>
          <p:cNvSpPr/>
          <p:nvPr/>
        </p:nvSpPr>
        <p:spPr>
          <a:xfrm>
            <a:off x="3566160" y="2779776"/>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4" name="TextBox 33"/>
          <p:cNvSpPr txBox="1"/>
          <p:nvPr/>
        </p:nvSpPr>
        <p:spPr>
          <a:xfrm>
            <a:off x="3602736" y="2825496"/>
            <a:ext cx="475488" cy="230832"/>
          </a:xfrm>
          <a:prstGeom prst="rect">
            <a:avLst/>
          </a:prstGeom>
          <a:noFill/>
        </p:spPr>
        <p:txBody>
          <a:bodyPr wrap="square">
            <a:spAutoFit/>
          </a:bodyPr>
          <a:lstStyle/>
          <a:p>
            <a:pPr algn="l"/>
            <a:r>
              <a:rPr sz="900" b="0">
                <a:solidFill>
                  <a:srgbClr val="141414"/>
                </a:solidFill>
                <a:latin typeface="Aptos"/>
              </a:rPr>
              <a:t>2017</a:t>
            </a:r>
          </a:p>
        </p:txBody>
      </p:sp>
      <p:sp>
        <p:nvSpPr>
          <p:cNvPr id="35" name="Rectangle 34"/>
          <p:cNvSpPr/>
          <p:nvPr/>
        </p:nvSpPr>
        <p:spPr>
          <a:xfrm>
            <a:off x="4114800" y="2779776"/>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6" name="TextBox 35"/>
          <p:cNvSpPr txBox="1"/>
          <p:nvPr/>
        </p:nvSpPr>
        <p:spPr>
          <a:xfrm>
            <a:off x="4151376" y="2825496"/>
            <a:ext cx="1344168" cy="261610"/>
          </a:xfrm>
          <a:prstGeom prst="rect">
            <a:avLst/>
          </a:prstGeom>
          <a:noFill/>
        </p:spPr>
        <p:txBody>
          <a:bodyPr wrap="square">
            <a:spAutoFit/>
          </a:bodyPr>
          <a:lstStyle/>
          <a:p>
            <a:pPr algn="l"/>
            <a:r>
              <a:rPr sz="1100" b="0">
                <a:solidFill>
                  <a:srgbClr val="141414"/>
                </a:solidFill>
                <a:latin typeface="Aptos"/>
              </a:rPr>
              <a:t>TrajGRU / recurrent</a:t>
            </a:r>
          </a:p>
        </p:txBody>
      </p:sp>
      <p:sp>
        <p:nvSpPr>
          <p:cNvPr id="37" name="Rectangle 36"/>
          <p:cNvSpPr/>
          <p:nvPr/>
        </p:nvSpPr>
        <p:spPr>
          <a:xfrm>
            <a:off x="5532120" y="2779776"/>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38" name="TextBox 37"/>
          <p:cNvSpPr txBox="1"/>
          <p:nvPr/>
        </p:nvSpPr>
        <p:spPr>
          <a:xfrm>
            <a:off x="5568696" y="2825496"/>
            <a:ext cx="2670048" cy="430887"/>
          </a:xfrm>
          <a:prstGeom prst="rect">
            <a:avLst/>
          </a:prstGeom>
          <a:noFill/>
        </p:spPr>
        <p:txBody>
          <a:bodyPr wrap="square">
            <a:spAutoFit/>
          </a:bodyPr>
          <a:lstStyle/>
          <a:p>
            <a:pPr algn="l"/>
            <a:r>
              <a:rPr sz="1100" b="0">
                <a:solidFill>
                  <a:srgbClr val="141414"/>
                </a:solidFill>
                <a:latin typeface="Aptos"/>
              </a:rPr>
              <a:t>Learned nonlinear motion improves precipitation sequence prediction.</a:t>
            </a:r>
          </a:p>
        </p:txBody>
      </p:sp>
      <p:sp>
        <p:nvSpPr>
          <p:cNvPr id="39" name="Rectangle 38"/>
          <p:cNvSpPr/>
          <p:nvPr/>
        </p:nvSpPr>
        <p:spPr>
          <a:xfrm>
            <a:off x="8275320" y="2779776"/>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0" name="TextBox 39"/>
          <p:cNvSpPr txBox="1"/>
          <p:nvPr/>
        </p:nvSpPr>
        <p:spPr>
          <a:xfrm>
            <a:off x="8311896" y="2825496"/>
            <a:ext cx="3538728" cy="261610"/>
          </a:xfrm>
          <a:prstGeom prst="rect">
            <a:avLst/>
          </a:prstGeom>
          <a:noFill/>
        </p:spPr>
        <p:txBody>
          <a:bodyPr wrap="square">
            <a:spAutoFit/>
          </a:bodyPr>
          <a:lstStyle/>
          <a:p>
            <a:pPr algn="l"/>
            <a:r>
              <a:rPr sz="1100" b="0">
                <a:solidFill>
                  <a:srgbClr val="141414"/>
                </a:solidFill>
                <a:latin typeface="Aptos"/>
              </a:rPr>
              <a:t>Primarily radar-image based.</a:t>
            </a:r>
          </a:p>
        </p:txBody>
      </p:sp>
      <p:sp>
        <p:nvSpPr>
          <p:cNvPr id="41" name="Rectangle 40"/>
          <p:cNvSpPr/>
          <p:nvPr/>
        </p:nvSpPr>
        <p:spPr>
          <a:xfrm>
            <a:off x="320040" y="3529584"/>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2" name="TextBox 41"/>
          <p:cNvSpPr txBox="1"/>
          <p:nvPr/>
        </p:nvSpPr>
        <p:spPr>
          <a:xfrm>
            <a:off x="356615" y="3575303"/>
            <a:ext cx="1938528" cy="430887"/>
          </a:xfrm>
          <a:prstGeom prst="rect">
            <a:avLst/>
          </a:prstGeom>
          <a:noFill/>
        </p:spPr>
        <p:txBody>
          <a:bodyPr wrap="square">
            <a:spAutoFit/>
          </a:bodyPr>
          <a:lstStyle/>
          <a:p>
            <a:pPr algn="l"/>
            <a:r>
              <a:rPr sz="1100" b="0">
                <a:solidFill>
                  <a:srgbClr val="141414"/>
                </a:solidFill>
                <a:latin typeface="Aptos"/>
              </a:rPr>
              <a:t>Skilful Precipitation Nowcasting</a:t>
            </a:r>
          </a:p>
        </p:txBody>
      </p:sp>
      <p:sp>
        <p:nvSpPr>
          <p:cNvPr id="43" name="Rectangle 42"/>
          <p:cNvSpPr/>
          <p:nvPr/>
        </p:nvSpPr>
        <p:spPr>
          <a:xfrm>
            <a:off x="2331720" y="3529584"/>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TextBox 43"/>
          <p:cNvSpPr txBox="1"/>
          <p:nvPr/>
        </p:nvSpPr>
        <p:spPr>
          <a:xfrm>
            <a:off x="2368296" y="3575303"/>
            <a:ext cx="1161288" cy="261610"/>
          </a:xfrm>
          <a:prstGeom prst="rect">
            <a:avLst/>
          </a:prstGeom>
          <a:noFill/>
        </p:spPr>
        <p:txBody>
          <a:bodyPr wrap="square">
            <a:spAutoFit/>
          </a:bodyPr>
          <a:lstStyle/>
          <a:p>
            <a:pPr algn="l"/>
            <a:r>
              <a:rPr sz="1100" b="0">
                <a:solidFill>
                  <a:srgbClr val="141414"/>
                </a:solidFill>
                <a:latin typeface="Aptos"/>
              </a:rPr>
              <a:t>Ravuri et al.</a:t>
            </a:r>
          </a:p>
        </p:txBody>
      </p:sp>
      <p:sp>
        <p:nvSpPr>
          <p:cNvPr id="45" name="Rectangle 44"/>
          <p:cNvSpPr/>
          <p:nvPr/>
        </p:nvSpPr>
        <p:spPr>
          <a:xfrm>
            <a:off x="3566160" y="3529584"/>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6" name="TextBox 45"/>
          <p:cNvSpPr txBox="1"/>
          <p:nvPr/>
        </p:nvSpPr>
        <p:spPr>
          <a:xfrm>
            <a:off x="3602736" y="3575303"/>
            <a:ext cx="475488" cy="230832"/>
          </a:xfrm>
          <a:prstGeom prst="rect">
            <a:avLst/>
          </a:prstGeom>
          <a:noFill/>
        </p:spPr>
        <p:txBody>
          <a:bodyPr wrap="square">
            <a:spAutoFit/>
          </a:bodyPr>
          <a:lstStyle/>
          <a:p>
            <a:pPr algn="l"/>
            <a:r>
              <a:rPr sz="900" b="0">
                <a:solidFill>
                  <a:srgbClr val="141414"/>
                </a:solidFill>
                <a:latin typeface="Aptos"/>
              </a:rPr>
              <a:t>2021</a:t>
            </a:r>
          </a:p>
        </p:txBody>
      </p:sp>
      <p:sp>
        <p:nvSpPr>
          <p:cNvPr id="47" name="Rectangle 46"/>
          <p:cNvSpPr/>
          <p:nvPr/>
        </p:nvSpPr>
        <p:spPr>
          <a:xfrm>
            <a:off x="4114800" y="3529584"/>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8" name="TextBox 47"/>
          <p:cNvSpPr txBox="1"/>
          <p:nvPr/>
        </p:nvSpPr>
        <p:spPr>
          <a:xfrm>
            <a:off x="4151376" y="3575303"/>
            <a:ext cx="1344168" cy="430887"/>
          </a:xfrm>
          <a:prstGeom prst="rect">
            <a:avLst/>
          </a:prstGeom>
          <a:noFill/>
        </p:spPr>
        <p:txBody>
          <a:bodyPr wrap="square">
            <a:spAutoFit/>
          </a:bodyPr>
          <a:lstStyle/>
          <a:p>
            <a:pPr algn="l"/>
            <a:r>
              <a:rPr sz="1100" b="0">
                <a:solidFill>
                  <a:srgbClr val="141414"/>
                </a:solidFill>
                <a:latin typeface="Aptos"/>
              </a:rPr>
              <a:t>Deep generative model</a:t>
            </a:r>
          </a:p>
        </p:txBody>
      </p:sp>
      <p:sp>
        <p:nvSpPr>
          <p:cNvPr id="49" name="Rectangle 48"/>
          <p:cNvSpPr/>
          <p:nvPr/>
        </p:nvSpPr>
        <p:spPr>
          <a:xfrm>
            <a:off x="5532120" y="3529584"/>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49"/>
          <p:cNvSpPr txBox="1"/>
          <p:nvPr/>
        </p:nvSpPr>
        <p:spPr>
          <a:xfrm>
            <a:off x="5568696" y="3575303"/>
            <a:ext cx="2670048" cy="430887"/>
          </a:xfrm>
          <a:prstGeom prst="rect">
            <a:avLst/>
          </a:prstGeom>
          <a:noFill/>
        </p:spPr>
        <p:txBody>
          <a:bodyPr wrap="square">
            <a:spAutoFit/>
          </a:bodyPr>
          <a:lstStyle/>
          <a:p>
            <a:pPr algn="l"/>
            <a:r>
              <a:rPr sz="1100" b="0">
                <a:solidFill>
                  <a:srgbClr val="141414"/>
                </a:solidFill>
                <a:latin typeface="Aptos"/>
              </a:rPr>
              <a:t>Strong radar-based short-range precipitation nowcasting.</a:t>
            </a:r>
          </a:p>
        </p:txBody>
      </p:sp>
      <p:sp>
        <p:nvSpPr>
          <p:cNvPr id="51" name="Rectangle 50"/>
          <p:cNvSpPr/>
          <p:nvPr/>
        </p:nvSpPr>
        <p:spPr>
          <a:xfrm>
            <a:off x="8275320" y="3529584"/>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2" name="TextBox 51"/>
          <p:cNvSpPr txBox="1"/>
          <p:nvPr/>
        </p:nvSpPr>
        <p:spPr>
          <a:xfrm>
            <a:off x="8311896" y="3575303"/>
            <a:ext cx="3538728" cy="430887"/>
          </a:xfrm>
          <a:prstGeom prst="rect">
            <a:avLst/>
          </a:prstGeom>
          <a:noFill/>
        </p:spPr>
        <p:txBody>
          <a:bodyPr wrap="square">
            <a:spAutoFit/>
          </a:bodyPr>
          <a:lstStyle/>
          <a:p>
            <a:pPr algn="l"/>
            <a:r>
              <a:rPr sz="1100" b="0">
                <a:solidFill>
                  <a:srgbClr val="141414"/>
                </a:solidFill>
                <a:latin typeface="Aptos"/>
              </a:rPr>
              <a:t>Data and compute requirements differ from PWS fusion.</a:t>
            </a:r>
          </a:p>
        </p:txBody>
      </p:sp>
      <p:sp>
        <p:nvSpPr>
          <p:cNvPr id="53" name="Rectangle 52"/>
          <p:cNvSpPr/>
          <p:nvPr/>
        </p:nvSpPr>
        <p:spPr>
          <a:xfrm>
            <a:off x="320040" y="4279392"/>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TextBox 53"/>
          <p:cNvSpPr txBox="1"/>
          <p:nvPr/>
        </p:nvSpPr>
        <p:spPr>
          <a:xfrm>
            <a:off x="356615" y="4325112"/>
            <a:ext cx="1938528" cy="430887"/>
          </a:xfrm>
          <a:prstGeom prst="rect">
            <a:avLst/>
          </a:prstGeom>
          <a:noFill/>
        </p:spPr>
        <p:txBody>
          <a:bodyPr wrap="square">
            <a:spAutoFit/>
          </a:bodyPr>
          <a:lstStyle/>
          <a:p>
            <a:pPr algn="l"/>
            <a:r>
              <a:rPr sz="1100" b="0">
                <a:solidFill>
                  <a:srgbClr val="141414"/>
                </a:solidFill>
                <a:latin typeface="Aptos"/>
              </a:rPr>
              <a:t>BiLSTM + CNN rainfall studies</a:t>
            </a:r>
          </a:p>
        </p:txBody>
      </p:sp>
      <p:sp>
        <p:nvSpPr>
          <p:cNvPr id="55" name="Rectangle 54"/>
          <p:cNvSpPr/>
          <p:nvPr/>
        </p:nvSpPr>
        <p:spPr>
          <a:xfrm>
            <a:off x="2331720" y="4279392"/>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6" name="TextBox 55"/>
          <p:cNvSpPr txBox="1"/>
          <p:nvPr/>
        </p:nvSpPr>
        <p:spPr>
          <a:xfrm>
            <a:off x="2368296" y="4325112"/>
            <a:ext cx="1161288" cy="261610"/>
          </a:xfrm>
          <a:prstGeom prst="rect">
            <a:avLst/>
          </a:prstGeom>
          <a:noFill/>
        </p:spPr>
        <p:txBody>
          <a:bodyPr wrap="square">
            <a:spAutoFit/>
          </a:bodyPr>
          <a:lstStyle/>
          <a:p>
            <a:pPr algn="l"/>
            <a:r>
              <a:rPr sz="1100" b="0">
                <a:solidFill>
                  <a:srgbClr val="141414"/>
                </a:solidFill>
                <a:latin typeface="Aptos"/>
              </a:rPr>
              <a:t>Recent studies</a:t>
            </a:r>
          </a:p>
        </p:txBody>
      </p:sp>
      <p:sp>
        <p:nvSpPr>
          <p:cNvPr id="57" name="Rectangle 56"/>
          <p:cNvSpPr/>
          <p:nvPr/>
        </p:nvSpPr>
        <p:spPr>
          <a:xfrm>
            <a:off x="3566160" y="4279392"/>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8" name="TextBox 57"/>
          <p:cNvSpPr txBox="1"/>
          <p:nvPr/>
        </p:nvSpPr>
        <p:spPr>
          <a:xfrm>
            <a:off x="3602736" y="4325112"/>
            <a:ext cx="475488" cy="369332"/>
          </a:xfrm>
          <a:prstGeom prst="rect">
            <a:avLst/>
          </a:prstGeom>
          <a:noFill/>
        </p:spPr>
        <p:txBody>
          <a:bodyPr wrap="square">
            <a:spAutoFit/>
          </a:bodyPr>
          <a:lstStyle/>
          <a:p>
            <a:pPr algn="l"/>
            <a:r>
              <a:rPr sz="900" b="0">
                <a:solidFill>
                  <a:srgbClr val="141414"/>
                </a:solidFill>
                <a:latin typeface="Aptos"/>
              </a:rPr>
              <a:t>2021–24</a:t>
            </a:r>
          </a:p>
        </p:txBody>
      </p:sp>
      <p:sp>
        <p:nvSpPr>
          <p:cNvPr id="59" name="Rectangle 58"/>
          <p:cNvSpPr/>
          <p:nvPr/>
        </p:nvSpPr>
        <p:spPr>
          <a:xfrm>
            <a:off x="4114800" y="4279392"/>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0" name="TextBox 59"/>
          <p:cNvSpPr txBox="1"/>
          <p:nvPr/>
        </p:nvSpPr>
        <p:spPr>
          <a:xfrm>
            <a:off x="4151376" y="4325112"/>
            <a:ext cx="1344168" cy="261610"/>
          </a:xfrm>
          <a:prstGeom prst="rect">
            <a:avLst/>
          </a:prstGeom>
          <a:noFill/>
        </p:spPr>
        <p:txBody>
          <a:bodyPr wrap="square">
            <a:spAutoFit/>
          </a:bodyPr>
          <a:lstStyle/>
          <a:p>
            <a:pPr algn="l"/>
            <a:r>
              <a:rPr sz="1100" b="0">
                <a:solidFill>
                  <a:srgbClr val="141414"/>
                </a:solidFill>
                <a:latin typeface="Aptos"/>
              </a:rPr>
              <a:t>CNN + BiLSTM</a:t>
            </a:r>
          </a:p>
        </p:txBody>
      </p:sp>
      <p:sp>
        <p:nvSpPr>
          <p:cNvPr id="61" name="Rectangle 60"/>
          <p:cNvSpPr/>
          <p:nvPr/>
        </p:nvSpPr>
        <p:spPr>
          <a:xfrm>
            <a:off x="5532120" y="4279392"/>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2" name="TextBox 61"/>
          <p:cNvSpPr txBox="1"/>
          <p:nvPr/>
        </p:nvSpPr>
        <p:spPr>
          <a:xfrm>
            <a:off x="5568696" y="4325112"/>
            <a:ext cx="2670048" cy="430887"/>
          </a:xfrm>
          <a:prstGeom prst="rect">
            <a:avLst/>
          </a:prstGeom>
          <a:noFill/>
        </p:spPr>
        <p:txBody>
          <a:bodyPr wrap="square">
            <a:spAutoFit/>
          </a:bodyPr>
          <a:lstStyle/>
          <a:p>
            <a:pPr algn="l"/>
            <a:r>
              <a:rPr sz="1100" b="0">
                <a:solidFill>
                  <a:srgbClr val="141414"/>
                </a:solidFill>
                <a:latin typeface="Aptos"/>
              </a:rPr>
              <a:t>Combines local feature extraction with temporal dependencies.</a:t>
            </a:r>
          </a:p>
        </p:txBody>
      </p:sp>
      <p:sp>
        <p:nvSpPr>
          <p:cNvPr id="63" name="Rectangle 62"/>
          <p:cNvSpPr/>
          <p:nvPr/>
        </p:nvSpPr>
        <p:spPr>
          <a:xfrm>
            <a:off x="8275320" y="4279392"/>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4" name="TextBox 63"/>
          <p:cNvSpPr txBox="1"/>
          <p:nvPr/>
        </p:nvSpPr>
        <p:spPr>
          <a:xfrm>
            <a:off x="8311896" y="4325112"/>
            <a:ext cx="3538728" cy="261610"/>
          </a:xfrm>
          <a:prstGeom prst="rect">
            <a:avLst/>
          </a:prstGeom>
          <a:noFill/>
        </p:spPr>
        <p:txBody>
          <a:bodyPr wrap="square">
            <a:spAutoFit/>
          </a:bodyPr>
          <a:lstStyle/>
          <a:p>
            <a:pPr algn="l"/>
            <a:r>
              <a:rPr sz="1100" b="0">
                <a:solidFill>
                  <a:srgbClr val="141414"/>
                </a:solidFill>
                <a:latin typeface="Aptos"/>
              </a:rPr>
              <a:t>Often lacks heterogeneous station + NWP integration.</a:t>
            </a:r>
          </a:p>
        </p:txBody>
      </p:sp>
      <p:sp>
        <p:nvSpPr>
          <p:cNvPr id="65" name="Rectangle 64"/>
          <p:cNvSpPr/>
          <p:nvPr/>
        </p:nvSpPr>
        <p:spPr>
          <a:xfrm>
            <a:off x="320040" y="5029200"/>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6" name="TextBox 65"/>
          <p:cNvSpPr txBox="1"/>
          <p:nvPr/>
        </p:nvSpPr>
        <p:spPr>
          <a:xfrm>
            <a:off x="356615" y="5074920"/>
            <a:ext cx="1938528" cy="430887"/>
          </a:xfrm>
          <a:prstGeom prst="rect">
            <a:avLst/>
          </a:prstGeom>
          <a:noFill/>
        </p:spPr>
        <p:txBody>
          <a:bodyPr wrap="square">
            <a:spAutoFit/>
          </a:bodyPr>
          <a:lstStyle/>
          <a:p>
            <a:pPr algn="l"/>
            <a:r>
              <a:rPr sz="1100" b="0">
                <a:solidFill>
                  <a:srgbClr val="141414"/>
                </a:solidFill>
                <a:latin typeface="Aptos"/>
              </a:rPr>
              <a:t>LSTMAtU-Net / attention nowcasting</a:t>
            </a:r>
          </a:p>
        </p:txBody>
      </p:sp>
      <p:sp>
        <p:nvSpPr>
          <p:cNvPr id="67" name="Rectangle 66"/>
          <p:cNvSpPr/>
          <p:nvPr/>
        </p:nvSpPr>
        <p:spPr>
          <a:xfrm>
            <a:off x="2331720" y="5029200"/>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68" name="TextBox 67"/>
          <p:cNvSpPr txBox="1"/>
          <p:nvPr/>
        </p:nvSpPr>
        <p:spPr>
          <a:xfrm>
            <a:off x="2368296" y="5074920"/>
            <a:ext cx="1161288" cy="261610"/>
          </a:xfrm>
          <a:prstGeom prst="rect">
            <a:avLst/>
          </a:prstGeom>
          <a:noFill/>
        </p:spPr>
        <p:txBody>
          <a:bodyPr wrap="square">
            <a:spAutoFit/>
          </a:bodyPr>
          <a:lstStyle/>
          <a:p>
            <a:pPr algn="l"/>
            <a:r>
              <a:rPr sz="1100" b="0">
                <a:solidFill>
                  <a:srgbClr val="141414"/>
                </a:solidFill>
                <a:latin typeface="Aptos"/>
              </a:rPr>
              <a:t>Recent studies</a:t>
            </a:r>
          </a:p>
        </p:txBody>
      </p:sp>
      <p:sp>
        <p:nvSpPr>
          <p:cNvPr id="69" name="Rectangle 68"/>
          <p:cNvSpPr/>
          <p:nvPr/>
        </p:nvSpPr>
        <p:spPr>
          <a:xfrm>
            <a:off x="3566160" y="5029200"/>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0" name="TextBox 69"/>
          <p:cNvSpPr txBox="1"/>
          <p:nvPr/>
        </p:nvSpPr>
        <p:spPr>
          <a:xfrm>
            <a:off x="3602736" y="5074920"/>
            <a:ext cx="475488" cy="369332"/>
          </a:xfrm>
          <a:prstGeom prst="rect">
            <a:avLst/>
          </a:prstGeom>
          <a:noFill/>
        </p:spPr>
        <p:txBody>
          <a:bodyPr wrap="square">
            <a:spAutoFit/>
          </a:bodyPr>
          <a:lstStyle/>
          <a:p>
            <a:pPr algn="l"/>
            <a:r>
              <a:rPr sz="900" b="0" dirty="0">
                <a:solidFill>
                  <a:srgbClr val="141414"/>
                </a:solidFill>
                <a:latin typeface="Aptos"/>
              </a:rPr>
              <a:t>2023–24</a:t>
            </a:r>
          </a:p>
        </p:txBody>
      </p:sp>
      <p:sp>
        <p:nvSpPr>
          <p:cNvPr id="71" name="Rectangle 70"/>
          <p:cNvSpPr/>
          <p:nvPr/>
        </p:nvSpPr>
        <p:spPr>
          <a:xfrm>
            <a:off x="4114800" y="5029200"/>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72" name="TextBox 71"/>
          <p:cNvSpPr txBox="1"/>
          <p:nvPr/>
        </p:nvSpPr>
        <p:spPr>
          <a:xfrm>
            <a:off x="4151376" y="5074920"/>
            <a:ext cx="1344168" cy="430887"/>
          </a:xfrm>
          <a:prstGeom prst="rect">
            <a:avLst/>
          </a:prstGeom>
          <a:noFill/>
        </p:spPr>
        <p:txBody>
          <a:bodyPr wrap="square">
            <a:spAutoFit/>
          </a:bodyPr>
          <a:lstStyle/>
          <a:p>
            <a:pPr algn="l"/>
            <a:r>
              <a:rPr sz="1100" b="0">
                <a:solidFill>
                  <a:srgbClr val="141414"/>
                </a:solidFill>
                <a:latin typeface="Aptos"/>
              </a:rPr>
              <a:t>LSTM + attention U-Net</a:t>
            </a:r>
          </a:p>
        </p:txBody>
      </p:sp>
      <p:sp>
        <p:nvSpPr>
          <p:cNvPr id="73" name="Rectangle 72"/>
          <p:cNvSpPr/>
          <p:nvPr/>
        </p:nvSpPr>
        <p:spPr>
          <a:xfrm>
            <a:off x="5532120" y="5029200"/>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74" name="TextBox 73"/>
          <p:cNvSpPr txBox="1"/>
          <p:nvPr/>
        </p:nvSpPr>
        <p:spPr>
          <a:xfrm>
            <a:off x="5568696" y="5074920"/>
            <a:ext cx="2670048" cy="430887"/>
          </a:xfrm>
          <a:prstGeom prst="rect">
            <a:avLst/>
          </a:prstGeom>
          <a:noFill/>
        </p:spPr>
        <p:txBody>
          <a:bodyPr wrap="square">
            <a:spAutoFit/>
          </a:bodyPr>
          <a:lstStyle/>
          <a:p>
            <a:pPr algn="l"/>
            <a:r>
              <a:rPr sz="1100" b="0">
                <a:solidFill>
                  <a:srgbClr val="141414"/>
                </a:solidFill>
                <a:latin typeface="Aptos"/>
              </a:rPr>
              <a:t>Attention focuses model capacity on important spatial-temporal features.</a:t>
            </a:r>
          </a:p>
        </p:txBody>
      </p:sp>
      <p:sp>
        <p:nvSpPr>
          <p:cNvPr id="75" name="Rectangle 74"/>
          <p:cNvSpPr/>
          <p:nvPr/>
        </p:nvSpPr>
        <p:spPr>
          <a:xfrm>
            <a:off x="8275320" y="5029200"/>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76" name="TextBox 75"/>
          <p:cNvSpPr txBox="1"/>
          <p:nvPr/>
        </p:nvSpPr>
        <p:spPr>
          <a:xfrm>
            <a:off x="8311896" y="5074920"/>
            <a:ext cx="3538728" cy="261610"/>
          </a:xfrm>
          <a:prstGeom prst="rect">
            <a:avLst/>
          </a:prstGeom>
          <a:noFill/>
        </p:spPr>
        <p:txBody>
          <a:bodyPr wrap="square">
            <a:spAutoFit/>
          </a:bodyPr>
          <a:lstStyle/>
          <a:p>
            <a:pPr algn="l"/>
            <a:r>
              <a:rPr sz="1100" b="0">
                <a:solidFill>
                  <a:srgbClr val="141414"/>
                </a:solidFill>
                <a:latin typeface="Aptos"/>
              </a:rPr>
              <a:t>Typically requires dense gridded/radar inputs.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Literature Survey – Part 2</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320040" y="1280160"/>
            <a:ext cx="201168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 name="TextBox 5"/>
          <p:cNvSpPr txBox="1"/>
          <p:nvPr/>
        </p:nvSpPr>
        <p:spPr>
          <a:xfrm>
            <a:off x="356615" y="1335024"/>
            <a:ext cx="1938528" cy="292388"/>
          </a:xfrm>
          <a:prstGeom prst="rect">
            <a:avLst/>
          </a:prstGeom>
          <a:noFill/>
        </p:spPr>
        <p:txBody>
          <a:bodyPr wrap="square">
            <a:spAutoFit/>
          </a:bodyPr>
          <a:lstStyle/>
          <a:p>
            <a:pPr algn="l"/>
            <a:r>
              <a:rPr sz="1300" b="1">
                <a:solidFill>
                  <a:srgbClr val="141414"/>
                </a:solidFill>
                <a:latin typeface="Aptos"/>
              </a:rPr>
              <a:t>Paper</a:t>
            </a:r>
          </a:p>
        </p:txBody>
      </p:sp>
      <p:sp>
        <p:nvSpPr>
          <p:cNvPr id="7" name="Rectangle 6"/>
          <p:cNvSpPr/>
          <p:nvPr/>
        </p:nvSpPr>
        <p:spPr>
          <a:xfrm>
            <a:off x="2331720" y="1280160"/>
            <a:ext cx="123444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TextBox 7"/>
          <p:cNvSpPr txBox="1"/>
          <p:nvPr/>
        </p:nvSpPr>
        <p:spPr>
          <a:xfrm>
            <a:off x="2368296" y="1335024"/>
            <a:ext cx="1161288" cy="292388"/>
          </a:xfrm>
          <a:prstGeom prst="rect">
            <a:avLst/>
          </a:prstGeom>
          <a:noFill/>
        </p:spPr>
        <p:txBody>
          <a:bodyPr wrap="square">
            <a:spAutoFit/>
          </a:bodyPr>
          <a:lstStyle/>
          <a:p>
            <a:pPr algn="l"/>
            <a:r>
              <a:rPr sz="1300" b="1">
                <a:solidFill>
                  <a:srgbClr val="141414"/>
                </a:solidFill>
                <a:latin typeface="Aptos"/>
              </a:rPr>
              <a:t>Authors</a:t>
            </a:r>
          </a:p>
        </p:txBody>
      </p:sp>
      <p:sp>
        <p:nvSpPr>
          <p:cNvPr id="9" name="Rectangle 8"/>
          <p:cNvSpPr/>
          <p:nvPr/>
        </p:nvSpPr>
        <p:spPr>
          <a:xfrm>
            <a:off x="3566160" y="1280160"/>
            <a:ext cx="54864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0" name="TextBox 9"/>
          <p:cNvSpPr txBox="1"/>
          <p:nvPr/>
        </p:nvSpPr>
        <p:spPr>
          <a:xfrm>
            <a:off x="3602736" y="1335024"/>
            <a:ext cx="475488" cy="230832"/>
          </a:xfrm>
          <a:prstGeom prst="rect">
            <a:avLst/>
          </a:prstGeom>
          <a:noFill/>
        </p:spPr>
        <p:txBody>
          <a:bodyPr wrap="square">
            <a:spAutoFit/>
          </a:bodyPr>
          <a:lstStyle/>
          <a:p>
            <a:pPr algn="l"/>
            <a:r>
              <a:rPr sz="900" b="1">
                <a:solidFill>
                  <a:srgbClr val="141414"/>
                </a:solidFill>
                <a:latin typeface="Aptos"/>
              </a:rPr>
              <a:t>Year</a:t>
            </a:r>
          </a:p>
        </p:txBody>
      </p:sp>
      <p:sp>
        <p:nvSpPr>
          <p:cNvPr id="11" name="Rectangle 10"/>
          <p:cNvSpPr/>
          <p:nvPr/>
        </p:nvSpPr>
        <p:spPr>
          <a:xfrm>
            <a:off x="4114800" y="1280160"/>
            <a:ext cx="141732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2" name="TextBox 11"/>
          <p:cNvSpPr txBox="1"/>
          <p:nvPr/>
        </p:nvSpPr>
        <p:spPr>
          <a:xfrm>
            <a:off x="4151376" y="1335024"/>
            <a:ext cx="1344168" cy="292388"/>
          </a:xfrm>
          <a:prstGeom prst="rect">
            <a:avLst/>
          </a:prstGeom>
          <a:noFill/>
        </p:spPr>
        <p:txBody>
          <a:bodyPr wrap="square">
            <a:spAutoFit/>
          </a:bodyPr>
          <a:lstStyle/>
          <a:p>
            <a:pPr algn="l"/>
            <a:r>
              <a:rPr sz="1300" b="1">
                <a:solidFill>
                  <a:srgbClr val="141414"/>
                </a:solidFill>
                <a:latin typeface="Aptos"/>
              </a:rPr>
              <a:t>Method</a:t>
            </a:r>
          </a:p>
        </p:txBody>
      </p:sp>
      <p:sp>
        <p:nvSpPr>
          <p:cNvPr id="13" name="Rectangle 12"/>
          <p:cNvSpPr/>
          <p:nvPr/>
        </p:nvSpPr>
        <p:spPr>
          <a:xfrm>
            <a:off x="5532120" y="1280160"/>
            <a:ext cx="274320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TextBox 13"/>
          <p:cNvSpPr txBox="1"/>
          <p:nvPr/>
        </p:nvSpPr>
        <p:spPr>
          <a:xfrm>
            <a:off x="5568696" y="1335024"/>
            <a:ext cx="2670048" cy="292388"/>
          </a:xfrm>
          <a:prstGeom prst="rect">
            <a:avLst/>
          </a:prstGeom>
          <a:noFill/>
        </p:spPr>
        <p:txBody>
          <a:bodyPr wrap="square">
            <a:spAutoFit/>
          </a:bodyPr>
          <a:lstStyle/>
          <a:p>
            <a:pPr algn="l"/>
            <a:r>
              <a:rPr sz="1300" b="1">
                <a:solidFill>
                  <a:srgbClr val="141414"/>
                </a:solidFill>
                <a:latin typeface="Aptos"/>
              </a:rPr>
              <a:t>Key Result</a:t>
            </a:r>
          </a:p>
        </p:txBody>
      </p:sp>
      <p:sp>
        <p:nvSpPr>
          <p:cNvPr id="15" name="Rectangle 14"/>
          <p:cNvSpPr/>
          <p:nvPr/>
        </p:nvSpPr>
        <p:spPr>
          <a:xfrm>
            <a:off x="8275320" y="1280160"/>
            <a:ext cx="3611880" cy="749808"/>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6" name="TextBox 15"/>
          <p:cNvSpPr txBox="1"/>
          <p:nvPr/>
        </p:nvSpPr>
        <p:spPr>
          <a:xfrm>
            <a:off x="8311896" y="1335024"/>
            <a:ext cx="3538728" cy="292388"/>
          </a:xfrm>
          <a:prstGeom prst="rect">
            <a:avLst/>
          </a:prstGeom>
          <a:noFill/>
        </p:spPr>
        <p:txBody>
          <a:bodyPr wrap="square">
            <a:spAutoFit/>
          </a:bodyPr>
          <a:lstStyle/>
          <a:p>
            <a:pPr algn="l"/>
            <a:r>
              <a:rPr sz="1300" b="1">
                <a:solidFill>
                  <a:srgbClr val="141414"/>
                </a:solidFill>
                <a:latin typeface="Aptos"/>
              </a:rPr>
              <a:t>Gap for Project</a:t>
            </a:r>
          </a:p>
        </p:txBody>
      </p:sp>
      <p:sp>
        <p:nvSpPr>
          <p:cNvPr id="17" name="Rectangle 16"/>
          <p:cNvSpPr/>
          <p:nvPr/>
        </p:nvSpPr>
        <p:spPr>
          <a:xfrm>
            <a:off x="320040" y="2029967"/>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8" name="TextBox 17"/>
          <p:cNvSpPr txBox="1"/>
          <p:nvPr/>
        </p:nvSpPr>
        <p:spPr>
          <a:xfrm>
            <a:off x="356615" y="2075687"/>
            <a:ext cx="1938528" cy="292388"/>
          </a:xfrm>
          <a:prstGeom prst="rect">
            <a:avLst/>
          </a:prstGeom>
          <a:noFill/>
        </p:spPr>
        <p:txBody>
          <a:bodyPr wrap="square">
            <a:spAutoFit/>
          </a:bodyPr>
          <a:lstStyle/>
          <a:p>
            <a:pPr algn="l"/>
            <a:r>
              <a:rPr sz="1300" b="0">
                <a:solidFill>
                  <a:srgbClr val="141414"/>
                </a:solidFill>
                <a:latin typeface="Aptos"/>
              </a:rPr>
              <a:t>Two-stream ConvLSTM</a:t>
            </a:r>
          </a:p>
        </p:txBody>
      </p:sp>
      <p:sp>
        <p:nvSpPr>
          <p:cNvPr id="19" name="Rectangle 18"/>
          <p:cNvSpPr/>
          <p:nvPr/>
        </p:nvSpPr>
        <p:spPr>
          <a:xfrm>
            <a:off x="2331720" y="2029967"/>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0" name="TextBox 19"/>
          <p:cNvSpPr txBox="1"/>
          <p:nvPr/>
        </p:nvSpPr>
        <p:spPr>
          <a:xfrm>
            <a:off x="2368296" y="2075687"/>
            <a:ext cx="1161288" cy="492443"/>
          </a:xfrm>
          <a:prstGeom prst="rect">
            <a:avLst/>
          </a:prstGeom>
          <a:noFill/>
        </p:spPr>
        <p:txBody>
          <a:bodyPr wrap="square">
            <a:spAutoFit/>
          </a:bodyPr>
          <a:lstStyle/>
          <a:p>
            <a:pPr algn="l"/>
            <a:r>
              <a:rPr sz="1300" b="0">
                <a:solidFill>
                  <a:srgbClr val="141414"/>
                </a:solidFill>
                <a:latin typeface="Aptos"/>
              </a:rPr>
              <a:t>Recent studies</a:t>
            </a:r>
          </a:p>
        </p:txBody>
      </p:sp>
      <p:sp>
        <p:nvSpPr>
          <p:cNvPr id="21" name="Rectangle 20"/>
          <p:cNvSpPr/>
          <p:nvPr/>
        </p:nvSpPr>
        <p:spPr>
          <a:xfrm>
            <a:off x="3566160" y="2029967"/>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2" name="TextBox 21"/>
          <p:cNvSpPr txBox="1"/>
          <p:nvPr/>
        </p:nvSpPr>
        <p:spPr>
          <a:xfrm>
            <a:off x="3602736" y="2075687"/>
            <a:ext cx="475488" cy="369332"/>
          </a:xfrm>
          <a:prstGeom prst="rect">
            <a:avLst/>
          </a:prstGeom>
          <a:noFill/>
        </p:spPr>
        <p:txBody>
          <a:bodyPr wrap="square">
            <a:spAutoFit/>
          </a:bodyPr>
          <a:lstStyle/>
          <a:p>
            <a:pPr algn="l"/>
            <a:r>
              <a:rPr sz="900" b="0">
                <a:solidFill>
                  <a:srgbClr val="141414"/>
                </a:solidFill>
                <a:latin typeface="Aptos"/>
              </a:rPr>
              <a:t>2022–24</a:t>
            </a:r>
          </a:p>
        </p:txBody>
      </p:sp>
      <p:sp>
        <p:nvSpPr>
          <p:cNvPr id="23" name="Rectangle 22"/>
          <p:cNvSpPr/>
          <p:nvPr/>
        </p:nvSpPr>
        <p:spPr>
          <a:xfrm>
            <a:off x="4114800" y="2029967"/>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4" name="TextBox 23"/>
          <p:cNvSpPr txBox="1"/>
          <p:nvPr/>
        </p:nvSpPr>
        <p:spPr>
          <a:xfrm>
            <a:off x="4151376" y="2075687"/>
            <a:ext cx="1344168" cy="492443"/>
          </a:xfrm>
          <a:prstGeom prst="rect">
            <a:avLst/>
          </a:prstGeom>
          <a:noFill/>
        </p:spPr>
        <p:txBody>
          <a:bodyPr wrap="square">
            <a:spAutoFit/>
          </a:bodyPr>
          <a:lstStyle/>
          <a:p>
            <a:pPr algn="l"/>
            <a:r>
              <a:rPr sz="1300" b="0">
                <a:solidFill>
                  <a:srgbClr val="141414"/>
                </a:solidFill>
                <a:latin typeface="Aptos"/>
              </a:rPr>
              <a:t>Two-stream recurrent</a:t>
            </a:r>
          </a:p>
        </p:txBody>
      </p:sp>
      <p:sp>
        <p:nvSpPr>
          <p:cNvPr id="25" name="Rectangle 24"/>
          <p:cNvSpPr/>
          <p:nvPr/>
        </p:nvSpPr>
        <p:spPr>
          <a:xfrm>
            <a:off x="5532120" y="2029967"/>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6" name="TextBox 25"/>
          <p:cNvSpPr txBox="1"/>
          <p:nvPr/>
        </p:nvSpPr>
        <p:spPr>
          <a:xfrm>
            <a:off x="5568696" y="2075687"/>
            <a:ext cx="2670048" cy="492443"/>
          </a:xfrm>
          <a:prstGeom prst="rect">
            <a:avLst/>
          </a:prstGeom>
          <a:noFill/>
        </p:spPr>
        <p:txBody>
          <a:bodyPr wrap="square">
            <a:spAutoFit/>
          </a:bodyPr>
          <a:lstStyle/>
          <a:p>
            <a:pPr algn="l"/>
            <a:r>
              <a:rPr sz="1300" b="0">
                <a:solidFill>
                  <a:srgbClr val="141414"/>
                </a:solidFill>
                <a:latin typeface="Aptos"/>
              </a:rPr>
              <a:t>Separates complementary temporal/spatial representations.</a:t>
            </a:r>
          </a:p>
        </p:txBody>
      </p:sp>
      <p:sp>
        <p:nvSpPr>
          <p:cNvPr id="27" name="Rectangle 26"/>
          <p:cNvSpPr/>
          <p:nvPr/>
        </p:nvSpPr>
        <p:spPr>
          <a:xfrm>
            <a:off x="8275320" y="2029967"/>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8" name="TextBox 27"/>
          <p:cNvSpPr txBox="1"/>
          <p:nvPr/>
        </p:nvSpPr>
        <p:spPr>
          <a:xfrm>
            <a:off x="8311896" y="2075687"/>
            <a:ext cx="3538728" cy="292388"/>
          </a:xfrm>
          <a:prstGeom prst="rect">
            <a:avLst/>
          </a:prstGeom>
          <a:noFill/>
        </p:spPr>
        <p:txBody>
          <a:bodyPr wrap="square">
            <a:spAutoFit/>
          </a:bodyPr>
          <a:lstStyle/>
          <a:p>
            <a:pPr algn="l"/>
            <a:r>
              <a:rPr sz="1300" b="0">
                <a:solidFill>
                  <a:srgbClr val="141414"/>
                </a:solidFill>
                <a:latin typeface="Aptos"/>
              </a:rPr>
              <a:t>High data dependency.</a:t>
            </a:r>
          </a:p>
        </p:txBody>
      </p:sp>
      <p:sp>
        <p:nvSpPr>
          <p:cNvPr id="29" name="Rectangle 28"/>
          <p:cNvSpPr/>
          <p:nvPr/>
        </p:nvSpPr>
        <p:spPr>
          <a:xfrm>
            <a:off x="320040" y="2779776"/>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0" name="TextBox 29"/>
          <p:cNvSpPr txBox="1"/>
          <p:nvPr/>
        </p:nvSpPr>
        <p:spPr>
          <a:xfrm>
            <a:off x="356615" y="2825496"/>
            <a:ext cx="1938528" cy="492443"/>
          </a:xfrm>
          <a:prstGeom prst="rect">
            <a:avLst/>
          </a:prstGeom>
          <a:noFill/>
        </p:spPr>
        <p:txBody>
          <a:bodyPr wrap="square">
            <a:spAutoFit/>
          </a:bodyPr>
          <a:lstStyle/>
          <a:p>
            <a:pPr algn="l"/>
            <a:r>
              <a:rPr sz="1300" b="0">
                <a:solidFill>
                  <a:srgbClr val="141414"/>
                </a:solidFill>
                <a:latin typeface="Aptos"/>
              </a:rPr>
              <a:t>Spatiotemporal GNN rainfall</a:t>
            </a:r>
          </a:p>
        </p:txBody>
      </p:sp>
      <p:sp>
        <p:nvSpPr>
          <p:cNvPr id="31" name="Rectangle 30"/>
          <p:cNvSpPr/>
          <p:nvPr/>
        </p:nvSpPr>
        <p:spPr>
          <a:xfrm>
            <a:off x="2331720" y="2779776"/>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2" name="TextBox 31"/>
          <p:cNvSpPr txBox="1"/>
          <p:nvPr/>
        </p:nvSpPr>
        <p:spPr>
          <a:xfrm>
            <a:off x="2368296" y="2825496"/>
            <a:ext cx="1161288" cy="492443"/>
          </a:xfrm>
          <a:prstGeom prst="rect">
            <a:avLst/>
          </a:prstGeom>
          <a:noFill/>
        </p:spPr>
        <p:txBody>
          <a:bodyPr wrap="square">
            <a:spAutoFit/>
          </a:bodyPr>
          <a:lstStyle/>
          <a:p>
            <a:pPr algn="l"/>
            <a:r>
              <a:rPr sz="1300" b="0">
                <a:solidFill>
                  <a:srgbClr val="141414"/>
                </a:solidFill>
                <a:latin typeface="Aptos"/>
              </a:rPr>
              <a:t>Recent GNN studies</a:t>
            </a:r>
          </a:p>
        </p:txBody>
      </p:sp>
      <p:sp>
        <p:nvSpPr>
          <p:cNvPr id="33" name="Rectangle 32"/>
          <p:cNvSpPr/>
          <p:nvPr/>
        </p:nvSpPr>
        <p:spPr>
          <a:xfrm>
            <a:off x="3566160" y="2779776"/>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4" name="TextBox 33"/>
          <p:cNvSpPr txBox="1"/>
          <p:nvPr/>
        </p:nvSpPr>
        <p:spPr>
          <a:xfrm>
            <a:off x="3602736" y="2825496"/>
            <a:ext cx="475488" cy="369332"/>
          </a:xfrm>
          <a:prstGeom prst="rect">
            <a:avLst/>
          </a:prstGeom>
          <a:noFill/>
        </p:spPr>
        <p:txBody>
          <a:bodyPr wrap="square">
            <a:spAutoFit/>
          </a:bodyPr>
          <a:lstStyle/>
          <a:p>
            <a:pPr algn="l"/>
            <a:r>
              <a:rPr sz="900" b="0">
                <a:solidFill>
                  <a:srgbClr val="141414"/>
                </a:solidFill>
                <a:latin typeface="Aptos"/>
              </a:rPr>
              <a:t>2022–25</a:t>
            </a:r>
          </a:p>
        </p:txBody>
      </p:sp>
      <p:sp>
        <p:nvSpPr>
          <p:cNvPr id="35" name="Rectangle 34"/>
          <p:cNvSpPr/>
          <p:nvPr/>
        </p:nvSpPr>
        <p:spPr>
          <a:xfrm>
            <a:off x="4114800" y="2779776"/>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6" name="TextBox 35"/>
          <p:cNvSpPr txBox="1"/>
          <p:nvPr/>
        </p:nvSpPr>
        <p:spPr>
          <a:xfrm>
            <a:off x="4151376" y="2825496"/>
            <a:ext cx="1344168" cy="492443"/>
          </a:xfrm>
          <a:prstGeom prst="rect">
            <a:avLst/>
          </a:prstGeom>
          <a:noFill/>
        </p:spPr>
        <p:txBody>
          <a:bodyPr wrap="square">
            <a:spAutoFit/>
          </a:bodyPr>
          <a:lstStyle/>
          <a:p>
            <a:pPr algn="l"/>
            <a:r>
              <a:rPr sz="1300" b="0">
                <a:solidFill>
                  <a:srgbClr val="141414"/>
                </a:solidFill>
                <a:latin typeface="Aptos"/>
              </a:rPr>
              <a:t>Graph neural network</a:t>
            </a:r>
          </a:p>
        </p:txBody>
      </p:sp>
      <p:sp>
        <p:nvSpPr>
          <p:cNvPr id="37" name="Rectangle 36"/>
          <p:cNvSpPr/>
          <p:nvPr/>
        </p:nvSpPr>
        <p:spPr>
          <a:xfrm>
            <a:off x="5532120" y="2779776"/>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8" name="TextBox 37"/>
          <p:cNvSpPr txBox="1"/>
          <p:nvPr/>
        </p:nvSpPr>
        <p:spPr>
          <a:xfrm>
            <a:off x="5568696" y="2825496"/>
            <a:ext cx="2670048" cy="492443"/>
          </a:xfrm>
          <a:prstGeom prst="rect">
            <a:avLst/>
          </a:prstGeom>
          <a:noFill/>
        </p:spPr>
        <p:txBody>
          <a:bodyPr wrap="square">
            <a:spAutoFit/>
          </a:bodyPr>
          <a:lstStyle/>
          <a:p>
            <a:pPr algn="l"/>
            <a:r>
              <a:rPr sz="1300" b="0">
                <a:solidFill>
                  <a:srgbClr val="141414"/>
                </a:solidFill>
                <a:latin typeface="Aptos"/>
              </a:rPr>
              <a:t>Represents stations as nodes and spatial relations as edges.</a:t>
            </a:r>
          </a:p>
        </p:txBody>
      </p:sp>
      <p:sp>
        <p:nvSpPr>
          <p:cNvPr id="39" name="Rectangle 38"/>
          <p:cNvSpPr/>
          <p:nvPr/>
        </p:nvSpPr>
        <p:spPr>
          <a:xfrm>
            <a:off x="8275320" y="2779776"/>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0" name="TextBox 39"/>
          <p:cNvSpPr txBox="1"/>
          <p:nvPr/>
        </p:nvSpPr>
        <p:spPr>
          <a:xfrm>
            <a:off x="8311896" y="2825496"/>
            <a:ext cx="3538728" cy="292388"/>
          </a:xfrm>
          <a:prstGeom prst="rect">
            <a:avLst/>
          </a:prstGeom>
          <a:noFill/>
        </p:spPr>
        <p:txBody>
          <a:bodyPr wrap="square">
            <a:spAutoFit/>
          </a:bodyPr>
          <a:lstStyle/>
          <a:p>
            <a:pPr algn="l"/>
            <a:r>
              <a:rPr sz="1300" b="0">
                <a:solidFill>
                  <a:srgbClr val="141414"/>
                </a:solidFill>
                <a:latin typeface="Aptos"/>
              </a:rPr>
              <a:t>Graph design required for sparse PWS.</a:t>
            </a:r>
          </a:p>
        </p:txBody>
      </p:sp>
      <p:sp>
        <p:nvSpPr>
          <p:cNvPr id="41" name="Rectangle 40"/>
          <p:cNvSpPr/>
          <p:nvPr/>
        </p:nvSpPr>
        <p:spPr>
          <a:xfrm>
            <a:off x="320040" y="3529584"/>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2" name="TextBox 41"/>
          <p:cNvSpPr txBox="1"/>
          <p:nvPr/>
        </p:nvSpPr>
        <p:spPr>
          <a:xfrm>
            <a:off x="356615" y="3575303"/>
            <a:ext cx="1938528" cy="292388"/>
          </a:xfrm>
          <a:prstGeom prst="rect">
            <a:avLst/>
          </a:prstGeom>
          <a:noFill/>
        </p:spPr>
        <p:txBody>
          <a:bodyPr wrap="square">
            <a:spAutoFit/>
          </a:bodyPr>
          <a:lstStyle/>
          <a:p>
            <a:pPr algn="l"/>
            <a:r>
              <a:rPr sz="1300" b="0">
                <a:solidFill>
                  <a:srgbClr val="141414"/>
                </a:solidFill>
                <a:latin typeface="Aptos"/>
              </a:rPr>
              <a:t>ST-GRF</a:t>
            </a:r>
          </a:p>
        </p:txBody>
      </p:sp>
      <p:sp>
        <p:nvSpPr>
          <p:cNvPr id="43" name="Rectangle 42"/>
          <p:cNvSpPr/>
          <p:nvPr/>
        </p:nvSpPr>
        <p:spPr>
          <a:xfrm>
            <a:off x="2331720" y="3529584"/>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4" name="TextBox 43"/>
          <p:cNvSpPr txBox="1"/>
          <p:nvPr/>
        </p:nvSpPr>
        <p:spPr>
          <a:xfrm>
            <a:off x="2368296" y="3575303"/>
            <a:ext cx="1161288" cy="492443"/>
          </a:xfrm>
          <a:prstGeom prst="rect">
            <a:avLst/>
          </a:prstGeom>
          <a:noFill/>
        </p:spPr>
        <p:txBody>
          <a:bodyPr wrap="square">
            <a:spAutoFit/>
          </a:bodyPr>
          <a:lstStyle/>
          <a:p>
            <a:pPr algn="l"/>
            <a:r>
              <a:rPr sz="1300" b="0">
                <a:solidFill>
                  <a:srgbClr val="141414"/>
                </a:solidFill>
                <a:latin typeface="Aptos"/>
              </a:rPr>
              <a:t>Recent research</a:t>
            </a:r>
          </a:p>
        </p:txBody>
      </p:sp>
      <p:sp>
        <p:nvSpPr>
          <p:cNvPr id="45" name="Rectangle 44"/>
          <p:cNvSpPr/>
          <p:nvPr/>
        </p:nvSpPr>
        <p:spPr>
          <a:xfrm>
            <a:off x="3566160" y="3529584"/>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6" name="TextBox 45"/>
          <p:cNvSpPr txBox="1"/>
          <p:nvPr/>
        </p:nvSpPr>
        <p:spPr>
          <a:xfrm>
            <a:off x="3602736" y="3575303"/>
            <a:ext cx="475488" cy="230832"/>
          </a:xfrm>
          <a:prstGeom prst="rect">
            <a:avLst/>
          </a:prstGeom>
          <a:noFill/>
        </p:spPr>
        <p:txBody>
          <a:bodyPr wrap="square">
            <a:spAutoFit/>
          </a:bodyPr>
          <a:lstStyle/>
          <a:p>
            <a:pPr algn="l"/>
            <a:r>
              <a:rPr sz="900" b="0">
                <a:solidFill>
                  <a:srgbClr val="141414"/>
                </a:solidFill>
                <a:latin typeface="Aptos"/>
              </a:rPr>
              <a:t>2023</a:t>
            </a:r>
          </a:p>
        </p:txBody>
      </p:sp>
      <p:sp>
        <p:nvSpPr>
          <p:cNvPr id="47" name="Rectangle 46"/>
          <p:cNvSpPr/>
          <p:nvPr/>
        </p:nvSpPr>
        <p:spPr>
          <a:xfrm>
            <a:off x="4114800" y="3529584"/>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48" name="TextBox 47"/>
          <p:cNvSpPr txBox="1"/>
          <p:nvPr/>
        </p:nvSpPr>
        <p:spPr>
          <a:xfrm>
            <a:off x="4151376" y="3575303"/>
            <a:ext cx="1344168" cy="492443"/>
          </a:xfrm>
          <a:prstGeom prst="rect">
            <a:avLst/>
          </a:prstGeom>
          <a:noFill/>
        </p:spPr>
        <p:txBody>
          <a:bodyPr wrap="square">
            <a:spAutoFit/>
          </a:bodyPr>
          <a:lstStyle/>
          <a:p>
            <a:pPr algn="l"/>
            <a:r>
              <a:rPr sz="1300" b="0">
                <a:solidFill>
                  <a:srgbClr val="141414"/>
                </a:solidFill>
                <a:latin typeface="Aptos"/>
              </a:rPr>
              <a:t>Spatiotemporal graph</a:t>
            </a:r>
          </a:p>
        </p:txBody>
      </p:sp>
      <p:sp>
        <p:nvSpPr>
          <p:cNvPr id="49" name="Rectangle 48"/>
          <p:cNvSpPr/>
          <p:nvPr/>
        </p:nvSpPr>
        <p:spPr>
          <a:xfrm>
            <a:off x="5532120" y="3529584"/>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0" name="TextBox 49"/>
          <p:cNvSpPr txBox="1"/>
          <p:nvPr/>
        </p:nvSpPr>
        <p:spPr>
          <a:xfrm>
            <a:off x="5568696" y="3575303"/>
            <a:ext cx="2670048" cy="492443"/>
          </a:xfrm>
          <a:prstGeom prst="rect">
            <a:avLst/>
          </a:prstGeom>
          <a:noFill/>
        </p:spPr>
        <p:txBody>
          <a:bodyPr wrap="square">
            <a:spAutoFit/>
          </a:bodyPr>
          <a:lstStyle/>
          <a:p>
            <a:pPr algn="l"/>
            <a:r>
              <a:rPr sz="1300" b="0">
                <a:solidFill>
                  <a:srgbClr val="141414"/>
                </a:solidFill>
                <a:latin typeface="Aptos"/>
              </a:rPr>
              <a:t>Models spatial and temporal dependencies jointly.</a:t>
            </a:r>
          </a:p>
        </p:txBody>
      </p:sp>
      <p:sp>
        <p:nvSpPr>
          <p:cNvPr id="51" name="Rectangle 50"/>
          <p:cNvSpPr/>
          <p:nvPr/>
        </p:nvSpPr>
        <p:spPr>
          <a:xfrm>
            <a:off x="8275320" y="3529584"/>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2" name="TextBox 51"/>
          <p:cNvSpPr txBox="1"/>
          <p:nvPr/>
        </p:nvSpPr>
        <p:spPr>
          <a:xfrm>
            <a:off x="8311896" y="3575303"/>
            <a:ext cx="3538728" cy="292388"/>
          </a:xfrm>
          <a:prstGeom prst="rect">
            <a:avLst/>
          </a:prstGeom>
          <a:noFill/>
        </p:spPr>
        <p:txBody>
          <a:bodyPr wrap="square">
            <a:spAutoFit/>
          </a:bodyPr>
          <a:lstStyle/>
          <a:p>
            <a:pPr algn="l"/>
            <a:r>
              <a:rPr sz="1300" b="0">
                <a:solidFill>
                  <a:srgbClr val="141414"/>
                </a:solidFill>
                <a:latin typeface="Aptos"/>
              </a:rPr>
              <a:t>Operational regional integration remains open.</a:t>
            </a:r>
          </a:p>
        </p:txBody>
      </p:sp>
      <p:sp>
        <p:nvSpPr>
          <p:cNvPr id="53" name="Rectangle 52"/>
          <p:cNvSpPr/>
          <p:nvPr/>
        </p:nvSpPr>
        <p:spPr>
          <a:xfrm>
            <a:off x="320040" y="4279392"/>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4" name="TextBox 53"/>
          <p:cNvSpPr txBox="1"/>
          <p:nvPr/>
        </p:nvSpPr>
        <p:spPr>
          <a:xfrm>
            <a:off x="356615" y="4325112"/>
            <a:ext cx="1938528" cy="292388"/>
          </a:xfrm>
          <a:prstGeom prst="rect">
            <a:avLst/>
          </a:prstGeom>
          <a:noFill/>
        </p:spPr>
        <p:txBody>
          <a:bodyPr wrap="square">
            <a:spAutoFit/>
          </a:bodyPr>
          <a:lstStyle/>
          <a:p>
            <a:pPr algn="l"/>
            <a:r>
              <a:rPr sz="1300" b="0">
                <a:solidFill>
                  <a:srgbClr val="141414"/>
                </a:solidFill>
                <a:latin typeface="Aptos"/>
              </a:rPr>
              <a:t>GIPMN / NWP + GNN</a:t>
            </a:r>
          </a:p>
        </p:txBody>
      </p:sp>
      <p:sp>
        <p:nvSpPr>
          <p:cNvPr id="55" name="Rectangle 54"/>
          <p:cNvSpPr/>
          <p:nvPr/>
        </p:nvSpPr>
        <p:spPr>
          <a:xfrm>
            <a:off x="2331720" y="4279392"/>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6" name="TextBox 55"/>
          <p:cNvSpPr txBox="1"/>
          <p:nvPr/>
        </p:nvSpPr>
        <p:spPr>
          <a:xfrm>
            <a:off x="2368296" y="4325112"/>
            <a:ext cx="1161288" cy="692497"/>
          </a:xfrm>
          <a:prstGeom prst="rect">
            <a:avLst/>
          </a:prstGeom>
          <a:noFill/>
        </p:spPr>
        <p:txBody>
          <a:bodyPr wrap="square">
            <a:spAutoFit/>
          </a:bodyPr>
          <a:lstStyle/>
          <a:p>
            <a:pPr algn="l"/>
            <a:r>
              <a:rPr sz="1300" b="0">
                <a:solidFill>
                  <a:srgbClr val="141414"/>
                </a:solidFill>
                <a:latin typeface="Aptos"/>
              </a:rPr>
              <a:t>Recent hybrid studies</a:t>
            </a:r>
          </a:p>
        </p:txBody>
      </p:sp>
      <p:sp>
        <p:nvSpPr>
          <p:cNvPr id="57" name="Rectangle 56"/>
          <p:cNvSpPr/>
          <p:nvPr/>
        </p:nvSpPr>
        <p:spPr>
          <a:xfrm>
            <a:off x="3566160" y="4279392"/>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8" name="TextBox 57"/>
          <p:cNvSpPr txBox="1"/>
          <p:nvPr/>
        </p:nvSpPr>
        <p:spPr>
          <a:xfrm>
            <a:off x="3602736" y="4325112"/>
            <a:ext cx="475488" cy="369332"/>
          </a:xfrm>
          <a:prstGeom prst="rect">
            <a:avLst/>
          </a:prstGeom>
          <a:noFill/>
        </p:spPr>
        <p:txBody>
          <a:bodyPr wrap="square">
            <a:spAutoFit/>
          </a:bodyPr>
          <a:lstStyle/>
          <a:p>
            <a:pPr algn="l"/>
            <a:r>
              <a:rPr sz="900" b="0">
                <a:solidFill>
                  <a:srgbClr val="141414"/>
                </a:solidFill>
                <a:latin typeface="Aptos"/>
              </a:rPr>
              <a:t>2024–25</a:t>
            </a:r>
          </a:p>
        </p:txBody>
      </p:sp>
      <p:sp>
        <p:nvSpPr>
          <p:cNvPr id="59" name="Rectangle 58"/>
          <p:cNvSpPr/>
          <p:nvPr/>
        </p:nvSpPr>
        <p:spPr>
          <a:xfrm>
            <a:off x="4114800" y="4279392"/>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0" name="TextBox 59"/>
          <p:cNvSpPr txBox="1"/>
          <p:nvPr/>
        </p:nvSpPr>
        <p:spPr>
          <a:xfrm>
            <a:off x="4151376" y="4325112"/>
            <a:ext cx="1344168" cy="292388"/>
          </a:xfrm>
          <a:prstGeom prst="rect">
            <a:avLst/>
          </a:prstGeom>
          <a:noFill/>
        </p:spPr>
        <p:txBody>
          <a:bodyPr wrap="square">
            <a:spAutoFit/>
          </a:bodyPr>
          <a:lstStyle/>
          <a:p>
            <a:pPr algn="l"/>
            <a:r>
              <a:rPr sz="1300" b="0">
                <a:solidFill>
                  <a:srgbClr val="141414"/>
                </a:solidFill>
                <a:latin typeface="Aptos"/>
              </a:rPr>
              <a:t>NWP + GNN</a:t>
            </a:r>
          </a:p>
        </p:txBody>
      </p:sp>
      <p:sp>
        <p:nvSpPr>
          <p:cNvPr id="61" name="Rectangle 60"/>
          <p:cNvSpPr/>
          <p:nvPr/>
        </p:nvSpPr>
        <p:spPr>
          <a:xfrm>
            <a:off x="5532120" y="4279392"/>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2" name="TextBox 61"/>
          <p:cNvSpPr txBox="1"/>
          <p:nvPr/>
        </p:nvSpPr>
        <p:spPr>
          <a:xfrm>
            <a:off x="5568696" y="4325112"/>
            <a:ext cx="2670048" cy="692497"/>
          </a:xfrm>
          <a:prstGeom prst="rect">
            <a:avLst/>
          </a:prstGeom>
          <a:noFill/>
        </p:spPr>
        <p:txBody>
          <a:bodyPr wrap="square">
            <a:spAutoFit/>
          </a:bodyPr>
          <a:lstStyle/>
          <a:p>
            <a:pPr algn="l"/>
            <a:r>
              <a:rPr sz="1300" b="0">
                <a:solidFill>
                  <a:srgbClr val="141414"/>
                </a:solidFill>
                <a:latin typeface="Aptos"/>
              </a:rPr>
              <a:t>Combines physics-based forecast context with learned spatial relations.</a:t>
            </a:r>
          </a:p>
        </p:txBody>
      </p:sp>
      <p:sp>
        <p:nvSpPr>
          <p:cNvPr id="63" name="Rectangle 62"/>
          <p:cNvSpPr/>
          <p:nvPr/>
        </p:nvSpPr>
        <p:spPr>
          <a:xfrm>
            <a:off x="8275320" y="4279392"/>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4" name="TextBox 63"/>
          <p:cNvSpPr txBox="1"/>
          <p:nvPr/>
        </p:nvSpPr>
        <p:spPr>
          <a:xfrm>
            <a:off x="8311896" y="4325112"/>
            <a:ext cx="3538728" cy="292388"/>
          </a:xfrm>
          <a:prstGeom prst="rect">
            <a:avLst/>
          </a:prstGeom>
          <a:noFill/>
        </p:spPr>
        <p:txBody>
          <a:bodyPr wrap="square">
            <a:spAutoFit/>
          </a:bodyPr>
          <a:lstStyle/>
          <a:p>
            <a:pPr algn="l"/>
            <a:r>
              <a:rPr sz="1300" b="0">
                <a:solidFill>
                  <a:srgbClr val="141414"/>
                </a:solidFill>
                <a:latin typeface="Aptos"/>
              </a:rPr>
              <a:t>Alignment and computational complexity.</a:t>
            </a:r>
          </a:p>
        </p:txBody>
      </p:sp>
      <p:sp>
        <p:nvSpPr>
          <p:cNvPr id="65" name="Rectangle 64"/>
          <p:cNvSpPr/>
          <p:nvPr/>
        </p:nvSpPr>
        <p:spPr>
          <a:xfrm>
            <a:off x="320040" y="5029200"/>
            <a:ext cx="20116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6" name="TextBox 65"/>
          <p:cNvSpPr txBox="1"/>
          <p:nvPr/>
        </p:nvSpPr>
        <p:spPr>
          <a:xfrm>
            <a:off x="356615" y="5074920"/>
            <a:ext cx="1938528" cy="492443"/>
          </a:xfrm>
          <a:prstGeom prst="rect">
            <a:avLst/>
          </a:prstGeom>
          <a:noFill/>
        </p:spPr>
        <p:txBody>
          <a:bodyPr wrap="square">
            <a:spAutoFit/>
          </a:bodyPr>
          <a:lstStyle/>
          <a:p>
            <a:pPr algn="l"/>
            <a:r>
              <a:rPr sz="1300" b="0">
                <a:solidFill>
                  <a:srgbClr val="141414"/>
                </a:solidFill>
                <a:latin typeface="Aptos"/>
              </a:rPr>
              <a:t>RF/XGBoost rainfall comparison</a:t>
            </a:r>
          </a:p>
        </p:txBody>
      </p:sp>
      <p:sp>
        <p:nvSpPr>
          <p:cNvPr id="67" name="Rectangle 66"/>
          <p:cNvSpPr/>
          <p:nvPr/>
        </p:nvSpPr>
        <p:spPr>
          <a:xfrm>
            <a:off x="2331720" y="5029200"/>
            <a:ext cx="12344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8" name="TextBox 67"/>
          <p:cNvSpPr txBox="1"/>
          <p:nvPr/>
        </p:nvSpPr>
        <p:spPr>
          <a:xfrm>
            <a:off x="2368296" y="5074920"/>
            <a:ext cx="1161288" cy="492443"/>
          </a:xfrm>
          <a:prstGeom prst="rect">
            <a:avLst/>
          </a:prstGeom>
          <a:noFill/>
        </p:spPr>
        <p:txBody>
          <a:bodyPr wrap="square">
            <a:spAutoFit/>
          </a:bodyPr>
          <a:lstStyle/>
          <a:p>
            <a:pPr algn="l"/>
            <a:r>
              <a:rPr sz="1300" b="0">
                <a:solidFill>
                  <a:srgbClr val="141414"/>
                </a:solidFill>
                <a:latin typeface="Aptos"/>
              </a:rPr>
              <a:t>Applied weather ML</a:t>
            </a:r>
          </a:p>
        </p:txBody>
      </p:sp>
      <p:sp>
        <p:nvSpPr>
          <p:cNvPr id="69" name="Rectangle 68"/>
          <p:cNvSpPr/>
          <p:nvPr/>
        </p:nvSpPr>
        <p:spPr>
          <a:xfrm>
            <a:off x="3566160" y="5029200"/>
            <a:ext cx="54864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0" name="TextBox 69"/>
          <p:cNvSpPr txBox="1"/>
          <p:nvPr/>
        </p:nvSpPr>
        <p:spPr>
          <a:xfrm>
            <a:off x="3602736" y="5074920"/>
            <a:ext cx="475488" cy="369332"/>
          </a:xfrm>
          <a:prstGeom prst="rect">
            <a:avLst/>
          </a:prstGeom>
          <a:noFill/>
        </p:spPr>
        <p:txBody>
          <a:bodyPr wrap="square">
            <a:spAutoFit/>
          </a:bodyPr>
          <a:lstStyle/>
          <a:p>
            <a:pPr algn="l"/>
            <a:r>
              <a:rPr sz="900" b="0">
                <a:solidFill>
                  <a:srgbClr val="141414"/>
                </a:solidFill>
                <a:latin typeface="Aptos"/>
              </a:rPr>
              <a:t>2019–25</a:t>
            </a:r>
          </a:p>
        </p:txBody>
      </p:sp>
      <p:sp>
        <p:nvSpPr>
          <p:cNvPr id="71" name="Rectangle 70"/>
          <p:cNvSpPr/>
          <p:nvPr/>
        </p:nvSpPr>
        <p:spPr>
          <a:xfrm>
            <a:off x="4114800" y="5029200"/>
            <a:ext cx="141732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2" name="TextBox 71"/>
          <p:cNvSpPr txBox="1"/>
          <p:nvPr/>
        </p:nvSpPr>
        <p:spPr>
          <a:xfrm>
            <a:off x="4151376" y="5074920"/>
            <a:ext cx="1344168" cy="292388"/>
          </a:xfrm>
          <a:prstGeom prst="rect">
            <a:avLst/>
          </a:prstGeom>
          <a:noFill/>
        </p:spPr>
        <p:txBody>
          <a:bodyPr wrap="square">
            <a:spAutoFit/>
          </a:bodyPr>
          <a:lstStyle/>
          <a:p>
            <a:pPr algn="l"/>
            <a:r>
              <a:rPr sz="1300" b="0">
                <a:solidFill>
                  <a:srgbClr val="141414"/>
                </a:solidFill>
                <a:latin typeface="Aptos"/>
              </a:rPr>
              <a:t>Tree ensembles</a:t>
            </a:r>
          </a:p>
        </p:txBody>
      </p:sp>
      <p:sp>
        <p:nvSpPr>
          <p:cNvPr id="73" name="Rectangle 72"/>
          <p:cNvSpPr/>
          <p:nvPr/>
        </p:nvSpPr>
        <p:spPr>
          <a:xfrm>
            <a:off x="5532120" y="5029200"/>
            <a:ext cx="274320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4" name="TextBox 73"/>
          <p:cNvSpPr txBox="1"/>
          <p:nvPr/>
        </p:nvSpPr>
        <p:spPr>
          <a:xfrm>
            <a:off x="5568696" y="5074920"/>
            <a:ext cx="2670048" cy="492443"/>
          </a:xfrm>
          <a:prstGeom prst="rect">
            <a:avLst/>
          </a:prstGeom>
          <a:noFill/>
        </p:spPr>
        <p:txBody>
          <a:bodyPr wrap="square">
            <a:spAutoFit/>
          </a:bodyPr>
          <a:lstStyle/>
          <a:p>
            <a:pPr algn="l"/>
            <a:r>
              <a:rPr sz="1300" b="0">
                <a:solidFill>
                  <a:srgbClr val="141414"/>
                </a:solidFill>
                <a:latin typeface="Aptos"/>
              </a:rPr>
              <a:t>Strong baselines on engineered tabular weather data.</a:t>
            </a:r>
          </a:p>
        </p:txBody>
      </p:sp>
      <p:sp>
        <p:nvSpPr>
          <p:cNvPr id="75" name="Rectangle 74"/>
          <p:cNvSpPr/>
          <p:nvPr/>
        </p:nvSpPr>
        <p:spPr>
          <a:xfrm>
            <a:off x="8275320" y="5029200"/>
            <a:ext cx="3611880" cy="749808"/>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6" name="TextBox 75"/>
          <p:cNvSpPr txBox="1"/>
          <p:nvPr/>
        </p:nvSpPr>
        <p:spPr>
          <a:xfrm>
            <a:off x="8311896" y="5074920"/>
            <a:ext cx="3538728" cy="292388"/>
          </a:xfrm>
          <a:prstGeom prst="rect">
            <a:avLst/>
          </a:prstGeom>
          <a:noFill/>
        </p:spPr>
        <p:txBody>
          <a:bodyPr wrap="square">
            <a:spAutoFit/>
          </a:bodyPr>
          <a:lstStyle/>
          <a:p>
            <a:pPr algn="l"/>
            <a:r>
              <a:rPr sz="1300" b="0">
                <a:solidFill>
                  <a:srgbClr val="141414"/>
                </a:solidFill>
                <a:latin typeface="Aptos"/>
              </a:rPr>
              <a:t>Limited sequential spatial learning.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Scope &amp; Objectives</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5120640" cy="448056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p:cNvSpPr txBox="1"/>
          <p:nvPr/>
        </p:nvSpPr>
        <p:spPr>
          <a:xfrm>
            <a:off x="960120" y="1645920"/>
            <a:ext cx="4572000" cy="338554"/>
          </a:xfrm>
          <a:prstGeom prst="rect">
            <a:avLst/>
          </a:prstGeom>
          <a:noFill/>
        </p:spPr>
        <p:txBody>
          <a:bodyPr wrap="square">
            <a:spAutoFit/>
          </a:bodyPr>
          <a:lstStyle/>
          <a:p>
            <a:pPr algn="ctr"/>
            <a:r>
              <a:rPr sz="1600" b="1">
                <a:solidFill>
                  <a:srgbClr val="234869"/>
                </a:solidFill>
                <a:latin typeface="Aptos"/>
              </a:rPr>
              <a:t>PHASE 1 SCOPE</a:t>
            </a:r>
          </a:p>
        </p:txBody>
      </p:sp>
      <p:sp>
        <p:nvSpPr>
          <p:cNvPr id="7" name="TextBox 6"/>
          <p:cNvSpPr txBox="1"/>
          <p:nvPr/>
        </p:nvSpPr>
        <p:spPr>
          <a:xfrm>
            <a:off x="960120" y="2057400"/>
            <a:ext cx="4480560" cy="2382704"/>
          </a:xfrm>
          <a:prstGeom prst="rect">
            <a:avLst/>
          </a:prstGeom>
          <a:noFill/>
        </p:spPr>
        <p:txBody>
          <a:bodyPr wrap="square">
            <a:spAutoFit/>
          </a:bodyPr>
          <a:lstStyle/>
          <a:p>
            <a:pPr>
              <a:spcAft>
                <a:spcPts val="500"/>
              </a:spcAft>
              <a:defRPr sz="1250">
                <a:solidFill>
                  <a:srgbClr val="141414"/>
                </a:solidFill>
                <a:latin typeface="Aptos"/>
              </a:defRPr>
            </a:pPr>
            <a:r>
              <a:rPr sz="1600" dirty="0"/>
              <a:t>• Puducherry + nearby Tamil Nadu region.</a:t>
            </a:r>
          </a:p>
          <a:p>
            <a:pPr>
              <a:spcAft>
                <a:spcPts val="500"/>
              </a:spcAft>
              <a:defRPr sz="1250">
                <a:solidFill>
                  <a:srgbClr val="141414"/>
                </a:solidFill>
                <a:latin typeface="Aptos"/>
              </a:defRPr>
            </a:pPr>
            <a:r>
              <a:rPr sz="1600" dirty="0"/>
              <a:t>• Six live PWS stations currently integrated.</a:t>
            </a:r>
          </a:p>
          <a:p>
            <a:pPr>
              <a:spcAft>
                <a:spcPts val="500"/>
              </a:spcAft>
              <a:defRPr sz="1250">
                <a:solidFill>
                  <a:srgbClr val="141414"/>
                </a:solidFill>
                <a:latin typeface="Aptos"/>
              </a:defRPr>
            </a:pPr>
            <a:r>
              <a:rPr sz="1600"/>
              <a:t>• </a:t>
            </a:r>
            <a:r>
              <a:rPr lang="en-US" sz="1600"/>
              <a:t>3</a:t>
            </a:r>
            <a:r>
              <a:rPr sz="1600"/>
              <a:t>0-second ingestion and 48-hour startup backfill.</a:t>
            </a:r>
          </a:p>
          <a:p>
            <a:pPr>
              <a:spcAft>
                <a:spcPts val="500"/>
              </a:spcAft>
              <a:defRPr sz="1250">
                <a:solidFill>
                  <a:srgbClr val="141414"/>
                </a:solidFill>
                <a:latin typeface="Aptos"/>
              </a:defRPr>
            </a:pPr>
            <a:r>
              <a:rPr sz="1600" dirty="0"/>
              <a:t>• Persistent weather time series in SQLite.</a:t>
            </a:r>
          </a:p>
          <a:p>
            <a:pPr>
              <a:spcAft>
                <a:spcPts val="500"/>
              </a:spcAft>
              <a:defRPr sz="1250">
                <a:solidFill>
                  <a:srgbClr val="141414"/>
                </a:solidFill>
                <a:latin typeface="Aptos"/>
              </a:defRPr>
            </a:pPr>
            <a:r>
              <a:rPr sz="1600" dirty="0"/>
              <a:t>• Domain-based feature engineering.</a:t>
            </a:r>
          </a:p>
          <a:p>
            <a:pPr>
              <a:spcAft>
                <a:spcPts val="500"/>
              </a:spcAft>
              <a:defRPr sz="1250">
                <a:solidFill>
                  <a:srgbClr val="141414"/>
                </a:solidFill>
                <a:latin typeface="Aptos"/>
              </a:defRPr>
            </a:pPr>
            <a:r>
              <a:rPr sz="1600" dirty="0"/>
              <a:t>• Live monitoring dashboard with 30-second refresh.</a:t>
            </a:r>
          </a:p>
        </p:txBody>
      </p:sp>
      <p:sp>
        <p:nvSpPr>
          <p:cNvPr id="8" name="Rounded Rectangle 7"/>
          <p:cNvSpPr/>
          <p:nvPr/>
        </p:nvSpPr>
        <p:spPr>
          <a:xfrm>
            <a:off x="6172200" y="1371600"/>
            <a:ext cx="5120640" cy="448056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p:cNvSpPr txBox="1"/>
          <p:nvPr/>
        </p:nvSpPr>
        <p:spPr>
          <a:xfrm>
            <a:off x="6400800" y="1645920"/>
            <a:ext cx="4572000" cy="338554"/>
          </a:xfrm>
          <a:prstGeom prst="rect">
            <a:avLst/>
          </a:prstGeom>
          <a:noFill/>
        </p:spPr>
        <p:txBody>
          <a:bodyPr wrap="square">
            <a:spAutoFit/>
          </a:bodyPr>
          <a:lstStyle/>
          <a:p>
            <a:pPr algn="ctr"/>
            <a:r>
              <a:rPr sz="1600" b="1">
                <a:solidFill>
                  <a:srgbClr val="234869"/>
                </a:solidFill>
                <a:latin typeface="Aptos"/>
              </a:rPr>
              <a:t>PROJECT OBJECTIVES</a:t>
            </a:r>
          </a:p>
        </p:txBody>
      </p:sp>
      <p:sp>
        <p:nvSpPr>
          <p:cNvPr id="10" name="TextBox 9"/>
          <p:cNvSpPr txBox="1"/>
          <p:nvPr/>
        </p:nvSpPr>
        <p:spPr>
          <a:xfrm>
            <a:off x="6400800" y="2057400"/>
            <a:ext cx="4480560" cy="3121367"/>
          </a:xfrm>
          <a:prstGeom prst="rect">
            <a:avLst/>
          </a:prstGeom>
          <a:noFill/>
        </p:spPr>
        <p:txBody>
          <a:bodyPr wrap="square">
            <a:spAutoFit/>
          </a:bodyPr>
          <a:lstStyle/>
          <a:p>
            <a:pPr>
              <a:spcAft>
                <a:spcPts val="500"/>
              </a:spcAft>
              <a:defRPr sz="1250">
                <a:solidFill>
                  <a:srgbClr val="141414"/>
                </a:solidFill>
                <a:latin typeface="Aptos"/>
              </a:defRPr>
            </a:pPr>
            <a:r>
              <a:rPr sz="1600"/>
              <a:t>• Create a reliable multi-source weather ingestion pipeline.</a:t>
            </a:r>
          </a:p>
          <a:p>
            <a:pPr>
              <a:spcAft>
                <a:spcPts val="500"/>
              </a:spcAft>
              <a:defRPr sz="1250">
                <a:solidFill>
                  <a:srgbClr val="141414"/>
                </a:solidFill>
                <a:latin typeface="Aptos"/>
              </a:defRPr>
            </a:pPr>
            <a:r>
              <a:rPr sz="1600"/>
              <a:t>• Prepare clean time-aligned data for ML.</a:t>
            </a:r>
          </a:p>
          <a:p>
            <a:pPr>
              <a:spcAft>
                <a:spcPts val="500"/>
              </a:spcAft>
              <a:defRPr sz="1250">
                <a:solidFill>
                  <a:srgbClr val="141414"/>
                </a:solidFill>
                <a:latin typeface="Aptos"/>
              </a:defRPr>
            </a:pPr>
            <a:r>
              <a:rPr sz="1600"/>
              <a:t>• Develop and compare 0–3h rainfall nowcasting models.</a:t>
            </a:r>
          </a:p>
          <a:p>
            <a:pPr>
              <a:spcAft>
                <a:spcPts val="500"/>
              </a:spcAft>
              <a:defRPr sz="1250">
                <a:solidFill>
                  <a:srgbClr val="141414"/>
                </a:solidFill>
                <a:latin typeface="Aptos"/>
              </a:defRPr>
            </a:pPr>
            <a:r>
              <a:rPr sz="1600"/>
              <a:t>• Add ECMWF NWP visualization as broader context.</a:t>
            </a:r>
          </a:p>
          <a:p>
            <a:pPr>
              <a:spcAft>
                <a:spcPts val="500"/>
              </a:spcAft>
              <a:defRPr sz="1250">
                <a:solidFill>
                  <a:srgbClr val="141414"/>
                </a:solidFill>
                <a:latin typeface="Aptos"/>
              </a:defRPr>
            </a:pPr>
            <a:r>
              <a:rPr sz="1600"/>
              <a:t>• Deliver a unified interactive regional dashboard.</a:t>
            </a:r>
          </a:p>
          <a:p>
            <a:pPr>
              <a:spcAft>
                <a:spcPts val="500"/>
              </a:spcAft>
              <a:defRPr sz="1250">
                <a:solidFill>
                  <a:srgbClr val="141414"/>
                </a:solidFill>
                <a:latin typeface="Aptos"/>
              </a:defRPr>
            </a:pPr>
            <a:r>
              <a:rPr sz="1600"/>
              <a:t>• Evaluate the system on realistic unseen time periods.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Technology Stack</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17320"/>
            <a:ext cx="2011680" cy="621792"/>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6" name="TextBox 5"/>
          <p:cNvSpPr txBox="1"/>
          <p:nvPr/>
        </p:nvSpPr>
        <p:spPr>
          <a:xfrm>
            <a:off x="768096" y="1472184"/>
            <a:ext cx="1938528" cy="323165"/>
          </a:xfrm>
          <a:prstGeom prst="rect">
            <a:avLst/>
          </a:prstGeom>
          <a:noFill/>
        </p:spPr>
        <p:txBody>
          <a:bodyPr wrap="square">
            <a:spAutoFit/>
          </a:bodyPr>
          <a:lstStyle/>
          <a:p>
            <a:pPr algn="l"/>
            <a:r>
              <a:rPr sz="1500" b="1">
                <a:solidFill>
                  <a:srgbClr val="141414"/>
                </a:solidFill>
                <a:latin typeface="Aptos"/>
              </a:rPr>
              <a:t>Component</a:t>
            </a:r>
          </a:p>
        </p:txBody>
      </p:sp>
      <p:sp>
        <p:nvSpPr>
          <p:cNvPr id="7" name="Rectangle 6"/>
          <p:cNvSpPr/>
          <p:nvPr/>
        </p:nvSpPr>
        <p:spPr>
          <a:xfrm>
            <a:off x="2743200" y="1417320"/>
            <a:ext cx="8732520" cy="621792"/>
          </a:xfrm>
          <a:prstGeom prst="rect">
            <a:avLst/>
          </a:prstGeom>
          <a:solidFill>
            <a:srgbClr val="F3F3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 name="TextBox 7"/>
          <p:cNvSpPr txBox="1"/>
          <p:nvPr/>
        </p:nvSpPr>
        <p:spPr>
          <a:xfrm>
            <a:off x="2779776" y="1472184"/>
            <a:ext cx="8659368" cy="323165"/>
          </a:xfrm>
          <a:prstGeom prst="rect">
            <a:avLst/>
          </a:prstGeom>
          <a:noFill/>
        </p:spPr>
        <p:txBody>
          <a:bodyPr wrap="square">
            <a:spAutoFit/>
          </a:bodyPr>
          <a:lstStyle/>
          <a:p>
            <a:pPr algn="l"/>
            <a:r>
              <a:rPr sz="1500" b="1">
                <a:solidFill>
                  <a:srgbClr val="141414"/>
                </a:solidFill>
                <a:latin typeface="Aptos"/>
              </a:rPr>
              <a:t>Technology</a:t>
            </a:r>
          </a:p>
        </p:txBody>
      </p:sp>
      <p:sp>
        <p:nvSpPr>
          <p:cNvPr id="9" name="Rectangle 8"/>
          <p:cNvSpPr/>
          <p:nvPr/>
        </p:nvSpPr>
        <p:spPr>
          <a:xfrm>
            <a:off x="731520" y="2039112"/>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0" name="TextBox 9"/>
          <p:cNvSpPr txBox="1"/>
          <p:nvPr/>
        </p:nvSpPr>
        <p:spPr>
          <a:xfrm>
            <a:off x="768096" y="2084831"/>
            <a:ext cx="1938528" cy="323165"/>
          </a:xfrm>
          <a:prstGeom prst="rect">
            <a:avLst/>
          </a:prstGeom>
          <a:noFill/>
        </p:spPr>
        <p:txBody>
          <a:bodyPr wrap="square">
            <a:spAutoFit/>
          </a:bodyPr>
          <a:lstStyle/>
          <a:p>
            <a:pPr algn="l"/>
            <a:r>
              <a:rPr sz="1500" b="0">
                <a:solidFill>
                  <a:srgbClr val="141414"/>
                </a:solidFill>
                <a:latin typeface="Aptos"/>
              </a:rPr>
              <a:t>Frontend</a:t>
            </a:r>
          </a:p>
        </p:txBody>
      </p:sp>
      <p:sp>
        <p:nvSpPr>
          <p:cNvPr id="11" name="Rectangle 10"/>
          <p:cNvSpPr/>
          <p:nvPr/>
        </p:nvSpPr>
        <p:spPr>
          <a:xfrm>
            <a:off x="2743200" y="2039112"/>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2" name="TextBox 11"/>
          <p:cNvSpPr txBox="1"/>
          <p:nvPr/>
        </p:nvSpPr>
        <p:spPr>
          <a:xfrm>
            <a:off x="2779776" y="2084831"/>
            <a:ext cx="8659368" cy="323165"/>
          </a:xfrm>
          <a:prstGeom prst="rect">
            <a:avLst/>
          </a:prstGeom>
          <a:noFill/>
        </p:spPr>
        <p:txBody>
          <a:bodyPr wrap="square">
            <a:spAutoFit/>
          </a:bodyPr>
          <a:lstStyle/>
          <a:p>
            <a:pPr algn="l"/>
            <a:r>
              <a:rPr sz="1500" b="0">
                <a:solidFill>
                  <a:srgbClr val="141414"/>
                </a:solidFill>
                <a:latin typeface="Aptos"/>
              </a:rPr>
              <a:t>Next.js 16 · React 19 · TypeScript · TailwindCSS v4 · Recharts · Leaflet</a:t>
            </a:r>
          </a:p>
        </p:txBody>
      </p:sp>
      <p:sp>
        <p:nvSpPr>
          <p:cNvPr id="13" name="Rectangle 12"/>
          <p:cNvSpPr/>
          <p:nvPr/>
        </p:nvSpPr>
        <p:spPr>
          <a:xfrm>
            <a:off x="731520" y="2660904"/>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4" name="TextBox 13"/>
          <p:cNvSpPr txBox="1"/>
          <p:nvPr/>
        </p:nvSpPr>
        <p:spPr>
          <a:xfrm>
            <a:off x="768096" y="2706624"/>
            <a:ext cx="1938528" cy="323165"/>
          </a:xfrm>
          <a:prstGeom prst="rect">
            <a:avLst/>
          </a:prstGeom>
          <a:noFill/>
        </p:spPr>
        <p:txBody>
          <a:bodyPr wrap="square">
            <a:spAutoFit/>
          </a:bodyPr>
          <a:lstStyle/>
          <a:p>
            <a:pPr algn="l"/>
            <a:r>
              <a:rPr sz="1500" b="0">
                <a:solidFill>
                  <a:srgbClr val="141414"/>
                </a:solidFill>
                <a:latin typeface="Aptos"/>
              </a:rPr>
              <a:t>Backend</a:t>
            </a:r>
          </a:p>
        </p:txBody>
      </p:sp>
      <p:sp>
        <p:nvSpPr>
          <p:cNvPr id="15" name="Rectangle 14"/>
          <p:cNvSpPr/>
          <p:nvPr/>
        </p:nvSpPr>
        <p:spPr>
          <a:xfrm>
            <a:off x="2743200" y="2660904"/>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6" name="TextBox 15"/>
          <p:cNvSpPr txBox="1"/>
          <p:nvPr/>
        </p:nvSpPr>
        <p:spPr>
          <a:xfrm>
            <a:off x="2779776" y="2706624"/>
            <a:ext cx="8659368" cy="323165"/>
          </a:xfrm>
          <a:prstGeom prst="rect">
            <a:avLst/>
          </a:prstGeom>
          <a:noFill/>
        </p:spPr>
        <p:txBody>
          <a:bodyPr wrap="square">
            <a:spAutoFit/>
          </a:bodyPr>
          <a:lstStyle/>
          <a:p>
            <a:pPr algn="l"/>
            <a:r>
              <a:rPr sz="1500" b="0">
                <a:solidFill>
                  <a:srgbClr val="141414"/>
                </a:solidFill>
                <a:latin typeface="Aptos"/>
              </a:rPr>
              <a:t>FastAPI · Uvicorn · APScheduler AsyncIOScheduler · Pydantic · HTTPX</a:t>
            </a:r>
          </a:p>
        </p:txBody>
      </p:sp>
      <p:sp>
        <p:nvSpPr>
          <p:cNvPr id="17" name="Rectangle 16"/>
          <p:cNvSpPr/>
          <p:nvPr/>
        </p:nvSpPr>
        <p:spPr>
          <a:xfrm>
            <a:off x="731520" y="3282696"/>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8" name="TextBox 17"/>
          <p:cNvSpPr txBox="1"/>
          <p:nvPr/>
        </p:nvSpPr>
        <p:spPr>
          <a:xfrm>
            <a:off x="768096" y="3328415"/>
            <a:ext cx="1938528" cy="323165"/>
          </a:xfrm>
          <a:prstGeom prst="rect">
            <a:avLst/>
          </a:prstGeom>
          <a:noFill/>
        </p:spPr>
        <p:txBody>
          <a:bodyPr wrap="square">
            <a:spAutoFit/>
          </a:bodyPr>
          <a:lstStyle/>
          <a:p>
            <a:pPr algn="l"/>
            <a:r>
              <a:rPr sz="1500" b="0">
                <a:solidFill>
                  <a:srgbClr val="141414"/>
                </a:solidFill>
                <a:latin typeface="Aptos"/>
              </a:rPr>
              <a:t>Database</a:t>
            </a:r>
          </a:p>
        </p:txBody>
      </p:sp>
      <p:sp>
        <p:nvSpPr>
          <p:cNvPr id="19" name="Rectangle 18"/>
          <p:cNvSpPr/>
          <p:nvPr/>
        </p:nvSpPr>
        <p:spPr>
          <a:xfrm>
            <a:off x="2743200" y="3282696"/>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0" name="TextBox 19"/>
          <p:cNvSpPr txBox="1"/>
          <p:nvPr/>
        </p:nvSpPr>
        <p:spPr>
          <a:xfrm>
            <a:off x="2779776" y="3328415"/>
            <a:ext cx="8659368" cy="323165"/>
          </a:xfrm>
          <a:prstGeom prst="rect">
            <a:avLst/>
          </a:prstGeom>
          <a:noFill/>
        </p:spPr>
        <p:txBody>
          <a:bodyPr wrap="square">
            <a:spAutoFit/>
          </a:bodyPr>
          <a:lstStyle/>
          <a:p>
            <a:pPr algn="l"/>
            <a:r>
              <a:rPr sz="1500" b="0">
                <a:solidFill>
                  <a:srgbClr val="141414"/>
                </a:solidFill>
                <a:latin typeface="Aptos"/>
              </a:rPr>
              <a:t>SQLAlchemy Async ORM · SQLite development · PostgreSQL production</a:t>
            </a:r>
          </a:p>
        </p:txBody>
      </p:sp>
      <p:sp>
        <p:nvSpPr>
          <p:cNvPr id="21" name="Rectangle 20"/>
          <p:cNvSpPr/>
          <p:nvPr/>
        </p:nvSpPr>
        <p:spPr>
          <a:xfrm>
            <a:off x="731520" y="3904488"/>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2" name="TextBox 21"/>
          <p:cNvSpPr txBox="1"/>
          <p:nvPr/>
        </p:nvSpPr>
        <p:spPr>
          <a:xfrm>
            <a:off x="768096" y="3950208"/>
            <a:ext cx="1938528" cy="323165"/>
          </a:xfrm>
          <a:prstGeom prst="rect">
            <a:avLst/>
          </a:prstGeom>
          <a:noFill/>
        </p:spPr>
        <p:txBody>
          <a:bodyPr wrap="square">
            <a:spAutoFit/>
          </a:bodyPr>
          <a:lstStyle/>
          <a:p>
            <a:pPr algn="l"/>
            <a:r>
              <a:rPr sz="1500" b="0">
                <a:solidFill>
                  <a:srgbClr val="141414"/>
                </a:solidFill>
                <a:latin typeface="Aptos"/>
              </a:rPr>
              <a:t>ML</a:t>
            </a:r>
          </a:p>
        </p:txBody>
      </p:sp>
      <p:sp>
        <p:nvSpPr>
          <p:cNvPr id="23" name="Rectangle 22"/>
          <p:cNvSpPr/>
          <p:nvPr/>
        </p:nvSpPr>
        <p:spPr>
          <a:xfrm>
            <a:off x="2743200" y="3904488"/>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4" name="TextBox 23"/>
          <p:cNvSpPr txBox="1"/>
          <p:nvPr/>
        </p:nvSpPr>
        <p:spPr>
          <a:xfrm>
            <a:off x="2779776" y="3950208"/>
            <a:ext cx="8659368" cy="323165"/>
          </a:xfrm>
          <a:prstGeom prst="rect">
            <a:avLst/>
          </a:prstGeom>
          <a:noFill/>
        </p:spPr>
        <p:txBody>
          <a:bodyPr wrap="square">
            <a:spAutoFit/>
          </a:bodyPr>
          <a:lstStyle/>
          <a:p>
            <a:pPr algn="l"/>
            <a:r>
              <a:rPr sz="1500" b="0">
                <a:solidFill>
                  <a:srgbClr val="141414"/>
                </a:solidFill>
                <a:latin typeface="Aptos"/>
              </a:rPr>
              <a:t>Python · Pandas · NumPy · scikit-learn · XGBoost · PyTorch</a:t>
            </a:r>
          </a:p>
        </p:txBody>
      </p:sp>
      <p:sp>
        <p:nvSpPr>
          <p:cNvPr id="25" name="Rectangle 24"/>
          <p:cNvSpPr/>
          <p:nvPr/>
        </p:nvSpPr>
        <p:spPr>
          <a:xfrm>
            <a:off x="731520" y="4526280"/>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6" name="TextBox 25"/>
          <p:cNvSpPr txBox="1"/>
          <p:nvPr/>
        </p:nvSpPr>
        <p:spPr>
          <a:xfrm>
            <a:off x="768096" y="4572000"/>
            <a:ext cx="1938528" cy="323165"/>
          </a:xfrm>
          <a:prstGeom prst="rect">
            <a:avLst/>
          </a:prstGeom>
          <a:noFill/>
        </p:spPr>
        <p:txBody>
          <a:bodyPr wrap="square">
            <a:spAutoFit/>
          </a:bodyPr>
          <a:lstStyle/>
          <a:p>
            <a:pPr algn="l"/>
            <a:r>
              <a:rPr sz="1500" b="0">
                <a:solidFill>
                  <a:srgbClr val="141414"/>
                </a:solidFill>
                <a:latin typeface="Aptos"/>
              </a:rPr>
              <a:t>NWP / Geo</a:t>
            </a:r>
          </a:p>
        </p:txBody>
      </p:sp>
      <p:sp>
        <p:nvSpPr>
          <p:cNvPr id="27" name="Rectangle 26"/>
          <p:cNvSpPr/>
          <p:nvPr/>
        </p:nvSpPr>
        <p:spPr>
          <a:xfrm>
            <a:off x="2743200" y="4526280"/>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8" name="TextBox 27"/>
          <p:cNvSpPr txBox="1"/>
          <p:nvPr/>
        </p:nvSpPr>
        <p:spPr>
          <a:xfrm>
            <a:off x="2779776" y="4572000"/>
            <a:ext cx="8659368" cy="323165"/>
          </a:xfrm>
          <a:prstGeom prst="rect">
            <a:avLst/>
          </a:prstGeom>
          <a:noFill/>
        </p:spPr>
        <p:txBody>
          <a:bodyPr wrap="square">
            <a:spAutoFit/>
          </a:bodyPr>
          <a:lstStyle/>
          <a:p>
            <a:pPr algn="l"/>
            <a:r>
              <a:rPr sz="1500" b="0">
                <a:solidFill>
                  <a:srgbClr val="141414"/>
                </a:solidFill>
                <a:latin typeface="Aptos"/>
              </a:rPr>
              <a:t>xarray · cfgrib · rasterio · Matplotlib · Cartopy · GeoTIFF</a:t>
            </a:r>
          </a:p>
        </p:txBody>
      </p:sp>
      <p:sp>
        <p:nvSpPr>
          <p:cNvPr id="29" name="Rectangle 28"/>
          <p:cNvSpPr/>
          <p:nvPr/>
        </p:nvSpPr>
        <p:spPr>
          <a:xfrm>
            <a:off x="731520" y="5148072"/>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0" name="TextBox 29"/>
          <p:cNvSpPr txBox="1"/>
          <p:nvPr/>
        </p:nvSpPr>
        <p:spPr>
          <a:xfrm>
            <a:off x="768096" y="5193792"/>
            <a:ext cx="1938528" cy="323165"/>
          </a:xfrm>
          <a:prstGeom prst="rect">
            <a:avLst/>
          </a:prstGeom>
          <a:noFill/>
        </p:spPr>
        <p:txBody>
          <a:bodyPr wrap="square">
            <a:spAutoFit/>
          </a:bodyPr>
          <a:lstStyle/>
          <a:p>
            <a:pPr algn="l"/>
            <a:r>
              <a:rPr sz="1500" b="0">
                <a:solidFill>
                  <a:srgbClr val="141414"/>
                </a:solidFill>
                <a:latin typeface="Aptos"/>
              </a:rPr>
              <a:t>Auth</a:t>
            </a:r>
          </a:p>
        </p:txBody>
      </p:sp>
      <p:sp>
        <p:nvSpPr>
          <p:cNvPr id="31" name="Rectangle 30"/>
          <p:cNvSpPr/>
          <p:nvPr/>
        </p:nvSpPr>
        <p:spPr>
          <a:xfrm>
            <a:off x="2743200" y="5148072"/>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2" name="TextBox 31"/>
          <p:cNvSpPr txBox="1"/>
          <p:nvPr/>
        </p:nvSpPr>
        <p:spPr>
          <a:xfrm>
            <a:off x="2779776" y="5193792"/>
            <a:ext cx="8659368" cy="323165"/>
          </a:xfrm>
          <a:prstGeom prst="rect">
            <a:avLst/>
          </a:prstGeom>
          <a:noFill/>
        </p:spPr>
        <p:txBody>
          <a:bodyPr wrap="square">
            <a:spAutoFit/>
          </a:bodyPr>
          <a:lstStyle/>
          <a:p>
            <a:pPr algn="l"/>
            <a:r>
              <a:rPr sz="1500" b="0">
                <a:solidFill>
                  <a:srgbClr val="141414"/>
                </a:solidFill>
                <a:latin typeface="Aptos"/>
              </a:rPr>
              <a:t>NextAuth.js · Firebase Auth</a:t>
            </a:r>
          </a:p>
        </p:txBody>
      </p:sp>
      <p:sp>
        <p:nvSpPr>
          <p:cNvPr id="33" name="Rectangle 32"/>
          <p:cNvSpPr/>
          <p:nvPr/>
        </p:nvSpPr>
        <p:spPr>
          <a:xfrm>
            <a:off x="731520" y="5769864"/>
            <a:ext cx="201168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4" name="TextBox 33"/>
          <p:cNvSpPr txBox="1"/>
          <p:nvPr/>
        </p:nvSpPr>
        <p:spPr>
          <a:xfrm>
            <a:off x="768096" y="5815584"/>
            <a:ext cx="1938528" cy="323165"/>
          </a:xfrm>
          <a:prstGeom prst="rect">
            <a:avLst/>
          </a:prstGeom>
          <a:noFill/>
        </p:spPr>
        <p:txBody>
          <a:bodyPr wrap="square">
            <a:spAutoFit/>
          </a:bodyPr>
          <a:lstStyle/>
          <a:p>
            <a:pPr algn="l"/>
            <a:r>
              <a:rPr sz="1500" b="0">
                <a:solidFill>
                  <a:srgbClr val="141414"/>
                </a:solidFill>
                <a:latin typeface="Aptos"/>
              </a:rPr>
              <a:t>Deployment</a:t>
            </a:r>
          </a:p>
        </p:txBody>
      </p:sp>
      <p:sp>
        <p:nvSpPr>
          <p:cNvPr id="35" name="Rectangle 34"/>
          <p:cNvSpPr/>
          <p:nvPr/>
        </p:nvSpPr>
        <p:spPr>
          <a:xfrm>
            <a:off x="2743200" y="5769864"/>
            <a:ext cx="8732520" cy="621792"/>
          </a:xfrm>
          <a:prstGeom prst="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6" name="TextBox 35"/>
          <p:cNvSpPr txBox="1"/>
          <p:nvPr/>
        </p:nvSpPr>
        <p:spPr>
          <a:xfrm>
            <a:off x="2779776" y="5815584"/>
            <a:ext cx="8659368" cy="323165"/>
          </a:xfrm>
          <a:prstGeom prst="rect">
            <a:avLst/>
          </a:prstGeom>
          <a:noFill/>
        </p:spPr>
        <p:txBody>
          <a:bodyPr wrap="square">
            <a:spAutoFit/>
          </a:bodyPr>
          <a:lstStyle/>
          <a:p>
            <a:pPr algn="l"/>
            <a:r>
              <a:rPr sz="1500" b="0">
                <a:solidFill>
                  <a:srgbClr val="141414"/>
                </a:solidFill>
                <a:latin typeface="Aptos"/>
              </a:rPr>
              <a:t>Docker · Vercel · Azure · GitHub Actions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Conclusion &amp; Future Work</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5120640" cy="448056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45920"/>
            <a:ext cx="4572000" cy="353943"/>
          </a:xfrm>
          <a:prstGeom prst="rect">
            <a:avLst/>
          </a:prstGeom>
          <a:noFill/>
        </p:spPr>
        <p:txBody>
          <a:bodyPr wrap="square">
            <a:spAutoFit/>
          </a:bodyPr>
          <a:lstStyle/>
          <a:p>
            <a:pPr algn="ctr"/>
            <a:r>
              <a:rPr sz="1700" b="1">
                <a:solidFill>
                  <a:srgbClr val="234869"/>
                </a:solidFill>
                <a:latin typeface="Aptos"/>
              </a:rPr>
              <a:t>PHASE 1 ACHIEVEMENTS</a:t>
            </a:r>
          </a:p>
        </p:txBody>
      </p:sp>
      <p:sp>
        <p:nvSpPr>
          <p:cNvPr id="7" name="TextBox 6"/>
          <p:cNvSpPr txBox="1"/>
          <p:nvPr/>
        </p:nvSpPr>
        <p:spPr>
          <a:xfrm>
            <a:off x="960120" y="2057400"/>
            <a:ext cx="4526280" cy="3354765"/>
          </a:xfrm>
          <a:prstGeom prst="rect">
            <a:avLst/>
          </a:prstGeom>
          <a:noFill/>
        </p:spPr>
        <p:txBody>
          <a:bodyPr wrap="square">
            <a:spAutoFit/>
          </a:bodyPr>
          <a:lstStyle/>
          <a:p>
            <a:pPr>
              <a:spcAft>
                <a:spcPts val="500"/>
              </a:spcAft>
              <a:defRPr sz="1250">
                <a:solidFill>
                  <a:srgbClr val="141414"/>
                </a:solidFill>
                <a:latin typeface="Aptos"/>
              </a:defRPr>
            </a:pPr>
            <a:r>
              <a:rPr sz="1700"/>
              <a:t>• Running FastAPI backend with Swagger documentation.</a:t>
            </a:r>
          </a:p>
          <a:p>
            <a:pPr>
              <a:spcAft>
                <a:spcPts val="500"/>
              </a:spcAft>
              <a:defRPr sz="1250">
                <a:solidFill>
                  <a:srgbClr val="141414"/>
                </a:solidFill>
                <a:latin typeface="Aptos"/>
              </a:defRPr>
            </a:pPr>
            <a:r>
              <a:rPr sz="1700"/>
              <a:t>• Automated 60-second multi-source ingestion.</a:t>
            </a:r>
          </a:p>
          <a:p>
            <a:pPr>
              <a:spcAft>
                <a:spcPts val="500"/>
              </a:spcAft>
              <a:defRPr sz="1250">
                <a:solidFill>
                  <a:srgbClr val="141414"/>
                </a:solidFill>
                <a:latin typeface="Aptos"/>
              </a:defRPr>
            </a:pPr>
            <a:r>
              <a:rPr sz="1700"/>
              <a:t>• Six real PWS stations integrated.</a:t>
            </a:r>
          </a:p>
          <a:p>
            <a:pPr>
              <a:spcAft>
                <a:spcPts val="500"/>
              </a:spcAft>
              <a:defRPr sz="1250">
                <a:solidFill>
                  <a:srgbClr val="141414"/>
                </a:solidFill>
                <a:latin typeface="Aptos"/>
              </a:defRPr>
            </a:pPr>
            <a:r>
              <a:rPr sz="1700"/>
              <a:t>• 48-hour backfill + deduplication implemented.</a:t>
            </a:r>
          </a:p>
          <a:p>
            <a:pPr>
              <a:spcAft>
                <a:spcPts val="500"/>
              </a:spcAft>
              <a:defRPr sz="1250">
                <a:solidFill>
                  <a:srgbClr val="141414"/>
                </a:solidFill>
                <a:latin typeface="Aptos"/>
              </a:defRPr>
            </a:pPr>
            <a:r>
              <a:rPr sz="1700"/>
              <a:t>• SQLite database with real weather data.</a:t>
            </a:r>
          </a:p>
          <a:p>
            <a:pPr>
              <a:spcAft>
                <a:spcPts val="500"/>
              </a:spcAft>
              <a:defRPr sz="1250">
                <a:solidFill>
                  <a:srgbClr val="141414"/>
                </a:solidFill>
                <a:latin typeface="Aptos"/>
              </a:defRPr>
            </a:pPr>
            <a:r>
              <a:rPr sz="1700"/>
              <a:t>• Feature engineering module implemented.</a:t>
            </a:r>
          </a:p>
          <a:p>
            <a:pPr>
              <a:spcAft>
                <a:spcPts val="500"/>
              </a:spcAft>
              <a:defRPr sz="1250">
                <a:solidFill>
                  <a:srgbClr val="141414"/>
                </a:solidFill>
                <a:latin typeface="Aptos"/>
              </a:defRPr>
            </a:pPr>
            <a:r>
              <a:rPr sz="1700"/>
              <a:t>• Live dashboard with charts, filters and auto-refresh.</a:t>
            </a:r>
          </a:p>
        </p:txBody>
      </p:sp>
      <p:sp>
        <p:nvSpPr>
          <p:cNvPr id="8" name="Rounded Rectangle 7"/>
          <p:cNvSpPr/>
          <p:nvPr/>
        </p:nvSpPr>
        <p:spPr>
          <a:xfrm>
            <a:off x="6172200" y="1371600"/>
            <a:ext cx="5120640" cy="4480560"/>
          </a:xfrm>
          <a:prstGeom prst="roundRect">
            <a:avLst/>
          </a:prstGeom>
          <a:solidFill>
            <a:srgbClr val="FFFFFF"/>
          </a:solidFill>
          <a:ln>
            <a:solidFill>
              <a:srgbClr val="AFAF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45920"/>
            <a:ext cx="4572000" cy="353943"/>
          </a:xfrm>
          <a:prstGeom prst="rect">
            <a:avLst/>
          </a:prstGeom>
          <a:noFill/>
        </p:spPr>
        <p:txBody>
          <a:bodyPr wrap="square">
            <a:spAutoFit/>
          </a:bodyPr>
          <a:lstStyle/>
          <a:p>
            <a:pPr algn="ctr"/>
            <a:r>
              <a:rPr sz="1700" b="1">
                <a:solidFill>
                  <a:srgbClr val="234869"/>
                </a:solidFill>
                <a:latin typeface="Aptos"/>
              </a:rPr>
              <a:t>PHASE 2 PRIORITIES</a:t>
            </a:r>
          </a:p>
        </p:txBody>
      </p:sp>
      <p:sp>
        <p:nvSpPr>
          <p:cNvPr id="10" name="TextBox 9"/>
          <p:cNvSpPr txBox="1"/>
          <p:nvPr/>
        </p:nvSpPr>
        <p:spPr>
          <a:xfrm>
            <a:off x="6400800" y="2057400"/>
            <a:ext cx="4526280" cy="3093154"/>
          </a:xfrm>
          <a:prstGeom prst="rect">
            <a:avLst/>
          </a:prstGeom>
          <a:noFill/>
        </p:spPr>
        <p:txBody>
          <a:bodyPr wrap="square">
            <a:spAutoFit/>
          </a:bodyPr>
          <a:lstStyle/>
          <a:p>
            <a:pPr>
              <a:spcAft>
                <a:spcPts val="500"/>
              </a:spcAft>
              <a:defRPr sz="1250">
                <a:solidFill>
                  <a:srgbClr val="141414"/>
                </a:solidFill>
                <a:latin typeface="Aptos"/>
              </a:defRPr>
            </a:pPr>
            <a:r>
              <a:rPr sz="1700"/>
              <a:t>• Train RF/XGBoost baselines.</a:t>
            </a:r>
          </a:p>
          <a:p>
            <a:pPr>
              <a:spcAft>
                <a:spcPts val="500"/>
              </a:spcAft>
              <a:defRPr sz="1250">
                <a:solidFill>
                  <a:srgbClr val="141414"/>
                </a:solidFill>
                <a:latin typeface="Aptos"/>
              </a:defRPr>
            </a:pPr>
            <a:r>
              <a:rPr sz="1700"/>
              <a:t>• Develop LSTM and CNN/GNN-LSTM experiments.</a:t>
            </a:r>
          </a:p>
          <a:p>
            <a:pPr>
              <a:spcAft>
                <a:spcPts val="500"/>
              </a:spcAft>
              <a:defRPr sz="1250">
                <a:solidFill>
                  <a:srgbClr val="141414"/>
                </a:solidFill>
                <a:latin typeface="Aptos"/>
              </a:defRPr>
            </a:pPr>
            <a:r>
              <a:rPr sz="1700"/>
              <a:t>• Validate 0–3h prediction performance.</a:t>
            </a:r>
          </a:p>
          <a:p>
            <a:pPr>
              <a:spcAft>
                <a:spcPts val="500"/>
              </a:spcAft>
              <a:defRPr sz="1250">
                <a:solidFill>
                  <a:srgbClr val="141414"/>
                </a:solidFill>
                <a:latin typeface="Aptos"/>
              </a:defRPr>
            </a:pPr>
            <a:r>
              <a:rPr sz="1700"/>
              <a:t>• Implement ECMWF GRIB2 → GeoTIFF pipeline.</a:t>
            </a:r>
          </a:p>
          <a:p>
            <a:pPr>
              <a:spcAft>
                <a:spcPts val="500"/>
              </a:spcAft>
              <a:defRPr sz="1250">
                <a:solidFill>
                  <a:srgbClr val="141414"/>
                </a:solidFill>
                <a:latin typeface="Aptos"/>
              </a:defRPr>
            </a:pPr>
            <a:r>
              <a:rPr sz="1700"/>
              <a:t>• Build interactive NWP + station map.</a:t>
            </a:r>
          </a:p>
          <a:p>
            <a:pPr>
              <a:spcAft>
                <a:spcPts val="500"/>
              </a:spcAft>
              <a:defRPr sz="1250">
                <a:solidFill>
                  <a:srgbClr val="141414"/>
                </a:solidFill>
                <a:latin typeface="Aptos"/>
              </a:defRPr>
            </a:pPr>
            <a:r>
              <a:rPr sz="1700"/>
              <a:t>• Add authentication, blog and community features.</a:t>
            </a:r>
          </a:p>
          <a:p>
            <a:pPr>
              <a:spcAft>
                <a:spcPts val="500"/>
              </a:spcAft>
              <a:defRPr sz="1250">
                <a:solidFill>
                  <a:srgbClr val="141414"/>
                </a:solidFill>
                <a:latin typeface="Aptos"/>
              </a:defRPr>
            </a:pPr>
            <a:r>
              <a:rPr sz="1700"/>
              <a:t>• Deploy production system with monitoring.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57200"/>
          </a:xfrm>
          <a:prstGeom prst="rect">
            <a:avLst/>
          </a:prstGeom>
          <a:noFill/>
        </p:spPr>
        <p:txBody>
          <a:bodyPr wrap="square">
            <a:spAutoFit/>
          </a:bodyPr>
          <a:lstStyle/>
          <a:p>
            <a:pPr algn="l"/>
            <a:r>
              <a:rPr sz="2600" b="1">
                <a:solidFill>
                  <a:srgbClr val="141414"/>
                </a:solidFill>
                <a:latin typeface="Aptos"/>
              </a:rPr>
              <a:t>References</a:t>
            </a:r>
          </a:p>
        </p:txBody>
      </p:sp>
      <p:sp>
        <p:nvSpPr>
          <p:cNvPr id="4" name="Rectangle 3"/>
          <p:cNvSpPr/>
          <p:nvPr/>
        </p:nvSpPr>
        <p:spPr>
          <a:xfrm>
            <a:off x="594360" y="1124712"/>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822960" y="1353312"/>
            <a:ext cx="10515600" cy="492443"/>
          </a:xfrm>
          <a:prstGeom prst="rect">
            <a:avLst/>
          </a:prstGeom>
          <a:noFill/>
        </p:spPr>
        <p:txBody>
          <a:bodyPr wrap="square">
            <a:spAutoFit/>
          </a:bodyPr>
          <a:lstStyle/>
          <a:p>
            <a:pPr algn="l"/>
            <a:r>
              <a:rPr sz="1300" b="0">
                <a:solidFill>
                  <a:srgbClr val="141414"/>
                </a:solidFill>
                <a:latin typeface="Aptos"/>
              </a:rPr>
              <a:t>[1] Shi, X., Chen, Z., Wang, H., Yeung, D.-Y., Wong, W.-K., &amp; Woo, W.-c. (2015). Convolutional LSTM Network: A Machine Learning Approach for Precipitation Nowcasting.</a:t>
            </a:r>
          </a:p>
        </p:txBody>
      </p:sp>
      <p:sp>
        <p:nvSpPr>
          <p:cNvPr id="6" name="TextBox 5"/>
          <p:cNvSpPr txBox="1"/>
          <p:nvPr/>
        </p:nvSpPr>
        <p:spPr>
          <a:xfrm>
            <a:off x="822960" y="1837943"/>
            <a:ext cx="10515600" cy="292388"/>
          </a:xfrm>
          <a:prstGeom prst="rect">
            <a:avLst/>
          </a:prstGeom>
          <a:noFill/>
        </p:spPr>
        <p:txBody>
          <a:bodyPr wrap="square">
            <a:spAutoFit/>
          </a:bodyPr>
          <a:lstStyle/>
          <a:p>
            <a:pPr algn="l"/>
            <a:r>
              <a:rPr sz="1300" b="0">
                <a:solidFill>
                  <a:srgbClr val="141414"/>
                </a:solidFill>
                <a:latin typeface="Aptos"/>
              </a:rPr>
              <a:t>[2] Shi, X., Gao, Z., Lausen, L., et al. (2017). Deep Learning for Precipitation Nowcasting: A Benchmark and a New Model. NeurIPS.</a:t>
            </a:r>
          </a:p>
        </p:txBody>
      </p:sp>
      <p:sp>
        <p:nvSpPr>
          <p:cNvPr id="7" name="TextBox 6"/>
          <p:cNvSpPr txBox="1"/>
          <p:nvPr/>
        </p:nvSpPr>
        <p:spPr>
          <a:xfrm>
            <a:off x="822960" y="2322576"/>
            <a:ext cx="10515600" cy="292388"/>
          </a:xfrm>
          <a:prstGeom prst="rect">
            <a:avLst/>
          </a:prstGeom>
          <a:noFill/>
        </p:spPr>
        <p:txBody>
          <a:bodyPr wrap="square">
            <a:spAutoFit/>
          </a:bodyPr>
          <a:lstStyle/>
          <a:p>
            <a:pPr algn="l"/>
            <a:r>
              <a:rPr sz="1300" b="0">
                <a:solidFill>
                  <a:srgbClr val="141414"/>
                </a:solidFill>
                <a:latin typeface="Aptos"/>
              </a:rPr>
              <a:t>[3] Ravuri, S., Lenc, K., Willson, M., et al. (2021). Skilful precipitation nowcasting using deep generative models of radar. Nature, 597, 672–677.</a:t>
            </a:r>
          </a:p>
        </p:txBody>
      </p:sp>
      <p:sp>
        <p:nvSpPr>
          <p:cNvPr id="8" name="TextBox 7"/>
          <p:cNvSpPr txBox="1"/>
          <p:nvPr/>
        </p:nvSpPr>
        <p:spPr>
          <a:xfrm>
            <a:off x="822960" y="2807208"/>
            <a:ext cx="10515600" cy="492443"/>
          </a:xfrm>
          <a:prstGeom prst="rect">
            <a:avLst/>
          </a:prstGeom>
          <a:noFill/>
        </p:spPr>
        <p:txBody>
          <a:bodyPr wrap="square">
            <a:spAutoFit/>
          </a:bodyPr>
          <a:lstStyle/>
          <a:p>
            <a:pPr algn="l"/>
            <a:r>
              <a:rPr sz="1300" b="0">
                <a:solidFill>
                  <a:srgbClr val="141414"/>
                </a:solidFill>
                <a:latin typeface="Aptos"/>
              </a:rPr>
              <a:t>[4] Bowler, N. E., Pierce, C. E., &amp; Seed, A. W. (2006). STEPS: Probabilistic precipitation forecasting combining extrapolation nowcast with downscaled NWP. QJRMS.</a:t>
            </a:r>
          </a:p>
        </p:txBody>
      </p:sp>
      <p:sp>
        <p:nvSpPr>
          <p:cNvPr id="9" name="TextBox 8"/>
          <p:cNvSpPr txBox="1"/>
          <p:nvPr/>
        </p:nvSpPr>
        <p:spPr>
          <a:xfrm>
            <a:off x="822960" y="3291840"/>
            <a:ext cx="10515600" cy="292388"/>
          </a:xfrm>
          <a:prstGeom prst="rect">
            <a:avLst/>
          </a:prstGeom>
          <a:noFill/>
        </p:spPr>
        <p:txBody>
          <a:bodyPr wrap="square">
            <a:spAutoFit/>
          </a:bodyPr>
          <a:lstStyle/>
          <a:p>
            <a:pPr algn="l"/>
            <a:r>
              <a:rPr sz="1300" b="0">
                <a:solidFill>
                  <a:srgbClr val="141414"/>
                </a:solidFill>
                <a:latin typeface="Aptos"/>
              </a:rPr>
              <a:t>[5] ECMWF. Open Data: Real-time IFS and AIFS forecast products and documentation.</a:t>
            </a:r>
          </a:p>
        </p:txBody>
      </p:sp>
      <p:sp>
        <p:nvSpPr>
          <p:cNvPr id="10" name="TextBox 9"/>
          <p:cNvSpPr txBox="1"/>
          <p:nvPr/>
        </p:nvSpPr>
        <p:spPr>
          <a:xfrm>
            <a:off x="822960" y="3776472"/>
            <a:ext cx="10515600" cy="292388"/>
          </a:xfrm>
          <a:prstGeom prst="rect">
            <a:avLst/>
          </a:prstGeom>
          <a:noFill/>
        </p:spPr>
        <p:txBody>
          <a:bodyPr wrap="square">
            <a:spAutoFit/>
          </a:bodyPr>
          <a:lstStyle/>
          <a:p>
            <a:pPr algn="l"/>
            <a:r>
              <a:rPr sz="1300" b="0">
                <a:solidFill>
                  <a:srgbClr val="141414"/>
                </a:solidFill>
                <a:latin typeface="Aptos"/>
              </a:rPr>
              <a:t>[6] Weather Underground. Personal Weather Station network / API documentation.</a:t>
            </a:r>
          </a:p>
        </p:txBody>
      </p:sp>
      <p:sp>
        <p:nvSpPr>
          <p:cNvPr id="11" name="TextBox 10"/>
          <p:cNvSpPr txBox="1"/>
          <p:nvPr/>
        </p:nvSpPr>
        <p:spPr>
          <a:xfrm>
            <a:off x="822960" y="4261104"/>
            <a:ext cx="10515600" cy="292388"/>
          </a:xfrm>
          <a:prstGeom prst="rect">
            <a:avLst/>
          </a:prstGeom>
          <a:noFill/>
        </p:spPr>
        <p:txBody>
          <a:bodyPr wrap="square">
            <a:spAutoFit/>
          </a:bodyPr>
          <a:lstStyle/>
          <a:p>
            <a:pPr algn="l"/>
            <a:r>
              <a:rPr sz="1300" b="0">
                <a:solidFill>
                  <a:srgbClr val="141414"/>
                </a:solidFill>
                <a:latin typeface="Aptos"/>
              </a:rPr>
              <a:t>[7] Ambient Weather. Ambient Weather Network / API documentation.</a:t>
            </a:r>
          </a:p>
        </p:txBody>
      </p:sp>
      <p:sp>
        <p:nvSpPr>
          <p:cNvPr id="12" name="TextBox 11"/>
          <p:cNvSpPr txBox="1"/>
          <p:nvPr/>
        </p:nvSpPr>
        <p:spPr>
          <a:xfrm>
            <a:off x="822960" y="4745736"/>
            <a:ext cx="10515600" cy="292388"/>
          </a:xfrm>
          <a:prstGeom prst="rect">
            <a:avLst/>
          </a:prstGeom>
          <a:noFill/>
        </p:spPr>
        <p:txBody>
          <a:bodyPr wrap="square">
            <a:spAutoFit/>
          </a:bodyPr>
          <a:lstStyle/>
          <a:p>
            <a:pPr algn="l"/>
            <a:r>
              <a:rPr sz="1300" b="0">
                <a:solidFill>
                  <a:srgbClr val="141414"/>
                </a:solidFill>
                <a:latin typeface="Aptos"/>
              </a:rPr>
              <a:t>[8] Leaflet.js Documentation. Interactive maps and geographic layers.</a:t>
            </a:r>
          </a:p>
        </p:txBody>
      </p:sp>
      <p:sp>
        <p:nvSpPr>
          <p:cNvPr id="13" name="TextBox 12"/>
          <p:cNvSpPr txBox="1"/>
          <p:nvPr/>
        </p:nvSpPr>
        <p:spPr>
          <a:xfrm>
            <a:off x="822960" y="5230368"/>
            <a:ext cx="10515600" cy="292388"/>
          </a:xfrm>
          <a:prstGeom prst="rect">
            <a:avLst/>
          </a:prstGeom>
          <a:noFill/>
        </p:spPr>
        <p:txBody>
          <a:bodyPr wrap="square">
            <a:spAutoFit/>
          </a:bodyPr>
          <a:lstStyle/>
          <a:p>
            <a:pPr algn="l"/>
            <a:r>
              <a:rPr sz="1300" b="0">
                <a:solidFill>
                  <a:srgbClr val="141414"/>
                </a:solidFill>
                <a:latin typeface="Aptos"/>
              </a:rPr>
              <a:t>[9] FastAPI Documentation. Python API framework and OpenAPI/Swagger integration.</a:t>
            </a:r>
          </a:p>
        </p:txBody>
      </p:sp>
      <p:sp>
        <p:nvSpPr>
          <p:cNvPr id="14" name="TextBox 13"/>
          <p:cNvSpPr txBox="1"/>
          <p:nvPr/>
        </p:nvSpPr>
        <p:spPr>
          <a:xfrm>
            <a:off x="822960" y="5715000"/>
            <a:ext cx="10515600" cy="292388"/>
          </a:xfrm>
          <a:prstGeom prst="rect">
            <a:avLst/>
          </a:prstGeom>
          <a:noFill/>
        </p:spPr>
        <p:txBody>
          <a:bodyPr wrap="square">
            <a:spAutoFit/>
          </a:bodyPr>
          <a:lstStyle/>
          <a:p>
            <a:pPr algn="l"/>
            <a:r>
              <a:rPr sz="1300" b="0">
                <a:solidFill>
                  <a:srgbClr val="141414"/>
                </a:solidFill>
                <a:latin typeface="Aptos"/>
              </a:rPr>
              <a:t>[10] xarray, cfgrib and rasterio documentation for multidimensional meteorological and raster data processing.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2853</Words>
  <Application>Microsoft Office PowerPoint</Application>
  <PresentationFormat>Widescreen</PresentationFormat>
  <Paragraphs>343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B</cp:lastModifiedBy>
  <cp:revision>5</cp:revision>
  <dcterms:created xsi:type="dcterms:W3CDTF">2013-01-27T09:14:16Z</dcterms:created>
  <dcterms:modified xsi:type="dcterms:W3CDTF">2026-09-23T03:48:27Z</dcterms:modified>
  <cp:category/>
</cp:coreProperties>
</file>