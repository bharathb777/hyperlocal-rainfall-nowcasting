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1571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respected review panel. Our project is Hyperlocal Rainfall Nowcasting through Multi-Source Weather Data Fusion, focused on short-term rainfall prediction for the Puducherry–Tamil Nadu region. This first presentation explains the problem domain and why combining observations, AI and NWP is useful.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presentation is organized around the weather domain first: nowcasting, AI and machine learning, sensor fusion, NWP, geospatial visualization and the intersection of these areas. We finish with the regional motivation and foundational references that frame the project.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Nowcasting is the short-term prediction of weather, especially precipitation, over the immediate future. Our project targets 0–3 hours because very local observations can be valuable during this window, while conventional NWP products are generally designed for broader spatial and longer forecast horizons.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Machine learning helps weather systems learn relationships from historical observations rather than relying only on fixed rules. For rainfall, the important challenge is spatiotemporal structure: where rain is located, how it moves, and how intensity changes over time.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observation layer combines official IMD automatic weather stations with community or personal weather stations. Fusion can increase spatial coverage, but it also introduces data-quality issues such as different sampling intervals, sensor bias, missing observations and inconsistent metadata.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Numerical Weather Prediction uses numerical solutions of atmospheric equations to produce forecasts on a grid. ECMWF open data provides IFS and AIFS forecast products in GRIB2 at 0.25-degree resolution; these medium-range products extend well beyond our 0–3 hour nowcast target, so NWP is treated as complementary context.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Rainfall is inherently spatial, so the user needs to see where rain is occurring and where it may move. The web layer turns model outputs into an interactive map using technologies such as Leaflet, while raster products such as GeoTIFF can represent spatially varying rainfall intensity.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sits at the intersection of four domains. Meteorology defines the physical problem, IoT supplies local observations, AI and machine learning learn the short-term rainfall evolution, and web development turns the result into an accessible geospatial product.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references establish the scientific foundation of the project: classical precipitation nowcasting, ConvLSTM-based spatiotemporal learning, deep generative nowcasting, and ECMWF operational forecast data. They will guide the literature review and later model-design decisions.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1325880"/>
            <a:ext cx="8229600" cy="1708160"/>
          </a:xfrm>
          <a:prstGeom prst="rect">
            <a:avLst/>
          </a:prstGeom>
          <a:noFill/>
        </p:spPr>
        <p:txBody>
          <a:bodyPr wrap="square">
            <a:spAutoFit/>
          </a:bodyPr>
          <a:lstStyle/>
          <a:p>
            <a:r>
              <a:rPr lang="en-US" sz="3500" b="1" dirty="0">
                <a:solidFill>
                  <a:schemeClr val="bg1"/>
                </a:solidFill>
                <a:latin typeface="Times New Roman" panose="02020603050405020304" pitchFamily="18" charset="0"/>
                <a:cs typeface="Times New Roman" panose="02020603050405020304" pitchFamily="18" charset="0"/>
              </a:rPr>
              <a:t>MULTI-SOURCE AI FOR HYPERLOCAL RAINFALL NOWCASTING</a:t>
            </a:r>
            <a:endParaRPr lang="en-IN" sz="3500" dirty="0">
              <a:solidFill>
                <a:schemeClr val="bg1"/>
              </a:solidFill>
              <a:latin typeface="Times New Roman" panose="02020603050405020304" pitchFamily="18" charset="0"/>
              <a:cs typeface="Times New Roman" panose="02020603050405020304" pitchFamily="18" charset="0"/>
            </a:endParaRPr>
          </a:p>
        </p:txBody>
      </p:sp>
      <p:sp>
        <p:nvSpPr>
          <p:cNvPr id="6" name="Rectangle 5"/>
          <p:cNvSpPr/>
          <p:nvPr/>
        </p:nvSpPr>
        <p:spPr>
          <a:xfrm>
            <a:off x="777240" y="3310128"/>
            <a:ext cx="6583680" cy="36576"/>
          </a:xfrm>
          <a:prstGeom prst="rect">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4567088"/>
            <a:ext cx="8046720" cy="1246495"/>
          </a:xfrm>
          <a:prstGeom prst="rect">
            <a:avLst/>
          </a:prstGeom>
          <a:noFill/>
        </p:spPr>
        <p:txBody>
          <a:bodyPr wrap="square">
            <a:spAutoFit/>
          </a:bodyPr>
          <a:lstStyle/>
          <a:p>
            <a:pPr algn="l"/>
            <a:r>
              <a:rPr sz="1500" b="0" dirty="0">
                <a:solidFill>
                  <a:srgbClr val="DCE6F2"/>
                </a:solidFill>
                <a:latin typeface="Times New Roman" panose="02020603050405020304" pitchFamily="18" charset="0"/>
                <a:cs typeface="Times New Roman" panose="02020603050405020304" pitchFamily="18" charset="0"/>
              </a:rPr>
              <a:t>Team: Bharath B (23UCS025) · Ariyan M (23UCS015) · </a:t>
            </a:r>
            <a:r>
              <a:rPr sz="1500" b="0" dirty="0" err="1">
                <a:solidFill>
                  <a:srgbClr val="DCE6F2"/>
                </a:solidFill>
                <a:latin typeface="Times New Roman" panose="02020603050405020304" pitchFamily="18" charset="0"/>
                <a:cs typeface="Times New Roman" panose="02020603050405020304" pitchFamily="18" charset="0"/>
              </a:rPr>
              <a:t>Hemnnath</a:t>
            </a:r>
            <a:r>
              <a:rPr sz="1500" b="0" dirty="0">
                <a:solidFill>
                  <a:srgbClr val="DCE6F2"/>
                </a:solidFill>
                <a:latin typeface="Times New Roman" panose="02020603050405020304" pitchFamily="18" charset="0"/>
                <a:cs typeface="Times New Roman" panose="02020603050405020304" pitchFamily="18" charset="0"/>
              </a:rPr>
              <a:t> G (23UCS066)</a:t>
            </a:r>
            <a:endParaRPr lang="en-US" sz="1500" b="0" dirty="0">
              <a:solidFill>
                <a:srgbClr val="DCE6F2"/>
              </a:solidFill>
              <a:latin typeface="Times New Roman" panose="02020603050405020304" pitchFamily="18" charset="0"/>
              <a:cs typeface="Times New Roman" panose="02020603050405020304" pitchFamily="18" charset="0"/>
            </a:endParaRPr>
          </a:p>
          <a:p>
            <a:pPr algn="l"/>
            <a:r>
              <a:rPr lang="en-IN" sz="1500" dirty="0">
                <a:solidFill>
                  <a:srgbClr val="DCE6F2"/>
                </a:solidFill>
                <a:latin typeface="Times New Roman" panose="02020603050405020304" pitchFamily="18" charset="0"/>
                <a:cs typeface="Times New Roman" panose="02020603050405020304" pitchFamily="18" charset="0"/>
              </a:rPr>
              <a:t>               4</a:t>
            </a:r>
            <a:r>
              <a:rPr lang="en-IN" sz="1500" baseline="30000" dirty="0">
                <a:solidFill>
                  <a:srgbClr val="DCE6F2"/>
                </a:solidFill>
                <a:latin typeface="Times New Roman" panose="02020603050405020304" pitchFamily="18" charset="0"/>
                <a:cs typeface="Times New Roman" panose="02020603050405020304" pitchFamily="18" charset="0"/>
              </a:rPr>
              <a:t>th</a:t>
            </a:r>
            <a:r>
              <a:rPr lang="en-IN" sz="1500" dirty="0">
                <a:solidFill>
                  <a:srgbClr val="DCE6F2"/>
                </a:solidFill>
                <a:latin typeface="Times New Roman" panose="02020603050405020304" pitchFamily="18" charset="0"/>
                <a:cs typeface="Times New Roman" panose="02020603050405020304" pitchFamily="18" charset="0"/>
              </a:rPr>
              <a:t> Year – A section – Department of Computer Science and Engineering</a:t>
            </a:r>
          </a:p>
          <a:p>
            <a:pPr algn="l"/>
            <a:r>
              <a:rPr sz="1500" b="0" dirty="0">
                <a:solidFill>
                  <a:srgbClr val="DCE6F2"/>
                </a:solidFill>
                <a:latin typeface="Times New Roman" panose="02020603050405020304" pitchFamily="18" charset="0"/>
                <a:cs typeface="Times New Roman" panose="02020603050405020304" pitchFamily="18" charset="0"/>
              </a:rPr>
              <a:t>
Guide: Mrs. N. </a:t>
            </a:r>
            <a:r>
              <a:rPr sz="1500" b="0" dirty="0" err="1">
                <a:solidFill>
                  <a:srgbClr val="DCE6F2"/>
                </a:solidFill>
                <a:latin typeface="Times New Roman" panose="02020603050405020304" pitchFamily="18" charset="0"/>
                <a:cs typeface="Times New Roman" panose="02020603050405020304" pitchFamily="18" charset="0"/>
              </a:rPr>
              <a:t>Danapaquiame</a:t>
            </a:r>
            <a:r>
              <a:rPr sz="1500" b="0" dirty="0">
                <a:solidFill>
                  <a:srgbClr val="DCE6F2"/>
                </a:solidFill>
                <a:latin typeface="Times New Roman" panose="02020603050405020304" pitchFamily="18" charset="0"/>
                <a:cs typeface="Times New Roman" panose="02020603050405020304" pitchFamily="18" charset="0"/>
              </a:rPr>
              <a:t>, Professor &amp; HOD, CSE
Department of Computer Science &amp; Engineering · Sri Manakula Vinayagar Engineering College</a:t>
            </a:r>
          </a:p>
        </p:txBody>
      </p:sp>
      <p:pic>
        <p:nvPicPr>
          <p:cNvPr id="9" name="Picture 8">
            <a:extLst>
              <a:ext uri="{FF2B5EF4-FFF2-40B4-BE49-F238E27FC236}">
                <a16:creationId xmlns:a16="http://schemas.microsoft.com/office/drawing/2014/main" id="{902936DA-3ECB-22A0-9525-0C6954F102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7759" y="118873"/>
            <a:ext cx="8830849" cy="7680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11480"/>
            <a:ext cx="3657600" cy="274320"/>
          </a:xfrm>
          <a:prstGeom prst="rect">
            <a:avLst/>
          </a:prstGeom>
          <a:noFill/>
        </p:spPr>
        <p:txBody>
          <a:bodyPr wrap="square">
            <a:spAutoFit/>
          </a:bodyPr>
          <a:lstStyle/>
          <a:p>
            <a:pPr algn="l"/>
            <a:r>
              <a:rPr sz="1300" b="1">
                <a:solidFill>
                  <a:srgbClr val="A47B32"/>
                </a:solidFill>
                <a:latin typeface="Aptos"/>
              </a:rPr>
              <a:t>01 · ROADMAP</a:t>
            </a:r>
          </a:p>
        </p:txBody>
      </p:sp>
      <p:sp>
        <p:nvSpPr>
          <p:cNvPr id="5" name="TextBox 4"/>
          <p:cNvSpPr txBox="1"/>
          <p:nvPr/>
        </p:nvSpPr>
        <p:spPr>
          <a:xfrm>
            <a:off x="731520" y="713232"/>
            <a:ext cx="10789920" cy="548640"/>
          </a:xfrm>
          <a:prstGeom prst="rect">
            <a:avLst/>
          </a:prstGeom>
          <a:noFill/>
        </p:spPr>
        <p:txBody>
          <a:bodyPr wrap="square">
            <a:spAutoFit/>
          </a:bodyPr>
          <a:lstStyle/>
          <a:p>
            <a:pPr algn="l"/>
            <a:r>
              <a:rPr sz="2900" b="1">
                <a:solidFill>
                  <a:srgbClr val="071B36"/>
                </a:solidFill>
                <a:latin typeface="Aptos"/>
              </a:rPr>
              <a:t>Agenda</a:t>
            </a:r>
          </a:p>
        </p:txBody>
      </p:sp>
      <p:sp>
        <p:nvSpPr>
          <p:cNvPr id="6" name="Rounded Rectangle 5"/>
          <p:cNvSpPr/>
          <p:nvPr/>
        </p:nvSpPr>
        <p:spPr>
          <a:xfrm>
            <a:off x="749808" y="1417320"/>
            <a:ext cx="5074920" cy="868680"/>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581912"/>
            <a:ext cx="384048" cy="384048"/>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636776"/>
            <a:ext cx="384048" cy="182880"/>
          </a:xfrm>
          <a:prstGeom prst="rect">
            <a:avLst/>
          </a:prstGeom>
          <a:noFill/>
        </p:spPr>
        <p:txBody>
          <a:bodyPr wrap="square">
            <a:spAutoFit/>
          </a:bodyPr>
          <a:lstStyle/>
          <a:p>
            <a:pPr algn="ctr"/>
            <a:r>
              <a:rPr sz="1000" b="1">
                <a:solidFill>
                  <a:srgbClr val="F6F0DF"/>
                </a:solidFill>
                <a:latin typeface="Aptos"/>
              </a:rPr>
              <a:t>1</a:t>
            </a:r>
          </a:p>
        </p:txBody>
      </p:sp>
      <p:sp>
        <p:nvSpPr>
          <p:cNvPr id="9" name="TextBox 8"/>
          <p:cNvSpPr txBox="1"/>
          <p:nvPr/>
        </p:nvSpPr>
        <p:spPr>
          <a:xfrm>
            <a:off x="1435607" y="1554480"/>
            <a:ext cx="4160520" cy="274320"/>
          </a:xfrm>
          <a:prstGeom prst="rect">
            <a:avLst/>
          </a:prstGeom>
          <a:noFill/>
        </p:spPr>
        <p:txBody>
          <a:bodyPr wrap="square">
            <a:spAutoFit/>
          </a:bodyPr>
          <a:lstStyle/>
          <a:p>
            <a:pPr algn="l"/>
            <a:r>
              <a:rPr sz="1500" b="1">
                <a:solidFill>
                  <a:srgbClr val="071B36"/>
                </a:solidFill>
                <a:latin typeface="Aptos"/>
              </a:rPr>
              <a:t>Domain: Rainfall Nowcasting</a:t>
            </a:r>
          </a:p>
        </p:txBody>
      </p:sp>
      <p:sp>
        <p:nvSpPr>
          <p:cNvPr id="10" name="TextBox 9"/>
          <p:cNvSpPr txBox="1"/>
          <p:nvPr/>
        </p:nvSpPr>
        <p:spPr>
          <a:xfrm>
            <a:off x="1435607" y="1865376"/>
            <a:ext cx="4160520" cy="274320"/>
          </a:xfrm>
          <a:prstGeom prst="rect">
            <a:avLst/>
          </a:prstGeom>
          <a:noFill/>
        </p:spPr>
        <p:txBody>
          <a:bodyPr wrap="square">
            <a:spAutoFit/>
          </a:bodyPr>
          <a:lstStyle/>
          <a:p>
            <a:pPr algn="l"/>
            <a:r>
              <a:rPr sz="1000" b="0">
                <a:solidFill>
                  <a:srgbClr val="4F6277"/>
                </a:solidFill>
                <a:latin typeface="Aptos"/>
              </a:rPr>
              <a:t>What nowcasting means and why the 0–3 hour window matters.</a:t>
            </a:r>
          </a:p>
        </p:txBody>
      </p:sp>
      <p:sp>
        <p:nvSpPr>
          <p:cNvPr id="11" name="Rounded Rectangle 10"/>
          <p:cNvSpPr/>
          <p:nvPr/>
        </p:nvSpPr>
        <p:spPr>
          <a:xfrm>
            <a:off x="6281928" y="1417320"/>
            <a:ext cx="5074920" cy="868680"/>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46520" y="1581912"/>
            <a:ext cx="384048" cy="384048"/>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1636776"/>
            <a:ext cx="384048" cy="182880"/>
          </a:xfrm>
          <a:prstGeom prst="rect">
            <a:avLst/>
          </a:prstGeom>
          <a:noFill/>
        </p:spPr>
        <p:txBody>
          <a:bodyPr wrap="square">
            <a:spAutoFit/>
          </a:bodyPr>
          <a:lstStyle/>
          <a:p>
            <a:pPr algn="ctr"/>
            <a:r>
              <a:rPr sz="1000" b="1">
                <a:solidFill>
                  <a:srgbClr val="F6F0DF"/>
                </a:solidFill>
                <a:latin typeface="Aptos"/>
              </a:rPr>
              <a:t>2</a:t>
            </a:r>
          </a:p>
        </p:txBody>
      </p:sp>
      <p:sp>
        <p:nvSpPr>
          <p:cNvPr id="14" name="TextBox 13"/>
          <p:cNvSpPr txBox="1"/>
          <p:nvPr/>
        </p:nvSpPr>
        <p:spPr>
          <a:xfrm>
            <a:off x="6967728" y="1554480"/>
            <a:ext cx="4160520" cy="274320"/>
          </a:xfrm>
          <a:prstGeom prst="rect">
            <a:avLst/>
          </a:prstGeom>
          <a:noFill/>
        </p:spPr>
        <p:txBody>
          <a:bodyPr wrap="square">
            <a:spAutoFit/>
          </a:bodyPr>
          <a:lstStyle/>
          <a:p>
            <a:pPr algn="l"/>
            <a:r>
              <a:rPr sz="1500" b="1">
                <a:solidFill>
                  <a:srgbClr val="071B36"/>
                </a:solidFill>
                <a:latin typeface="Aptos"/>
              </a:rPr>
              <a:t>AI &amp; Machine Learning in Weather</a:t>
            </a:r>
          </a:p>
        </p:txBody>
      </p:sp>
      <p:sp>
        <p:nvSpPr>
          <p:cNvPr id="15" name="TextBox 14"/>
          <p:cNvSpPr txBox="1"/>
          <p:nvPr/>
        </p:nvSpPr>
        <p:spPr>
          <a:xfrm>
            <a:off x="6967728" y="1865376"/>
            <a:ext cx="4160520" cy="274320"/>
          </a:xfrm>
          <a:prstGeom prst="rect">
            <a:avLst/>
          </a:prstGeom>
          <a:noFill/>
        </p:spPr>
        <p:txBody>
          <a:bodyPr wrap="square">
            <a:spAutoFit/>
          </a:bodyPr>
          <a:lstStyle/>
          <a:p>
            <a:pPr algn="l"/>
            <a:r>
              <a:rPr sz="1000" b="0">
                <a:solidFill>
                  <a:srgbClr val="4F6277"/>
                </a:solidFill>
                <a:latin typeface="Aptos"/>
              </a:rPr>
              <a:t>How spatiotemporal learning models rainfall evolution.</a:t>
            </a:r>
          </a:p>
        </p:txBody>
      </p:sp>
      <p:sp>
        <p:nvSpPr>
          <p:cNvPr id="16" name="Rounded Rectangle 15"/>
          <p:cNvSpPr/>
          <p:nvPr/>
        </p:nvSpPr>
        <p:spPr>
          <a:xfrm>
            <a:off x="749808" y="2532888"/>
            <a:ext cx="5074920" cy="868680"/>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14400" y="2697480"/>
            <a:ext cx="384048" cy="384048"/>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2752344"/>
            <a:ext cx="384048" cy="182880"/>
          </a:xfrm>
          <a:prstGeom prst="rect">
            <a:avLst/>
          </a:prstGeom>
          <a:noFill/>
        </p:spPr>
        <p:txBody>
          <a:bodyPr wrap="square">
            <a:spAutoFit/>
          </a:bodyPr>
          <a:lstStyle/>
          <a:p>
            <a:pPr algn="ctr"/>
            <a:r>
              <a:rPr sz="1000" b="1">
                <a:solidFill>
                  <a:srgbClr val="F6F0DF"/>
                </a:solidFill>
                <a:latin typeface="Aptos"/>
              </a:rPr>
              <a:t>3</a:t>
            </a:r>
          </a:p>
        </p:txBody>
      </p:sp>
      <p:sp>
        <p:nvSpPr>
          <p:cNvPr id="19" name="TextBox 18"/>
          <p:cNvSpPr txBox="1"/>
          <p:nvPr/>
        </p:nvSpPr>
        <p:spPr>
          <a:xfrm>
            <a:off x="1435607" y="2670048"/>
            <a:ext cx="4160520" cy="274320"/>
          </a:xfrm>
          <a:prstGeom prst="rect">
            <a:avLst/>
          </a:prstGeom>
          <a:noFill/>
        </p:spPr>
        <p:txBody>
          <a:bodyPr wrap="square">
            <a:spAutoFit/>
          </a:bodyPr>
          <a:lstStyle/>
          <a:p>
            <a:pPr algn="l"/>
            <a:r>
              <a:rPr sz="1500" b="1">
                <a:solidFill>
                  <a:srgbClr val="071B36"/>
                </a:solidFill>
                <a:latin typeface="Aptos"/>
              </a:rPr>
              <a:t>IoT &amp; Sensor Data Fusion</a:t>
            </a:r>
          </a:p>
        </p:txBody>
      </p:sp>
      <p:sp>
        <p:nvSpPr>
          <p:cNvPr id="20" name="TextBox 19"/>
          <p:cNvSpPr txBox="1"/>
          <p:nvPr/>
        </p:nvSpPr>
        <p:spPr>
          <a:xfrm>
            <a:off x="1435607" y="2980944"/>
            <a:ext cx="4160520" cy="274320"/>
          </a:xfrm>
          <a:prstGeom prst="rect">
            <a:avLst/>
          </a:prstGeom>
          <a:noFill/>
        </p:spPr>
        <p:txBody>
          <a:bodyPr wrap="square">
            <a:spAutoFit/>
          </a:bodyPr>
          <a:lstStyle/>
          <a:p>
            <a:pPr algn="l"/>
            <a:r>
              <a:rPr sz="1000" b="0">
                <a:solidFill>
                  <a:srgbClr val="4F6277"/>
                </a:solidFill>
                <a:latin typeface="Aptos"/>
              </a:rPr>
              <a:t>AWS, PWS and heterogeneous observations.</a:t>
            </a:r>
          </a:p>
        </p:txBody>
      </p:sp>
      <p:sp>
        <p:nvSpPr>
          <p:cNvPr id="21" name="Rounded Rectangle 20"/>
          <p:cNvSpPr/>
          <p:nvPr/>
        </p:nvSpPr>
        <p:spPr>
          <a:xfrm>
            <a:off x="6281928" y="2532888"/>
            <a:ext cx="5074920" cy="868680"/>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46520" y="2697480"/>
            <a:ext cx="384048" cy="384048"/>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46520" y="2752344"/>
            <a:ext cx="384048" cy="182880"/>
          </a:xfrm>
          <a:prstGeom prst="rect">
            <a:avLst/>
          </a:prstGeom>
          <a:noFill/>
        </p:spPr>
        <p:txBody>
          <a:bodyPr wrap="square">
            <a:spAutoFit/>
          </a:bodyPr>
          <a:lstStyle/>
          <a:p>
            <a:pPr algn="ctr"/>
            <a:r>
              <a:rPr sz="1000" b="1">
                <a:solidFill>
                  <a:srgbClr val="F6F0DF"/>
                </a:solidFill>
                <a:latin typeface="Aptos"/>
              </a:rPr>
              <a:t>4</a:t>
            </a:r>
          </a:p>
        </p:txBody>
      </p:sp>
      <p:sp>
        <p:nvSpPr>
          <p:cNvPr id="24" name="TextBox 23"/>
          <p:cNvSpPr txBox="1"/>
          <p:nvPr/>
        </p:nvSpPr>
        <p:spPr>
          <a:xfrm>
            <a:off x="6967728" y="2670048"/>
            <a:ext cx="4160520" cy="274320"/>
          </a:xfrm>
          <a:prstGeom prst="rect">
            <a:avLst/>
          </a:prstGeom>
          <a:noFill/>
        </p:spPr>
        <p:txBody>
          <a:bodyPr wrap="square">
            <a:spAutoFit/>
          </a:bodyPr>
          <a:lstStyle/>
          <a:p>
            <a:pPr algn="l"/>
            <a:r>
              <a:rPr sz="1500" b="1">
                <a:solidFill>
                  <a:srgbClr val="071B36"/>
                </a:solidFill>
                <a:latin typeface="Aptos"/>
              </a:rPr>
              <a:t>Numerical Weather Prediction</a:t>
            </a:r>
          </a:p>
        </p:txBody>
      </p:sp>
      <p:sp>
        <p:nvSpPr>
          <p:cNvPr id="25" name="TextBox 24"/>
          <p:cNvSpPr txBox="1"/>
          <p:nvPr/>
        </p:nvSpPr>
        <p:spPr>
          <a:xfrm>
            <a:off x="6967728" y="2980944"/>
            <a:ext cx="4160520" cy="274320"/>
          </a:xfrm>
          <a:prstGeom prst="rect">
            <a:avLst/>
          </a:prstGeom>
          <a:noFill/>
        </p:spPr>
        <p:txBody>
          <a:bodyPr wrap="square">
            <a:spAutoFit/>
          </a:bodyPr>
          <a:lstStyle/>
          <a:p>
            <a:pPr algn="l"/>
            <a:r>
              <a:rPr sz="1000" b="0">
                <a:solidFill>
                  <a:srgbClr val="4F6277"/>
                </a:solidFill>
                <a:latin typeface="Aptos"/>
              </a:rPr>
              <a:t>How ECMWF NWP complements short-term ML forecasts.</a:t>
            </a:r>
          </a:p>
        </p:txBody>
      </p:sp>
      <p:sp>
        <p:nvSpPr>
          <p:cNvPr id="26" name="Rounded Rectangle 25"/>
          <p:cNvSpPr/>
          <p:nvPr/>
        </p:nvSpPr>
        <p:spPr>
          <a:xfrm>
            <a:off x="749808" y="3648456"/>
            <a:ext cx="5074920" cy="868680"/>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14400" y="3813048"/>
            <a:ext cx="384048" cy="384048"/>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4400" y="3867912"/>
            <a:ext cx="384048" cy="182880"/>
          </a:xfrm>
          <a:prstGeom prst="rect">
            <a:avLst/>
          </a:prstGeom>
          <a:noFill/>
        </p:spPr>
        <p:txBody>
          <a:bodyPr wrap="square">
            <a:spAutoFit/>
          </a:bodyPr>
          <a:lstStyle/>
          <a:p>
            <a:pPr algn="ctr"/>
            <a:r>
              <a:rPr sz="1000" b="1">
                <a:solidFill>
                  <a:srgbClr val="F6F0DF"/>
                </a:solidFill>
                <a:latin typeface="Aptos"/>
              </a:rPr>
              <a:t>5</a:t>
            </a:r>
          </a:p>
        </p:txBody>
      </p:sp>
      <p:sp>
        <p:nvSpPr>
          <p:cNvPr id="29" name="TextBox 28"/>
          <p:cNvSpPr txBox="1"/>
          <p:nvPr/>
        </p:nvSpPr>
        <p:spPr>
          <a:xfrm>
            <a:off x="1435607" y="3785616"/>
            <a:ext cx="4160520" cy="274320"/>
          </a:xfrm>
          <a:prstGeom prst="rect">
            <a:avLst/>
          </a:prstGeom>
          <a:noFill/>
        </p:spPr>
        <p:txBody>
          <a:bodyPr wrap="square">
            <a:spAutoFit/>
          </a:bodyPr>
          <a:lstStyle/>
          <a:p>
            <a:pPr algn="l"/>
            <a:r>
              <a:rPr sz="1500" b="1">
                <a:solidFill>
                  <a:srgbClr val="071B36"/>
                </a:solidFill>
                <a:latin typeface="Aptos"/>
              </a:rPr>
              <a:t>Geospatial &amp; Full-Stack Development</a:t>
            </a:r>
          </a:p>
        </p:txBody>
      </p:sp>
      <p:sp>
        <p:nvSpPr>
          <p:cNvPr id="30" name="TextBox 29"/>
          <p:cNvSpPr txBox="1"/>
          <p:nvPr/>
        </p:nvSpPr>
        <p:spPr>
          <a:xfrm>
            <a:off x="1435607" y="4096512"/>
            <a:ext cx="4160520" cy="274320"/>
          </a:xfrm>
          <a:prstGeom prst="rect">
            <a:avLst/>
          </a:prstGeom>
          <a:noFill/>
        </p:spPr>
        <p:txBody>
          <a:bodyPr wrap="square">
            <a:spAutoFit/>
          </a:bodyPr>
          <a:lstStyle/>
          <a:p>
            <a:pPr algn="l"/>
            <a:r>
              <a:rPr sz="1000" b="0">
                <a:solidFill>
                  <a:srgbClr val="4F6277"/>
                </a:solidFill>
                <a:latin typeface="Aptos"/>
              </a:rPr>
              <a:t>Maps, raster layers and the web platform.</a:t>
            </a:r>
          </a:p>
        </p:txBody>
      </p:sp>
      <p:sp>
        <p:nvSpPr>
          <p:cNvPr id="31" name="Rounded Rectangle 30"/>
          <p:cNvSpPr/>
          <p:nvPr/>
        </p:nvSpPr>
        <p:spPr>
          <a:xfrm>
            <a:off x="6281928" y="3648456"/>
            <a:ext cx="5074920" cy="868680"/>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446520" y="3813048"/>
            <a:ext cx="384048" cy="384048"/>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46520" y="3867912"/>
            <a:ext cx="384048" cy="182880"/>
          </a:xfrm>
          <a:prstGeom prst="rect">
            <a:avLst/>
          </a:prstGeom>
          <a:noFill/>
        </p:spPr>
        <p:txBody>
          <a:bodyPr wrap="square">
            <a:spAutoFit/>
          </a:bodyPr>
          <a:lstStyle/>
          <a:p>
            <a:pPr algn="ctr"/>
            <a:r>
              <a:rPr sz="1000" b="1">
                <a:solidFill>
                  <a:srgbClr val="F6F0DF"/>
                </a:solidFill>
                <a:latin typeface="Aptos"/>
              </a:rPr>
              <a:t>6</a:t>
            </a:r>
          </a:p>
        </p:txBody>
      </p:sp>
      <p:sp>
        <p:nvSpPr>
          <p:cNvPr id="34" name="TextBox 33"/>
          <p:cNvSpPr txBox="1"/>
          <p:nvPr/>
        </p:nvSpPr>
        <p:spPr>
          <a:xfrm>
            <a:off x="6967728" y="3785616"/>
            <a:ext cx="4160520" cy="274320"/>
          </a:xfrm>
          <a:prstGeom prst="rect">
            <a:avLst/>
          </a:prstGeom>
          <a:noFill/>
        </p:spPr>
        <p:txBody>
          <a:bodyPr wrap="square">
            <a:spAutoFit/>
          </a:bodyPr>
          <a:lstStyle/>
          <a:p>
            <a:pPr algn="l"/>
            <a:r>
              <a:rPr sz="1500" b="1">
                <a:solidFill>
                  <a:srgbClr val="071B36"/>
                </a:solidFill>
                <a:latin typeface="Aptos"/>
              </a:rPr>
              <a:t>Domain Intersection</a:t>
            </a:r>
          </a:p>
        </p:txBody>
      </p:sp>
      <p:sp>
        <p:nvSpPr>
          <p:cNvPr id="35" name="TextBox 34"/>
          <p:cNvSpPr txBox="1"/>
          <p:nvPr/>
        </p:nvSpPr>
        <p:spPr>
          <a:xfrm>
            <a:off x="6967728" y="4096512"/>
            <a:ext cx="4160520" cy="274320"/>
          </a:xfrm>
          <a:prstGeom prst="rect">
            <a:avLst/>
          </a:prstGeom>
          <a:noFill/>
        </p:spPr>
        <p:txBody>
          <a:bodyPr wrap="square">
            <a:spAutoFit/>
          </a:bodyPr>
          <a:lstStyle/>
          <a:p>
            <a:pPr algn="l"/>
            <a:r>
              <a:rPr sz="1000" b="0">
                <a:solidFill>
                  <a:srgbClr val="4F6277"/>
                </a:solidFill>
                <a:latin typeface="Aptos"/>
              </a:rPr>
              <a:t>How Meteorology, AI, IoT and Web Development meet.</a:t>
            </a:r>
          </a:p>
        </p:txBody>
      </p:sp>
      <p:sp>
        <p:nvSpPr>
          <p:cNvPr id="36" name="Rounded Rectangle 35"/>
          <p:cNvSpPr/>
          <p:nvPr/>
        </p:nvSpPr>
        <p:spPr>
          <a:xfrm>
            <a:off x="749808" y="4764024"/>
            <a:ext cx="5074920" cy="868680"/>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914400" y="4928616"/>
            <a:ext cx="384048" cy="384048"/>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4983480"/>
            <a:ext cx="384048" cy="182880"/>
          </a:xfrm>
          <a:prstGeom prst="rect">
            <a:avLst/>
          </a:prstGeom>
          <a:noFill/>
        </p:spPr>
        <p:txBody>
          <a:bodyPr wrap="square">
            <a:spAutoFit/>
          </a:bodyPr>
          <a:lstStyle/>
          <a:p>
            <a:pPr algn="ctr"/>
            <a:r>
              <a:rPr sz="1000" b="1">
                <a:solidFill>
                  <a:srgbClr val="F6F0DF"/>
                </a:solidFill>
                <a:latin typeface="Aptos"/>
              </a:rPr>
              <a:t>7</a:t>
            </a:r>
          </a:p>
        </p:txBody>
      </p:sp>
      <p:sp>
        <p:nvSpPr>
          <p:cNvPr id="39" name="TextBox 38"/>
          <p:cNvSpPr txBox="1"/>
          <p:nvPr/>
        </p:nvSpPr>
        <p:spPr>
          <a:xfrm>
            <a:off x="1435607" y="4901184"/>
            <a:ext cx="4160520" cy="274320"/>
          </a:xfrm>
          <a:prstGeom prst="rect">
            <a:avLst/>
          </a:prstGeom>
          <a:noFill/>
        </p:spPr>
        <p:txBody>
          <a:bodyPr wrap="square">
            <a:spAutoFit/>
          </a:bodyPr>
          <a:lstStyle/>
          <a:p>
            <a:pPr algn="l"/>
            <a:r>
              <a:rPr sz="1500" b="1">
                <a:solidFill>
                  <a:srgbClr val="071B36"/>
                </a:solidFill>
                <a:latin typeface="Aptos"/>
              </a:rPr>
              <a:t>Significance &amp; Motivation</a:t>
            </a:r>
          </a:p>
        </p:txBody>
      </p:sp>
      <p:sp>
        <p:nvSpPr>
          <p:cNvPr id="40" name="TextBox 39"/>
          <p:cNvSpPr txBox="1"/>
          <p:nvPr/>
        </p:nvSpPr>
        <p:spPr>
          <a:xfrm>
            <a:off x="1435607" y="5212080"/>
            <a:ext cx="4160520" cy="274320"/>
          </a:xfrm>
          <a:prstGeom prst="rect">
            <a:avLst/>
          </a:prstGeom>
          <a:noFill/>
        </p:spPr>
        <p:txBody>
          <a:bodyPr wrap="square">
            <a:spAutoFit/>
          </a:bodyPr>
          <a:lstStyle/>
          <a:p>
            <a:pPr algn="l"/>
            <a:r>
              <a:rPr sz="1000" b="0">
                <a:solidFill>
                  <a:srgbClr val="4F6277"/>
                </a:solidFill>
                <a:latin typeface="Aptos"/>
              </a:rPr>
              <a:t>Why hyperlocal rainfall intelligence matters in South India.</a:t>
            </a:r>
          </a:p>
        </p:txBody>
      </p:sp>
      <p:sp>
        <p:nvSpPr>
          <p:cNvPr id="41" name="Rounded Rectangle 40"/>
          <p:cNvSpPr/>
          <p:nvPr/>
        </p:nvSpPr>
        <p:spPr>
          <a:xfrm>
            <a:off x="6281928" y="4764024"/>
            <a:ext cx="5074920" cy="868680"/>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6446520" y="4928616"/>
            <a:ext cx="384048" cy="384048"/>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46520" y="4983480"/>
            <a:ext cx="384048" cy="182880"/>
          </a:xfrm>
          <a:prstGeom prst="rect">
            <a:avLst/>
          </a:prstGeom>
          <a:noFill/>
        </p:spPr>
        <p:txBody>
          <a:bodyPr wrap="square">
            <a:spAutoFit/>
          </a:bodyPr>
          <a:lstStyle/>
          <a:p>
            <a:pPr algn="ctr"/>
            <a:r>
              <a:rPr sz="1000" b="1">
                <a:solidFill>
                  <a:srgbClr val="F6F0DF"/>
                </a:solidFill>
                <a:latin typeface="Aptos"/>
              </a:rPr>
              <a:t>8</a:t>
            </a:r>
          </a:p>
        </p:txBody>
      </p:sp>
      <p:sp>
        <p:nvSpPr>
          <p:cNvPr id="44" name="TextBox 43"/>
          <p:cNvSpPr txBox="1"/>
          <p:nvPr/>
        </p:nvSpPr>
        <p:spPr>
          <a:xfrm>
            <a:off x="6967728" y="4901184"/>
            <a:ext cx="4160520" cy="274320"/>
          </a:xfrm>
          <a:prstGeom prst="rect">
            <a:avLst/>
          </a:prstGeom>
          <a:noFill/>
        </p:spPr>
        <p:txBody>
          <a:bodyPr wrap="square">
            <a:spAutoFit/>
          </a:bodyPr>
          <a:lstStyle/>
          <a:p>
            <a:pPr algn="l"/>
            <a:r>
              <a:rPr sz="1500" b="1">
                <a:solidFill>
                  <a:srgbClr val="071B36"/>
                </a:solidFill>
                <a:latin typeface="Aptos"/>
              </a:rPr>
              <a:t>Domain References</a:t>
            </a:r>
          </a:p>
        </p:txBody>
      </p:sp>
      <p:sp>
        <p:nvSpPr>
          <p:cNvPr id="45" name="TextBox 44"/>
          <p:cNvSpPr txBox="1"/>
          <p:nvPr/>
        </p:nvSpPr>
        <p:spPr>
          <a:xfrm>
            <a:off x="6967728" y="5212080"/>
            <a:ext cx="4160520" cy="274320"/>
          </a:xfrm>
          <a:prstGeom prst="rect">
            <a:avLst/>
          </a:prstGeom>
          <a:noFill/>
        </p:spPr>
        <p:txBody>
          <a:bodyPr wrap="square">
            <a:spAutoFit/>
          </a:bodyPr>
          <a:lstStyle/>
          <a:p>
            <a:pPr algn="l"/>
            <a:r>
              <a:rPr sz="1000" b="0">
                <a:solidFill>
                  <a:srgbClr val="4F6277"/>
                </a:solidFill>
                <a:latin typeface="Aptos"/>
              </a:rPr>
              <a:t>Foundational research and operational data sources.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11480"/>
            <a:ext cx="3657600" cy="274320"/>
          </a:xfrm>
          <a:prstGeom prst="rect">
            <a:avLst/>
          </a:prstGeom>
          <a:noFill/>
        </p:spPr>
        <p:txBody>
          <a:bodyPr wrap="square">
            <a:spAutoFit/>
          </a:bodyPr>
          <a:lstStyle/>
          <a:p>
            <a:pPr algn="l"/>
            <a:r>
              <a:rPr sz="1300" b="1">
                <a:solidFill>
                  <a:srgbClr val="D8B56A"/>
                </a:solidFill>
                <a:latin typeface="Aptos"/>
              </a:rPr>
              <a:t>02 · DOMAIN</a:t>
            </a:r>
          </a:p>
        </p:txBody>
      </p:sp>
      <p:sp>
        <p:nvSpPr>
          <p:cNvPr id="5" name="TextBox 4"/>
          <p:cNvSpPr txBox="1"/>
          <p:nvPr/>
        </p:nvSpPr>
        <p:spPr>
          <a:xfrm>
            <a:off x="731520" y="713232"/>
            <a:ext cx="10789920" cy="548640"/>
          </a:xfrm>
          <a:prstGeom prst="rect">
            <a:avLst/>
          </a:prstGeom>
          <a:noFill/>
        </p:spPr>
        <p:txBody>
          <a:bodyPr wrap="square">
            <a:spAutoFit/>
          </a:bodyPr>
          <a:lstStyle/>
          <a:p>
            <a:pPr algn="l"/>
            <a:r>
              <a:rPr sz="2900" b="1">
                <a:solidFill>
                  <a:srgbClr val="F6F0DF"/>
                </a:solidFill>
                <a:latin typeface="Aptos"/>
              </a:rPr>
              <a:t>What is Rainfall Nowcasting?</a:t>
            </a:r>
          </a:p>
        </p:txBody>
      </p:sp>
      <p:sp>
        <p:nvSpPr>
          <p:cNvPr id="6" name="Rounded Rectangle 5"/>
          <p:cNvSpPr/>
          <p:nvPr/>
        </p:nvSpPr>
        <p:spPr>
          <a:xfrm>
            <a:off x="731520" y="1508760"/>
            <a:ext cx="4983480" cy="1234440"/>
          </a:xfrm>
          <a:prstGeom prst="roundRect">
            <a:avLst/>
          </a:prstGeom>
          <a:solidFill>
            <a:srgbClr val="0C284A"/>
          </a:solidFill>
          <a:ln>
            <a:solidFill>
              <a:srgbClr val="2347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27632"/>
            <a:ext cx="1371600" cy="274320"/>
          </a:xfrm>
          <a:prstGeom prst="rect">
            <a:avLst/>
          </a:prstGeom>
          <a:noFill/>
        </p:spPr>
        <p:txBody>
          <a:bodyPr wrap="square">
            <a:spAutoFit/>
          </a:bodyPr>
          <a:lstStyle/>
          <a:p>
            <a:pPr algn="l"/>
            <a:r>
              <a:rPr sz="1600" b="1" dirty="0">
                <a:solidFill>
                  <a:srgbClr val="D8B56A"/>
                </a:solidFill>
                <a:latin typeface="Aptos"/>
              </a:rPr>
              <a:t>DEFINITION</a:t>
            </a:r>
          </a:p>
        </p:txBody>
      </p:sp>
      <p:sp>
        <p:nvSpPr>
          <p:cNvPr id="8" name="TextBox 7"/>
          <p:cNvSpPr txBox="1"/>
          <p:nvPr/>
        </p:nvSpPr>
        <p:spPr>
          <a:xfrm>
            <a:off x="960120" y="2011679"/>
            <a:ext cx="4434840" cy="548640"/>
          </a:xfrm>
          <a:prstGeom prst="rect">
            <a:avLst/>
          </a:prstGeom>
          <a:noFill/>
        </p:spPr>
        <p:txBody>
          <a:bodyPr wrap="square">
            <a:spAutoFit/>
          </a:bodyPr>
          <a:lstStyle/>
          <a:p>
            <a:pPr algn="l"/>
            <a:r>
              <a:rPr sz="1500" b="0" dirty="0">
                <a:solidFill>
                  <a:srgbClr val="F6F0DF"/>
                </a:solidFill>
                <a:latin typeface="Aptos"/>
              </a:rPr>
              <a:t>Very short-range prediction of rainfall intensity and location, from minutes to a few hours ahead. Our target: 0–3 hours.</a:t>
            </a:r>
          </a:p>
        </p:txBody>
      </p:sp>
      <p:sp>
        <p:nvSpPr>
          <p:cNvPr id="9" name="TextBox 8"/>
          <p:cNvSpPr txBox="1"/>
          <p:nvPr/>
        </p:nvSpPr>
        <p:spPr>
          <a:xfrm>
            <a:off x="777240" y="2971800"/>
            <a:ext cx="4983480" cy="2468880"/>
          </a:xfrm>
          <a:prstGeom prst="rect">
            <a:avLst/>
          </a:prstGeom>
          <a:noFill/>
        </p:spPr>
        <p:txBody>
          <a:bodyPr wrap="square">
            <a:spAutoFit/>
          </a:bodyPr>
          <a:lstStyle/>
          <a:p>
            <a:pPr>
              <a:spcAft>
                <a:spcPts val="900"/>
              </a:spcAft>
              <a:defRPr sz="1500">
                <a:solidFill>
                  <a:srgbClr val="DCE6F2"/>
                </a:solidFill>
                <a:latin typeface="Aptos"/>
              </a:defRPr>
            </a:pPr>
            <a:r>
              <a:t>• Nowcasting is local, high-frequency and observation-driven.</a:t>
            </a:r>
          </a:p>
          <a:p>
            <a:pPr>
              <a:spcAft>
                <a:spcPts val="900"/>
              </a:spcAft>
              <a:defRPr sz="1500">
                <a:solidFill>
                  <a:srgbClr val="DCE6F2"/>
                </a:solidFill>
                <a:latin typeface="Aptos"/>
              </a:defRPr>
            </a:pPr>
            <a:r>
              <a:t>• NWP solves atmospheric physics and is stronger for broader scales and longer horizons.</a:t>
            </a:r>
          </a:p>
          <a:p>
            <a:pPr>
              <a:spcAft>
                <a:spcPts val="900"/>
              </a:spcAft>
              <a:defRPr sz="1500">
                <a:solidFill>
                  <a:srgbClr val="DCE6F2"/>
                </a:solidFill>
                <a:latin typeface="Aptos"/>
              </a:defRPr>
            </a:pPr>
            <a:r>
              <a:t>• Convective cells can form, intensify or shift quickly between model cycles.</a:t>
            </a:r>
          </a:p>
          <a:p>
            <a:pPr>
              <a:spcAft>
                <a:spcPts val="900"/>
              </a:spcAft>
              <a:defRPr sz="1500">
                <a:solidFill>
                  <a:srgbClr val="DCE6F2"/>
                </a:solidFill>
                <a:latin typeface="Aptos"/>
              </a:defRPr>
            </a:pPr>
            <a:r>
              <a:t>• Applications include agriculture, flood response, aviation and daily commuting.</a:t>
            </a:r>
          </a:p>
        </p:txBody>
      </p:sp>
      <p:sp>
        <p:nvSpPr>
          <p:cNvPr id="10" name="Rounded Rectangle 9"/>
          <p:cNvSpPr/>
          <p:nvPr/>
        </p:nvSpPr>
        <p:spPr>
          <a:xfrm>
            <a:off x="6080760" y="1508760"/>
            <a:ext cx="5349240" cy="4251960"/>
          </a:xfrm>
          <a:prstGeom prst="roundRect">
            <a:avLst/>
          </a:prstGeom>
          <a:solidFill>
            <a:srgbClr val="F6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55080" y="1737360"/>
            <a:ext cx="4389120" cy="274320"/>
          </a:xfrm>
          <a:prstGeom prst="rect">
            <a:avLst/>
          </a:prstGeom>
          <a:noFill/>
        </p:spPr>
        <p:txBody>
          <a:bodyPr wrap="square">
            <a:spAutoFit/>
          </a:bodyPr>
          <a:lstStyle/>
          <a:p>
            <a:pPr algn="l"/>
            <a:r>
              <a:rPr sz="1600" b="1">
                <a:solidFill>
                  <a:srgbClr val="071B36"/>
                </a:solidFill>
                <a:latin typeface="Aptos"/>
              </a:rPr>
              <a:t>FORECAST HORIZON</a:t>
            </a:r>
          </a:p>
        </p:txBody>
      </p:sp>
      <p:sp>
        <p:nvSpPr>
          <p:cNvPr id="12" name="Rounded Rectangle 11"/>
          <p:cNvSpPr/>
          <p:nvPr/>
        </p:nvSpPr>
        <p:spPr>
          <a:xfrm>
            <a:off x="6400800" y="3931920"/>
            <a:ext cx="1097280" cy="960120"/>
          </a:xfrm>
          <a:prstGeom prst="roundRect">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4069080"/>
            <a:ext cx="1097280" cy="274320"/>
          </a:xfrm>
          <a:prstGeom prst="rect">
            <a:avLst/>
          </a:prstGeom>
          <a:noFill/>
        </p:spPr>
        <p:txBody>
          <a:bodyPr wrap="square">
            <a:spAutoFit/>
          </a:bodyPr>
          <a:lstStyle/>
          <a:p>
            <a:pPr algn="ctr"/>
            <a:r>
              <a:rPr sz="1600" b="1">
                <a:solidFill>
                  <a:srgbClr val="071B36"/>
                </a:solidFill>
                <a:latin typeface="Aptos"/>
              </a:rPr>
              <a:t>0–3 h</a:t>
            </a:r>
          </a:p>
        </p:txBody>
      </p:sp>
      <p:sp>
        <p:nvSpPr>
          <p:cNvPr id="14" name="TextBox 13"/>
          <p:cNvSpPr txBox="1"/>
          <p:nvPr/>
        </p:nvSpPr>
        <p:spPr>
          <a:xfrm>
            <a:off x="6400800" y="5074920"/>
            <a:ext cx="1097280" cy="320040"/>
          </a:xfrm>
          <a:prstGeom prst="rect">
            <a:avLst/>
          </a:prstGeom>
          <a:noFill/>
        </p:spPr>
        <p:txBody>
          <a:bodyPr wrap="square">
            <a:spAutoFit/>
          </a:bodyPr>
          <a:lstStyle/>
          <a:p>
            <a:pPr algn="ctr"/>
            <a:r>
              <a:rPr sz="1000" b="1">
                <a:solidFill>
                  <a:srgbClr val="071B36"/>
                </a:solidFill>
                <a:latin typeface="Aptos"/>
              </a:rPr>
              <a:t>ML Nowcast</a:t>
            </a:r>
          </a:p>
        </p:txBody>
      </p:sp>
      <p:sp>
        <p:nvSpPr>
          <p:cNvPr id="15" name="Rounded Rectangle 14"/>
          <p:cNvSpPr/>
          <p:nvPr/>
        </p:nvSpPr>
        <p:spPr>
          <a:xfrm>
            <a:off x="8138160" y="3383279"/>
            <a:ext cx="1097280" cy="1508760"/>
          </a:xfrm>
          <a:prstGeom prst="roundRect">
            <a:avLst/>
          </a:prstGeom>
          <a:solidFill>
            <a:srgbClr val="9FB6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38160" y="3520439"/>
            <a:ext cx="1097280" cy="274320"/>
          </a:xfrm>
          <a:prstGeom prst="rect">
            <a:avLst/>
          </a:prstGeom>
          <a:noFill/>
        </p:spPr>
        <p:txBody>
          <a:bodyPr wrap="square">
            <a:spAutoFit/>
          </a:bodyPr>
          <a:lstStyle/>
          <a:p>
            <a:pPr algn="ctr"/>
            <a:r>
              <a:rPr sz="1600" b="1">
                <a:solidFill>
                  <a:srgbClr val="071B36"/>
                </a:solidFill>
                <a:latin typeface="Aptos"/>
              </a:rPr>
              <a:t>3–24 h</a:t>
            </a:r>
          </a:p>
        </p:txBody>
      </p:sp>
      <p:sp>
        <p:nvSpPr>
          <p:cNvPr id="17" name="TextBox 16"/>
          <p:cNvSpPr txBox="1"/>
          <p:nvPr/>
        </p:nvSpPr>
        <p:spPr>
          <a:xfrm>
            <a:off x="8138160" y="5074920"/>
            <a:ext cx="1097280" cy="320040"/>
          </a:xfrm>
          <a:prstGeom prst="rect">
            <a:avLst/>
          </a:prstGeom>
          <a:noFill/>
        </p:spPr>
        <p:txBody>
          <a:bodyPr wrap="square">
            <a:spAutoFit/>
          </a:bodyPr>
          <a:lstStyle/>
          <a:p>
            <a:pPr algn="ctr"/>
            <a:r>
              <a:rPr sz="1000" b="1">
                <a:solidFill>
                  <a:srgbClr val="071B36"/>
                </a:solidFill>
                <a:latin typeface="Aptos"/>
              </a:rPr>
              <a:t>Transition</a:t>
            </a:r>
          </a:p>
        </p:txBody>
      </p:sp>
      <p:sp>
        <p:nvSpPr>
          <p:cNvPr id="18" name="Rounded Rectangle 17"/>
          <p:cNvSpPr/>
          <p:nvPr/>
        </p:nvSpPr>
        <p:spPr>
          <a:xfrm>
            <a:off x="9875520" y="2743199"/>
            <a:ext cx="1097280" cy="2148840"/>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75520" y="2880359"/>
            <a:ext cx="1097280" cy="274320"/>
          </a:xfrm>
          <a:prstGeom prst="rect">
            <a:avLst/>
          </a:prstGeom>
          <a:noFill/>
        </p:spPr>
        <p:txBody>
          <a:bodyPr wrap="square">
            <a:spAutoFit/>
          </a:bodyPr>
          <a:lstStyle/>
          <a:p>
            <a:pPr algn="ctr"/>
            <a:r>
              <a:rPr sz="1600" b="1">
                <a:solidFill>
                  <a:srgbClr val="F6F0DF"/>
                </a:solidFill>
                <a:latin typeface="Aptos"/>
              </a:rPr>
              <a:t>1–10 d</a:t>
            </a:r>
          </a:p>
        </p:txBody>
      </p:sp>
      <p:sp>
        <p:nvSpPr>
          <p:cNvPr id="20" name="TextBox 19"/>
          <p:cNvSpPr txBox="1"/>
          <p:nvPr/>
        </p:nvSpPr>
        <p:spPr>
          <a:xfrm>
            <a:off x="9875520" y="5074920"/>
            <a:ext cx="1097280" cy="320040"/>
          </a:xfrm>
          <a:prstGeom prst="rect">
            <a:avLst/>
          </a:prstGeom>
          <a:noFill/>
        </p:spPr>
        <p:txBody>
          <a:bodyPr wrap="square">
            <a:spAutoFit/>
          </a:bodyPr>
          <a:lstStyle/>
          <a:p>
            <a:pPr algn="ctr"/>
            <a:r>
              <a:rPr sz="1000" b="1">
                <a:solidFill>
                  <a:srgbClr val="071B36"/>
                </a:solidFill>
                <a:latin typeface="Aptos"/>
              </a:rPr>
              <a:t>NWP</a:t>
            </a:r>
          </a:p>
        </p:txBody>
      </p:sp>
      <p:sp>
        <p:nvSpPr>
          <p:cNvPr id="21" name="TextBox 20"/>
          <p:cNvSpPr txBox="1"/>
          <p:nvPr/>
        </p:nvSpPr>
        <p:spPr>
          <a:xfrm>
            <a:off x="6574536" y="5532120"/>
            <a:ext cx="4663440" cy="320040"/>
          </a:xfrm>
          <a:prstGeom prst="rect">
            <a:avLst/>
          </a:prstGeom>
          <a:noFill/>
        </p:spPr>
        <p:txBody>
          <a:bodyPr wrap="square">
            <a:spAutoFit/>
          </a:bodyPr>
          <a:lstStyle/>
          <a:p>
            <a:pPr algn="l"/>
            <a:r>
              <a:rPr sz="1100" b="0" dirty="0">
                <a:solidFill>
                  <a:srgbClr val="4F6277"/>
                </a:solidFill>
                <a:latin typeface="Aptos"/>
              </a:rPr>
              <a:t>Goal: complement NWP with hyperlocal short-term intelligence.</a:t>
            </a:r>
          </a:p>
        </p:txBody>
      </p:sp>
      <p:sp>
        <p:nvSpPr>
          <p:cNvPr id="22" name="TextBox 21"/>
          <p:cNvSpPr txBox="1"/>
          <p:nvPr/>
        </p:nvSpPr>
        <p:spPr>
          <a:xfrm>
            <a:off x="8595360" y="6492240"/>
            <a:ext cx="2834640" cy="182880"/>
          </a:xfrm>
          <a:prstGeom prst="rect">
            <a:avLst/>
          </a:prstGeom>
          <a:noFill/>
        </p:spPr>
        <p:txBody>
          <a:bodyPr wrap="square">
            <a:spAutoFit/>
          </a:bodyPr>
          <a:lstStyle/>
          <a:p>
            <a:pPr algn="r"/>
            <a:r>
              <a:rPr sz="800" b="1" dirty="0">
                <a:solidFill>
                  <a:srgbClr val="7890AA"/>
                </a:solidFill>
                <a:latin typeface="Aptos"/>
              </a:rPr>
              <a:t>02 · NOWCASTING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11480"/>
            <a:ext cx="3657600" cy="274320"/>
          </a:xfrm>
          <a:prstGeom prst="rect">
            <a:avLst/>
          </a:prstGeom>
          <a:noFill/>
        </p:spPr>
        <p:txBody>
          <a:bodyPr wrap="square">
            <a:spAutoFit/>
          </a:bodyPr>
          <a:lstStyle/>
          <a:p>
            <a:pPr algn="l"/>
            <a:r>
              <a:rPr sz="1300" b="1">
                <a:solidFill>
                  <a:srgbClr val="A47B32"/>
                </a:solidFill>
                <a:latin typeface="Aptos"/>
              </a:rPr>
              <a:t>03 · DOMAIN</a:t>
            </a:r>
          </a:p>
        </p:txBody>
      </p:sp>
      <p:sp>
        <p:nvSpPr>
          <p:cNvPr id="5" name="TextBox 4"/>
          <p:cNvSpPr txBox="1"/>
          <p:nvPr/>
        </p:nvSpPr>
        <p:spPr>
          <a:xfrm>
            <a:off x="731520" y="713232"/>
            <a:ext cx="10789920" cy="548640"/>
          </a:xfrm>
          <a:prstGeom prst="rect">
            <a:avLst/>
          </a:prstGeom>
          <a:noFill/>
        </p:spPr>
        <p:txBody>
          <a:bodyPr wrap="square">
            <a:spAutoFit/>
          </a:bodyPr>
          <a:lstStyle/>
          <a:p>
            <a:pPr algn="l"/>
            <a:r>
              <a:rPr sz="2900" b="1">
                <a:solidFill>
                  <a:srgbClr val="071B36"/>
                </a:solidFill>
                <a:latin typeface="Aptos"/>
              </a:rPr>
              <a:t>AI &amp; Machine Learning in Weather</a:t>
            </a:r>
          </a:p>
        </p:txBody>
      </p:sp>
      <p:sp>
        <p:nvSpPr>
          <p:cNvPr id="6" name="TextBox 5"/>
          <p:cNvSpPr txBox="1"/>
          <p:nvPr/>
        </p:nvSpPr>
        <p:spPr>
          <a:xfrm>
            <a:off x="749808" y="1417320"/>
            <a:ext cx="5029200" cy="4389120"/>
          </a:xfrm>
          <a:prstGeom prst="rect">
            <a:avLst/>
          </a:prstGeom>
          <a:noFill/>
        </p:spPr>
        <p:txBody>
          <a:bodyPr wrap="square">
            <a:spAutoFit/>
          </a:bodyPr>
          <a:lstStyle/>
          <a:p>
            <a:pPr>
              <a:spcAft>
                <a:spcPts val="900"/>
              </a:spcAft>
              <a:defRPr sz="1500">
                <a:solidFill>
                  <a:srgbClr val="071B36"/>
                </a:solidFill>
                <a:latin typeface="Aptos"/>
              </a:defRPr>
            </a:pPr>
            <a:r>
              <a:t>• ML learns relationships among rainfall, temperature, pressure, humidity, wind and time.</a:t>
            </a:r>
          </a:p>
          <a:p>
            <a:pPr>
              <a:spcAft>
                <a:spcPts val="900"/>
              </a:spcAft>
              <a:defRPr sz="1500">
                <a:solidFill>
                  <a:srgbClr val="071B36"/>
                </a:solidFill>
                <a:latin typeface="Aptos"/>
              </a:defRPr>
            </a:pPr>
            <a:r>
              <a:t>• CNNs capture spatial patterns; LSTMs/GRUs capture temporal evolution.</a:t>
            </a:r>
          </a:p>
          <a:p>
            <a:pPr>
              <a:spcAft>
                <a:spcPts val="900"/>
              </a:spcAft>
              <a:defRPr sz="1500">
                <a:solidFill>
                  <a:srgbClr val="071B36"/>
                </a:solidFill>
                <a:latin typeface="Aptos"/>
              </a:defRPr>
            </a:pPr>
            <a:r>
              <a:t>• Feature engineering can include lagged rainfall, rolling statistics, station observations and geographic context.</a:t>
            </a:r>
          </a:p>
          <a:p>
            <a:pPr>
              <a:spcAft>
                <a:spcPts val="900"/>
              </a:spcAft>
              <a:defRPr sz="1500">
                <a:solidFill>
                  <a:srgbClr val="071B36"/>
                </a:solidFill>
                <a:latin typeface="Aptos"/>
              </a:defRPr>
            </a:pPr>
            <a:r>
              <a:t>• Supervised learning converts historical weather sequences into input–target pairs.</a:t>
            </a:r>
          </a:p>
          <a:p>
            <a:pPr>
              <a:spcAft>
                <a:spcPts val="900"/>
              </a:spcAft>
              <a:defRPr sz="1500">
                <a:solidFill>
                  <a:srgbClr val="071B36"/>
                </a:solidFill>
                <a:latin typeface="Aptos"/>
              </a:defRPr>
            </a:pPr>
            <a:r>
              <a:t>• Time-series forecasting learns how the present atmospheric state relates to future rainfall.</a:t>
            </a:r>
          </a:p>
        </p:txBody>
      </p:sp>
      <p:sp>
        <p:nvSpPr>
          <p:cNvPr id="7" name="Rounded Rectangle 6"/>
          <p:cNvSpPr/>
          <p:nvPr/>
        </p:nvSpPr>
        <p:spPr>
          <a:xfrm>
            <a:off x="6080760" y="1417320"/>
            <a:ext cx="5303520" cy="4480560"/>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55080" y="1664208"/>
            <a:ext cx="4389120" cy="274320"/>
          </a:xfrm>
          <a:prstGeom prst="rect">
            <a:avLst/>
          </a:prstGeom>
          <a:noFill/>
        </p:spPr>
        <p:txBody>
          <a:bodyPr wrap="square">
            <a:spAutoFit/>
          </a:bodyPr>
          <a:lstStyle/>
          <a:p>
            <a:pPr algn="l"/>
            <a:r>
              <a:rPr sz="1600" b="1">
                <a:solidFill>
                  <a:srgbClr val="0B315B"/>
                </a:solidFill>
                <a:latin typeface="Aptos"/>
              </a:rPr>
              <a:t>EVOLUTION OF APPROACHES</a:t>
            </a:r>
          </a:p>
        </p:txBody>
      </p:sp>
      <p:sp>
        <p:nvSpPr>
          <p:cNvPr id="9" name="Rounded Rectangle 8"/>
          <p:cNvSpPr/>
          <p:nvPr/>
        </p:nvSpPr>
        <p:spPr>
          <a:xfrm>
            <a:off x="6355080" y="2331720"/>
            <a:ext cx="1051560" cy="1234440"/>
          </a:xfrm>
          <a:prstGeom prst="roundRect">
            <a:avLst/>
          </a:prstGeom>
          <a:solidFill>
            <a:srgbClr val="E4D7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2487168"/>
            <a:ext cx="1051560" cy="228600"/>
          </a:xfrm>
          <a:prstGeom prst="rect">
            <a:avLst/>
          </a:prstGeom>
          <a:noFill/>
        </p:spPr>
        <p:txBody>
          <a:bodyPr wrap="square">
            <a:spAutoFit/>
          </a:bodyPr>
          <a:lstStyle/>
          <a:p>
            <a:pPr algn="ctr"/>
            <a:r>
              <a:rPr sz="1200" b="1">
                <a:solidFill>
                  <a:srgbClr val="071B36"/>
                </a:solidFill>
                <a:latin typeface="Aptos"/>
              </a:rPr>
              <a:t>Classical</a:t>
            </a:r>
          </a:p>
        </p:txBody>
      </p:sp>
      <p:sp>
        <p:nvSpPr>
          <p:cNvPr id="11" name="TextBox 10"/>
          <p:cNvSpPr txBox="1"/>
          <p:nvPr/>
        </p:nvSpPr>
        <p:spPr>
          <a:xfrm>
            <a:off x="6355080" y="2852928"/>
            <a:ext cx="1051560" cy="411480"/>
          </a:xfrm>
          <a:prstGeom prst="rect">
            <a:avLst/>
          </a:prstGeom>
          <a:noFill/>
        </p:spPr>
        <p:txBody>
          <a:bodyPr wrap="square">
            <a:spAutoFit/>
          </a:bodyPr>
          <a:lstStyle/>
          <a:p>
            <a:pPr algn="ctr"/>
            <a:r>
              <a:rPr sz="1000" b="0">
                <a:solidFill>
                  <a:srgbClr val="071B36"/>
                </a:solidFill>
                <a:latin typeface="Aptos"/>
              </a:rPr>
              <a:t>Persistence
Optical flow</a:t>
            </a:r>
          </a:p>
        </p:txBody>
      </p:sp>
      <p:sp>
        <p:nvSpPr>
          <p:cNvPr id="12" name="TextBox 11"/>
          <p:cNvSpPr txBox="1"/>
          <p:nvPr/>
        </p:nvSpPr>
        <p:spPr>
          <a:xfrm>
            <a:off x="7406640" y="2697480"/>
            <a:ext cx="228600" cy="274320"/>
          </a:xfrm>
          <a:prstGeom prst="rect">
            <a:avLst/>
          </a:prstGeom>
          <a:noFill/>
        </p:spPr>
        <p:txBody>
          <a:bodyPr wrap="square">
            <a:spAutoFit/>
          </a:bodyPr>
          <a:lstStyle/>
          <a:p>
            <a:pPr algn="ctr"/>
            <a:r>
              <a:rPr sz="1800" b="1">
                <a:solidFill>
                  <a:srgbClr val="A47B32"/>
                </a:solidFill>
                <a:latin typeface="Aptos"/>
              </a:rPr>
              <a:t>→</a:t>
            </a:r>
          </a:p>
        </p:txBody>
      </p:sp>
      <p:sp>
        <p:nvSpPr>
          <p:cNvPr id="13" name="Rounded Rectangle 12"/>
          <p:cNvSpPr/>
          <p:nvPr/>
        </p:nvSpPr>
        <p:spPr>
          <a:xfrm>
            <a:off x="7616952" y="2331720"/>
            <a:ext cx="1051560" cy="1234440"/>
          </a:xfrm>
          <a:prstGeom prst="roundRect">
            <a:avLst/>
          </a:prstGeom>
          <a:solidFill>
            <a:srgbClr val="C8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16952" y="2487168"/>
            <a:ext cx="1051560" cy="228600"/>
          </a:xfrm>
          <a:prstGeom prst="rect">
            <a:avLst/>
          </a:prstGeom>
          <a:noFill/>
        </p:spPr>
        <p:txBody>
          <a:bodyPr wrap="square">
            <a:spAutoFit/>
          </a:bodyPr>
          <a:lstStyle/>
          <a:p>
            <a:pPr algn="ctr"/>
            <a:r>
              <a:rPr sz="1200" b="1">
                <a:solidFill>
                  <a:srgbClr val="071B36"/>
                </a:solidFill>
                <a:latin typeface="Aptos"/>
              </a:rPr>
              <a:t>ML</a:t>
            </a:r>
          </a:p>
        </p:txBody>
      </p:sp>
      <p:sp>
        <p:nvSpPr>
          <p:cNvPr id="15" name="TextBox 14"/>
          <p:cNvSpPr txBox="1"/>
          <p:nvPr/>
        </p:nvSpPr>
        <p:spPr>
          <a:xfrm>
            <a:off x="7616952" y="2852928"/>
            <a:ext cx="1051560" cy="411480"/>
          </a:xfrm>
          <a:prstGeom prst="rect">
            <a:avLst/>
          </a:prstGeom>
          <a:noFill/>
        </p:spPr>
        <p:txBody>
          <a:bodyPr wrap="square">
            <a:spAutoFit/>
          </a:bodyPr>
          <a:lstStyle/>
          <a:p>
            <a:pPr algn="ctr"/>
            <a:r>
              <a:rPr sz="1000" b="0">
                <a:solidFill>
                  <a:srgbClr val="071B36"/>
                </a:solidFill>
                <a:latin typeface="Aptos"/>
              </a:rPr>
              <a:t>RF
XGBoost</a:t>
            </a:r>
          </a:p>
        </p:txBody>
      </p:sp>
      <p:sp>
        <p:nvSpPr>
          <p:cNvPr id="16" name="TextBox 15"/>
          <p:cNvSpPr txBox="1"/>
          <p:nvPr/>
        </p:nvSpPr>
        <p:spPr>
          <a:xfrm>
            <a:off x="8668512" y="2697480"/>
            <a:ext cx="228600" cy="274320"/>
          </a:xfrm>
          <a:prstGeom prst="rect">
            <a:avLst/>
          </a:prstGeom>
          <a:noFill/>
        </p:spPr>
        <p:txBody>
          <a:bodyPr wrap="square">
            <a:spAutoFit/>
          </a:bodyPr>
          <a:lstStyle/>
          <a:p>
            <a:pPr algn="ctr"/>
            <a:r>
              <a:rPr sz="1800" b="1">
                <a:solidFill>
                  <a:srgbClr val="A47B32"/>
                </a:solidFill>
                <a:latin typeface="Aptos"/>
              </a:rPr>
              <a:t>→</a:t>
            </a:r>
          </a:p>
        </p:txBody>
      </p:sp>
      <p:sp>
        <p:nvSpPr>
          <p:cNvPr id="17" name="Rounded Rectangle 16"/>
          <p:cNvSpPr/>
          <p:nvPr/>
        </p:nvSpPr>
        <p:spPr>
          <a:xfrm>
            <a:off x="8878824" y="2331720"/>
            <a:ext cx="1051560" cy="1234440"/>
          </a:xfrm>
          <a:prstGeom prst="roundRect">
            <a:avLst/>
          </a:prstGeom>
          <a:solidFill>
            <a:srgbClr val="9FB6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878824" y="2487168"/>
            <a:ext cx="1051560" cy="228600"/>
          </a:xfrm>
          <a:prstGeom prst="rect">
            <a:avLst/>
          </a:prstGeom>
          <a:noFill/>
        </p:spPr>
        <p:txBody>
          <a:bodyPr wrap="square">
            <a:spAutoFit/>
          </a:bodyPr>
          <a:lstStyle/>
          <a:p>
            <a:pPr algn="ctr"/>
            <a:r>
              <a:rPr sz="1200" b="1">
                <a:solidFill>
                  <a:srgbClr val="071B36"/>
                </a:solidFill>
                <a:latin typeface="Aptos"/>
              </a:rPr>
              <a:t>Sequence</a:t>
            </a:r>
          </a:p>
        </p:txBody>
      </p:sp>
      <p:sp>
        <p:nvSpPr>
          <p:cNvPr id="19" name="TextBox 18"/>
          <p:cNvSpPr txBox="1"/>
          <p:nvPr/>
        </p:nvSpPr>
        <p:spPr>
          <a:xfrm>
            <a:off x="8878824" y="2852928"/>
            <a:ext cx="1051560" cy="411480"/>
          </a:xfrm>
          <a:prstGeom prst="rect">
            <a:avLst/>
          </a:prstGeom>
          <a:noFill/>
        </p:spPr>
        <p:txBody>
          <a:bodyPr wrap="square">
            <a:spAutoFit/>
          </a:bodyPr>
          <a:lstStyle/>
          <a:p>
            <a:pPr algn="ctr"/>
            <a:r>
              <a:rPr sz="1000" b="0">
                <a:solidFill>
                  <a:srgbClr val="071B36"/>
                </a:solidFill>
                <a:latin typeface="Aptos"/>
              </a:rPr>
              <a:t>LSTM
GRU</a:t>
            </a:r>
          </a:p>
        </p:txBody>
      </p:sp>
      <p:sp>
        <p:nvSpPr>
          <p:cNvPr id="20" name="TextBox 19"/>
          <p:cNvSpPr txBox="1"/>
          <p:nvPr/>
        </p:nvSpPr>
        <p:spPr>
          <a:xfrm>
            <a:off x="9930384" y="2697480"/>
            <a:ext cx="228600" cy="274320"/>
          </a:xfrm>
          <a:prstGeom prst="rect">
            <a:avLst/>
          </a:prstGeom>
          <a:noFill/>
        </p:spPr>
        <p:txBody>
          <a:bodyPr wrap="square">
            <a:spAutoFit/>
          </a:bodyPr>
          <a:lstStyle/>
          <a:p>
            <a:pPr algn="ctr"/>
            <a:r>
              <a:rPr sz="1800" b="1">
                <a:solidFill>
                  <a:srgbClr val="A47B32"/>
                </a:solidFill>
                <a:latin typeface="Aptos"/>
              </a:rPr>
              <a:t>→</a:t>
            </a:r>
          </a:p>
        </p:txBody>
      </p:sp>
      <p:sp>
        <p:nvSpPr>
          <p:cNvPr id="21" name="Rounded Rectangle 20"/>
          <p:cNvSpPr/>
          <p:nvPr/>
        </p:nvSpPr>
        <p:spPr>
          <a:xfrm>
            <a:off x="10140696" y="2331720"/>
            <a:ext cx="1051560" cy="1234440"/>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140696" y="2487168"/>
            <a:ext cx="1051560" cy="228600"/>
          </a:xfrm>
          <a:prstGeom prst="rect">
            <a:avLst/>
          </a:prstGeom>
          <a:noFill/>
        </p:spPr>
        <p:txBody>
          <a:bodyPr wrap="square">
            <a:spAutoFit/>
          </a:bodyPr>
          <a:lstStyle/>
          <a:p>
            <a:pPr algn="ctr"/>
            <a:r>
              <a:rPr sz="1200" b="1">
                <a:solidFill>
                  <a:srgbClr val="F6F0DF"/>
                </a:solidFill>
                <a:latin typeface="Aptos"/>
              </a:rPr>
              <a:t>Hybrid</a:t>
            </a:r>
          </a:p>
        </p:txBody>
      </p:sp>
      <p:sp>
        <p:nvSpPr>
          <p:cNvPr id="23" name="TextBox 22"/>
          <p:cNvSpPr txBox="1"/>
          <p:nvPr/>
        </p:nvSpPr>
        <p:spPr>
          <a:xfrm>
            <a:off x="10140696" y="2852928"/>
            <a:ext cx="1051560" cy="411480"/>
          </a:xfrm>
          <a:prstGeom prst="rect">
            <a:avLst/>
          </a:prstGeom>
          <a:noFill/>
        </p:spPr>
        <p:txBody>
          <a:bodyPr wrap="square">
            <a:spAutoFit/>
          </a:bodyPr>
          <a:lstStyle/>
          <a:p>
            <a:pPr algn="ctr"/>
            <a:r>
              <a:rPr sz="1000" b="0">
                <a:solidFill>
                  <a:srgbClr val="F6F0DF"/>
                </a:solidFill>
                <a:latin typeface="Aptos"/>
              </a:rPr>
              <a:t>CNN + LSTM
/ GNN</a:t>
            </a:r>
          </a:p>
        </p:txBody>
      </p:sp>
      <p:sp>
        <p:nvSpPr>
          <p:cNvPr id="24" name="Rounded Rectangle 23"/>
          <p:cNvSpPr/>
          <p:nvPr/>
        </p:nvSpPr>
        <p:spPr>
          <a:xfrm>
            <a:off x="6355080" y="3977639"/>
            <a:ext cx="4526280" cy="1143000"/>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65392" y="4187952"/>
            <a:ext cx="4114800" cy="594360"/>
          </a:xfrm>
          <a:prstGeom prst="rect">
            <a:avLst/>
          </a:prstGeom>
          <a:noFill/>
        </p:spPr>
        <p:txBody>
          <a:bodyPr wrap="square">
            <a:spAutoFit/>
          </a:bodyPr>
          <a:lstStyle/>
          <a:p>
            <a:pPr algn="l"/>
            <a:r>
              <a:rPr sz="1300" b="1">
                <a:solidFill>
                  <a:srgbClr val="F6F0DF"/>
                </a:solidFill>
                <a:latin typeface="Aptos"/>
              </a:rPr>
              <a:t>Core idea: learn the evolution of rainfall patterns from multiple time steps, not each observation independently.</a:t>
            </a:r>
          </a:p>
        </p:txBody>
      </p:sp>
      <p:sp>
        <p:nvSpPr>
          <p:cNvPr id="26" name="TextBox 25"/>
          <p:cNvSpPr txBox="1"/>
          <p:nvPr/>
        </p:nvSpPr>
        <p:spPr>
          <a:xfrm>
            <a:off x="8595360" y="6492240"/>
            <a:ext cx="2834640" cy="182880"/>
          </a:xfrm>
          <a:prstGeom prst="rect">
            <a:avLst/>
          </a:prstGeom>
          <a:noFill/>
        </p:spPr>
        <p:txBody>
          <a:bodyPr wrap="square">
            <a:spAutoFit/>
          </a:bodyPr>
          <a:lstStyle/>
          <a:p>
            <a:pPr algn="r"/>
            <a:r>
              <a:rPr sz="800" b="1">
                <a:solidFill>
                  <a:srgbClr val="718091"/>
                </a:solidFill>
                <a:latin typeface="Aptos"/>
              </a:rPr>
              <a:t>03 · AI / ML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11480"/>
            <a:ext cx="3657600" cy="274320"/>
          </a:xfrm>
          <a:prstGeom prst="rect">
            <a:avLst/>
          </a:prstGeom>
          <a:noFill/>
        </p:spPr>
        <p:txBody>
          <a:bodyPr wrap="square">
            <a:spAutoFit/>
          </a:bodyPr>
          <a:lstStyle/>
          <a:p>
            <a:pPr algn="l"/>
            <a:r>
              <a:rPr sz="1300" b="1">
                <a:solidFill>
                  <a:srgbClr val="D8B56A"/>
                </a:solidFill>
                <a:latin typeface="Aptos"/>
              </a:rPr>
              <a:t>04 · DOMAIN</a:t>
            </a:r>
          </a:p>
        </p:txBody>
      </p:sp>
      <p:sp>
        <p:nvSpPr>
          <p:cNvPr id="5" name="TextBox 4"/>
          <p:cNvSpPr txBox="1"/>
          <p:nvPr/>
        </p:nvSpPr>
        <p:spPr>
          <a:xfrm>
            <a:off x="731520" y="713232"/>
            <a:ext cx="10789920" cy="548640"/>
          </a:xfrm>
          <a:prstGeom prst="rect">
            <a:avLst/>
          </a:prstGeom>
          <a:noFill/>
        </p:spPr>
        <p:txBody>
          <a:bodyPr wrap="square">
            <a:spAutoFit/>
          </a:bodyPr>
          <a:lstStyle/>
          <a:p>
            <a:pPr algn="l"/>
            <a:r>
              <a:rPr sz="2900" b="1">
                <a:solidFill>
                  <a:srgbClr val="F6F0DF"/>
                </a:solidFill>
                <a:latin typeface="Aptos"/>
              </a:rPr>
              <a:t>IoT &amp; Sensor Data Fusion</a:t>
            </a:r>
          </a:p>
        </p:txBody>
      </p:sp>
      <p:sp>
        <p:nvSpPr>
          <p:cNvPr id="6" name="Rounded Rectangle 5"/>
          <p:cNvSpPr/>
          <p:nvPr/>
        </p:nvSpPr>
        <p:spPr>
          <a:xfrm>
            <a:off x="749808" y="1417320"/>
            <a:ext cx="3429000" cy="1691640"/>
          </a:xfrm>
          <a:prstGeom prst="roundRect">
            <a:avLst/>
          </a:prstGeom>
          <a:solidFill>
            <a:srgbClr val="0C284A"/>
          </a:solidFill>
          <a:ln>
            <a:solidFill>
              <a:srgbClr val="2347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50976" y="1627632"/>
            <a:ext cx="2926080" cy="274320"/>
          </a:xfrm>
          <a:prstGeom prst="rect">
            <a:avLst/>
          </a:prstGeom>
          <a:noFill/>
        </p:spPr>
        <p:txBody>
          <a:bodyPr wrap="square">
            <a:spAutoFit/>
          </a:bodyPr>
          <a:lstStyle/>
          <a:p>
            <a:pPr algn="l"/>
            <a:r>
              <a:rPr sz="1500" b="1">
                <a:solidFill>
                  <a:srgbClr val="D8B56A"/>
                </a:solidFill>
                <a:latin typeface="Aptos"/>
              </a:rPr>
              <a:t>IMD AWS</a:t>
            </a:r>
          </a:p>
        </p:txBody>
      </p:sp>
      <p:sp>
        <p:nvSpPr>
          <p:cNvPr id="8" name="TextBox 7"/>
          <p:cNvSpPr txBox="1"/>
          <p:nvPr/>
        </p:nvSpPr>
        <p:spPr>
          <a:xfrm>
            <a:off x="950976" y="2011680"/>
            <a:ext cx="2971800" cy="868680"/>
          </a:xfrm>
          <a:prstGeom prst="rect">
            <a:avLst/>
          </a:prstGeom>
          <a:noFill/>
        </p:spPr>
        <p:txBody>
          <a:bodyPr wrap="square">
            <a:spAutoFit/>
          </a:bodyPr>
          <a:lstStyle/>
          <a:p>
            <a:pPr algn="l"/>
            <a:r>
              <a:rPr sz="1100" b="0">
                <a:solidFill>
                  <a:srgbClr val="F6F0DF"/>
                </a:solidFill>
                <a:latin typeface="Aptos"/>
              </a:rPr>
              <a:t>Automatic Weather Stations provide instrument-based observations such as rainfall, temperature, humidity, wind and pressure.</a:t>
            </a:r>
          </a:p>
        </p:txBody>
      </p:sp>
      <p:sp>
        <p:nvSpPr>
          <p:cNvPr id="9" name="Rounded Rectangle 8"/>
          <p:cNvSpPr/>
          <p:nvPr/>
        </p:nvSpPr>
        <p:spPr>
          <a:xfrm>
            <a:off x="4480560" y="1417320"/>
            <a:ext cx="3429000" cy="1691640"/>
          </a:xfrm>
          <a:prstGeom prst="roundRect">
            <a:avLst/>
          </a:prstGeom>
          <a:solidFill>
            <a:srgbClr val="0C284A"/>
          </a:solidFill>
          <a:ln>
            <a:solidFill>
              <a:srgbClr val="2347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81728" y="1627632"/>
            <a:ext cx="2926080" cy="274320"/>
          </a:xfrm>
          <a:prstGeom prst="rect">
            <a:avLst/>
          </a:prstGeom>
          <a:noFill/>
        </p:spPr>
        <p:txBody>
          <a:bodyPr wrap="square">
            <a:spAutoFit/>
          </a:bodyPr>
          <a:lstStyle/>
          <a:p>
            <a:pPr algn="l"/>
            <a:r>
              <a:rPr sz="1500" b="1">
                <a:solidFill>
                  <a:srgbClr val="D8B56A"/>
                </a:solidFill>
                <a:latin typeface="Aptos"/>
              </a:rPr>
              <a:t>Personal Weather Stations</a:t>
            </a:r>
          </a:p>
        </p:txBody>
      </p:sp>
      <p:sp>
        <p:nvSpPr>
          <p:cNvPr id="11" name="TextBox 10"/>
          <p:cNvSpPr txBox="1"/>
          <p:nvPr/>
        </p:nvSpPr>
        <p:spPr>
          <a:xfrm>
            <a:off x="4681728" y="2011680"/>
            <a:ext cx="2971800" cy="868680"/>
          </a:xfrm>
          <a:prstGeom prst="rect">
            <a:avLst/>
          </a:prstGeom>
          <a:noFill/>
        </p:spPr>
        <p:txBody>
          <a:bodyPr wrap="square">
            <a:spAutoFit/>
          </a:bodyPr>
          <a:lstStyle/>
          <a:p>
            <a:pPr algn="l"/>
            <a:r>
              <a:rPr sz="1100" b="0">
                <a:solidFill>
                  <a:srgbClr val="F6F0DF"/>
                </a:solidFill>
                <a:latin typeface="Aptos"/>
              </a:rPr>
              <a:t>Community stations can add dense local observations. Sources may include Ambient Weather devices and Weather Underground-linked stations.</a:t>
            </a:r>
          </a:p>
        </p:txBody>
      </p:sp>
      <p:sp>
        <p:nvSpPr>
          <p:cNvPr id="12" name="Rounded Rectangle 11"/>
          <p:cNvSpPr/>
          <p:nvPr/>
        </p:nvSpPr>
        <p:spPr>
          <a:xfrm>
            <a:off x="8211312" y="1417320"/>
            <a:ext cx="3429000" cy="1691640"/>
          </a:xfrm>
          <a:prstGeom prst="roundRect">
            <a:avLst/>
          </a:prstGeom>
          <a:solidFill>
            <a:srgbClr val="0C284A"/>
          </a:solidFill>
          <a:ln>
            <a:solidFill>
              <a:srgbClr val="23476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0" y="1627632"/>
            <a:ext cx="2926080" cy="274320"/>
          </a:xfrm>
          <a:prstGeom prst="rect">
            <a:avLst/>
          </a:prstGeom>
          <a:noFill/>
        </p:spPr>
        <p:txBody>
          <a:bodyPr wrap="square">
            <a:spAutoFit/>
          </a:bodyPr>
          <a:lstStyle/>
          <a:p>
            <a:pPr algn="l"/>
            <a:r>
              <a:rPr sz="1500" b="1">
                <a:solidFill>
                  <a:srgbClr val="D8B56A"/>
                </a:solidFill>
                <a:latin typeface="Aptos"/>
              </a:rPr>
              <a:t>Why Fusion?</a:t>
            </a:r>
          </a:p>
        </p:txBody>
      </p:sp>
      <p:sp>
        <p:nvSpPr>
          <p:cNvPr id="14" name="TextBox 13"/>
          <p:cNvSpPr txBox="1"/>
          <p:nvPr/>
        </p:nvSpPr>
        <p:spPr>
          <a:xfrm>
            <a:off x="8412480" y="2011680"/>
            <a:ext cx="2971800" cy="868680"/>
          </a:xfrm>
          <a:prstGeom prst="rect">
            <a:avLst/>
          </a:prstGeom>
          <a:noFill/>
        </p:spPr>
        <p:txBody>
          <a:bodyPr wrap="square">
            <a:spAutoFit/>
          </a:bodyPr>
          <a:lstStyle/>
          <a:p>
            <a:pPr algn="l"/>
            <a:r>
              <a:rPr sz="1100" b="0">
                <a:solidFill>
                  <a:srgbClr val="F6F0DF"/>
                </a:solidFill>
                <a:latin typeface="Aptos"/>
              </a:rPr>
              <a:t>More observation points can reveal neighborhood-scale rainfall variability that a sparse station network may miss.</a:t>
            </a:r>
          </a:p>
        </p:txBody>
      </p:sp>
      <p:sp>
        <p:nvSpPr>
          <p:cNvPr id="15" name="Rounded Rectangle 14"/>
          <p:cNvSpPr/>
          <p:nvPr/>
        </p:nvSpPr>
        <p:spPr>
          <a:xfrm>
            <a:off x="749808" y="3401568"/>
            <a:ext cx="10744200" cy="1965960"/>
          </a:xfrm>
          <a:prstGeom prst="roundRect">
            <a:avLst/>
          </a:prstGeom>
          <a:solidFill>
            <a:srgbClr val="F6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3639312"/>
            <a:ext cx="3474720" cy="274320"/>
          </a:xfrm>
          <a:prstGeom prst="rect">
            <a:avLst/>
          </a:prstGeom>
          <a:noFill/>
        </p:spPr>
        <p:txBody>
          <a:bodyPr wrap="square">
            <a:spAutoFit/>
          </a:bodyPr>
          <a:lstStyle/>
          <a:p>
            <a:pPr algn="l"/>
            <a:r>
              <a:rPr sz="1500" b="1">
                <a:solidFill>
                  <a:srgbClr val="071B36"/>
                </a:solidFill>
                <a:latin typeface="Aptos"/>
              </a:rPr>
              <a:t>MULTI-SOURCE OBSERVATION PIPELINE</a:t>
            </a:r>
          </a:p>
        </p:txBody>
      </p:sp>
      <p:sp>
        <p:nvSpPr>
          <p:cNvPr id="17" name="Rounded Rectangle 16"/>
          <p:cNvSpPr/>
          <p:nvPr/>
        </p:nvSpPr>
        <p:spPr>
          <a:xfrm>
            <a:off x="960120" y="4224528"/>
            <a:ext cx="1417320" cy="658368"/>
          </a:xfrm>
          <a:prstGeom prst="roundRect">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4352544"/>
            <a:ext cx="1417320" cy="430887"/>
          </a:xfrm>
          <a:prstGeom prst="rect">
            <a:avLst/>
          </a:prstGeom>
          <a:noFill/>
        </p:spPr>
        <p:txBody>
          <a:bodyPr wrap="square">
            <a:spAutoFit/>
          </a:bodyPr>
          <a:lstStyle/>
          <a:p>
            <a:pPr algn="ctr"/>
            <a:r>
              <a:rPr sz="1100" b="1" dirty="0">
                <a:solidFill>
                  <a:srgbClr val="071B36"/>
                </a:solidFill>
                <a:latin typeface="Aptos"/>
              </a:rPr>
              <a:t>A</a:t>
            </a:r>
            <a:r>
              <a:rPr lang="en-US" sz="1100" b="1" dirty="0">
                <a:solidFill>
                  <a:srgbClr val="071B36"/>
                </a:solidFill>
                <a:latin typeface="Aptos"/>
              </a:rPr>
              <a:t>utomatic </a:t>
            </a:r>
            <a:r>
              <a:rPr sz="1100" b="1" dirty="0">
                <a:solidFill>
                  <a:srgbClr val="071B36"/>
                </a:solidFill>
                <a:latin typeface="Aptos"/>
              </a:rPr>
              <a:t>W</a:t>
            </a:r>
            <a:r>
              <a:rPr lang="en-US" sz="1100" b="1" dirty="0">
                <a:solidFill>
                  <a:srgbClr val="071B36"/>
                </a:solidFill>
                <a:latin typeface="Aptos"/>
              </a:rPr>
              <a:t>eather </a:t>
            </a:r>
            <a:r>
              <a:rPr sz="1100" b="1" dirty="0">
                <a:solidFill>
                  <a:srgbClr val="071B36"/>
                </a:solidFill>
                <a:latin typeface="Aptos"/>
              </a:rPr>
              <a:t>S</a:t>
            </a:r>
            <a:r>
              <a:rPr lang="en-US" sz="1100" b="1" dirty="0">
                <a:solidFill>
                  <a:srgbClr val="071B36"/>
                </a:solidFill>
                <a:latin typeface="Aptos"/>
              </a:rPr>
              <a:t>tation</a:t>
            </a:r>
            <a:endParaRPr sz="1100" b="1" dirty="0">
              <a:solidFill>
                <a:srgbClr val="071B36"/>
              </a:solidFill>
              <a:latin typeface="Aptos"/>
            </a:endParaRPr>
          </a:p>
        </p:txBody>
      </p:sp>
      <p:sp>
        <p:nvSpPr>
          <p:cNvPr id="19" name="TextBox 18"/>
          <p:cNvSpPr txBox="1"/>
          <p:nvPr/>
        </p:nvSpPr>
        <p:spPr>
          <a:xfrm>
            <a:off x="2404872" y="4416552"/>
            <a:ext cx="320040" cy="228600"/>
          </a:xfrm>
          <a:prstGeom prst="rect">
            <a:avLst/>
          </a:prstGeom>
          <a:noFill/>
        </p:spPr>
        <p:txBody>
          <a:bodyPr wrap="square">
            <a:spAutoFit/>
          </a:bodyPr>
          <a:lstStyle/>
          <a:p>
            <a:pPr algn="ctr"/>
            <a:r>
              <a:rPr sz="1800" b="1">
                <a:solidFill>
                  <a:srgbClr val="A47B32"/>
                </a:solidFill>
                <a:latin typeface="Aptos"/>
              </a:rPr>
              <a:t>+</a:t>
            </a:r>
          </a:p>
        </p:txBody>
      </p:sp>
      <p:sp>
        <p:nvSpPr>
          <p:cNvPr id="20" name="Rounded Rectangle 19"/>
          <p:cNvSpPr/>
          <p:nvPr/>
        </p:nvSpPr>
        <p:spPr>
          <a:xfrm>
            <a:off x="2953512" y="4224528"/>
            <a:ext cx="1417320" cy="658368"/>
          </a:xfrm>
          <a:prstGeom prst="roundRect">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953512" y="4352544"/>
            <a:ext cx="1417320" cy="430887"/>
          </a:xfrm>
          <a:prstGeom prst="rect">
            <a:avLst/>
          </a:prstGeom>
          <a:noFill/>
        </p:spPr>
        <p:txBody>
          <a:bodyPr wrap="square">
            <a:spAutoFit/>
          </a:bodyPr>
          <a:lstStyle/>
          <a:p>
            <a:pPr algn="ctr"/>
            <a:r>
              <a:rPr lang="en-US" sz="1100" b="1" dirty="0">
                <a:solidFill>
                  <a:srgbClr val="071B36"/>
                </a:solidFill>
                <a:latin typeface="Aptos"/>
              </a:rPr>
              <a:t>Personal </a:t>
            </a:r>
            <a:r>
              <a:rPr sz="1100" b="1" dirty="0">
                <a:solidFill>
                  <a:srgbClr val="071B36"/>
                </a:solidFill>
                <a:latin typeface="Aptos"/>
              </a:rPr>
              <a:t>W</a:t>
            </a:r>
            <a:r>
              <a:rPr lang="en-US" sz="1100" b="1" dirty="0">
                <a:solidFill>
                  <a:srgbClr val="071B36"/>
                </a:solidFill>
                <a:latin typeface="Aptos"/>
              </a:rPr>
              <a:t>eather </a:t>
            </a:r>
            <a:r>
              <a:rPr sz="1100" b="1" dirty="0">
                <a:solidFill>
                  <a:srgbClr val="071B36"/>
                </a:solidFill>
                <a:latin typeface="Aptos"/>
              </a:rPr>
              <a:t>S</a:t>
            </a:r>
            <a:r>
              <a:rPr lang="en-US" sz="1100" b="1" dirty="0">
                <a:solidFill>
                  <a:srgbClr val="071B36"/>
                </a:solidFill>
                <a:latin typeface="Aptos"/>
              </a:rPr>
              <a:t>tation</a:t>
            </a:r>
            <a:endParaRPr sz="1100" b="1" dirty="0">
              <a:solidFill>
                <a:srgbClr val="071B36"/>
              </a:solidFill>
              <a:latin typeface="Aptos"/>
            </a:endParaRPr>
          </a:p>
        </p:txBody>
      </p:sp>
      <p:sp>
        <p:nvSpPr>
          <p:cNvPr id="22" name="TextBox 21"/>
          <p:cNvSpPr txBox="1"/>
          <p:nvPr/>
        </p:nvSpPr>
        <p:spPr>
          <a:xfrm>
            <a:off x="4398264" y="4416552"/>
            <a:ext cx="320040" cy="228600"/>
          </a:xfrm>
          <a:prstGeom prst="rect">
            <a:avLst/>
          </a:prstGeom>
          <a:noFill/>
        </p:spPr>
        <p:txBody>
          <a:bodyPr wrap="square">
            <a:spAutoFit/>
          </a:bodyPr>
          <a:lstStyle/>
          <a:p>
            <a:pPr algn="ctr"/>
            <a:r>
              <a:rPr sz="1800" b="1">
                <a:solidFill>
                  <a:srgbClr val="A47B32"/>
                </a:solidFill>
                <a:latin typeface="Aptos"/>
              </a:rPr>
              <a:t>→</a:t>
            </a:r>
          </a:p>
        </p:txBody>
      </p:sp>
      <p:sp>
        <p:nvSpPr>
          <p:cNvPr id="23" name="Rounded Rectangle 22"/>
          <p:cNvSpPr/>
          <p:nvPr/>
        </p:nvSpPr>
        <p:spPr>
          <a:xfrm>
            <a:off x="4946904" y="4224528"/>
            <a:ext cx="1417320" cy="658368"/>
          </a:xfrm>
          <a:prstGeom prst="roundRect">
            <a:avLst/>
          </a:prstGeom>
          <a:solidFill>
            <a:srgbClr val="C8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946904" y="4352544"/>
            <a:ext cx="1417320" cy="320040"/>
          </a:xfrm>
          <a:prstGeom prst="rect">
            <a:avLst/>
          </a:prstGeom>
          <a:noFill/>
        </p:spPr>
        <p:txBody>
          <a:bodyPr wrap="square">
            <a:spAutoFit/>
          </a:bodyPr>
          <a:lstStyle/>
          <a:p>
            <a:pPr algn="ctr"/>
            <a:r>
              <a:rPr sz="1100" b="1">
                <a:solidFill>
                  <a:srgbClr val="071B36"/>
                </a:solidFill>
                <a:latin typeface="Aptos"/>
              </a:rPr>
              <a:t>Time
alignment</a:t>
            </a:r>
          </a:p>
        </p:txBody>
      </p:sp>
      <p:sp>
        <p:nvSpPr>
          <p:cNvPr id="25" name="TextBox 24"/>
          <p:cNvSpPr txBox="1"/>
          <p:nvPr/>
        </p:nvSpPr>
        <p:spPr>
          <a:xfrm>
            <a:off x="6391656" y="4416552"/>
            <a:ext cx="320040" cy="228600"/>
          </a:xfrm>
          <a:prstGeom prst="rect">
            <a:avLst/>
          </a:prstGeom>
          <a:noFill/>
        </p:spPr>
        <p:txBody>
          <a:bodyPr wrap="square">
            <a:spAutoFit/>
          </a:bodyPr>
          <a:lstStyle/>
          <a:p>
            <a:pPr algn="ctr"/>
            <a:r>
              <a:rPr sz="1800" b="1">
                <a:solidFill>
                  <a:srgbClr val="A47B32"/>
                </a:solidFill>
                <a:latin typeface="Aptos"/>
              </a:rPr>
              <a:t>→</a:t>
            </a:r>
          </a:p>
        </p:txBody>
      </p:sp>
      <p:sp>
        <p:nvSpPr>
          <p:cNvPr id="26" name="Rounded Rectangle 25"/>
          <p:cNvSpPr/>
          <p:nvPr/>
        </p:nvSpPr>
        <p:spPr>
          <a:xfrm>
            <a:off x="6940296" y="4224528"/>
            <a:ext cx="1417320" cy="658368"/>
          </a:xfrm>
          <a:prstGeom prst="roundRect">
            <a:avLst/>
          </a:prstGeom>
          <a:solidFill>
            <a:srgbClr val="C8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40296" y="4352544"/>
            <a:ext cx="1417320" cy="320040"/>
          </a:xfrm>
          <a:prstGeom prst="rect">
            <a:avLst/>
          </a:prstGeom>
          <a:noFill/>
        </p:spPr>
        <p:txBody>
          <a:bodyPr wrap="square">
            <a:spAutoFit/>
          </a:bodyPr>
          <a:lstStyle/>
          <a:p>
            <a:pPr algn="ctr"/>
            <a:r>
              <a:rPr sz="1100" b="1">
                <a:solidFill>
                  <a:srgbClr val="071B36"/>
                </a:solidFill>
                <a:latin typeface="Aptos"/>
              </a:rPr>
              <a:t>Quality
control</a:t>
            </a:r>
          </a:p>
        </p:txBody>
      </p:sp>
      <p:sp>
        <p:nvSpPr>
          <p:cNvPr id="28" name="TextBox 27"/>
          <p:cNvSpPr txBox="1"/>
          <p:nvPr/>
        </p:nvSpPr>
        <p:spPr>
          <a:xfrm>
            <a:off x="8385048" y="4416552"/>
            <a:ext cx="320040" cy="228600"/>
          </a:xfrm>
          <a:prstGeom prst="rect">
            <a:avLst/>
          </a:prstGeom>
          <a:noFill/>
        </p:spPr>
        <p:txBody>
          <a:bodyPr wrap="square">
            <a:spAutoFit/>
          </a:bodyPr>
          <a:lstStyle/>
          <a:p>
            <a:pPr algn="ctr"/>
            <a:r>
              <a:rPr sz="1800" b="1">
                <a:solidFill>
                  <a:srgbClr val="A47B32"/>
                </a:solidFill>
                <a:latin typeface="Aptos"/>
              </a:rPr>
              <a:t>→</a:t>
            </a:r>
          </a:p>
        </p:txBody>
      </p:sp>
      <p:sp>
        <p:nvSpPr>
          <p:cNvPr id="29" name="Rounded Rectangle 28"/>
          <p:cNvSpPr/>
          <p:nvPr/>
        </p:nvSpPr>
        <p:spPr>
          <a:xfrm>
            <a:off x="8933688" y="4224528"/>
            <a:ext cx="1417320" cy="658368"/>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933688" y="4352544"/>
            <a:ext cx="1417320" cy="320040"/>
          </a:xfrm>
          <a:prstGeom prst="rect">
            <a:avLst/>
          </a:prstGeom>
          <a:noFill/>
        </p:spPr>
        <p:txBody>
          <a:bodyPr wrap="square">
            <a:spAutoFit/>
          </a:bodyPr>
          <a:lstStyle/>
          <a:p>
            <a:pPr algn="ctr"/>
            <a:r>
              <a:rPr sz="1100" b="1">
                <a:solidFill>
                  <a:srgbClr val="F6F0DF"/>
                </a:solidFill>
                <a:latin typeface="Aptos"/>
              </a:rPr>
              <a:t>Unified
features</a:t>
            </a:r>
          </a:p>
        </p:txBody>
      </p:sp>
      <p:sp>
        <p:nvSpPr>
          <p:cNvPr id="31" name="TextBox 30"/>
          <p:cNvSpPr txBox="1"/>
          <p:nvPr/>
        </p:nvSpPr>
        <p:spPr>
          <a:xfrm>
            <a:off x="960120" y="5056632"/>
            <a:ext cx="9966960" cy="228600"/>
          </a:xfrm>
          <a:prstGeom prst="rect">
            <a:avLst/>
          </a:prstGeom>
          <a:noFill/>
        </p:spPr>
        <p:txBody>
          <a:bodyPr wrap="square">
            <a:spAutoFit/>
          </a:bodyPr>
          <a:lstStyle/>
          <a:p>
            <a:pPr algn="l"/>
            <a:r>
              <a:rPr sz="1000" b="0">
                <a:solidFill>
                  <a:srgbClr val="4F6277"/>
                </a:solidFill>
                <a:latin typeface="Aptos"/>
              </a:rPr>
              <a:t>Challenges: different timestamps · different sensor accuracy · missing / noisy observations</a:t>
            </a:r>
          </a:p>
        </p:txBody>
      </p:sp>
      <p:sp>
        <p:nvSpPr>
          <p:cNvPr id="32" name="TextBox 31"/>
          <p:cNvSpPr txBox="1"/>
          <p:nvPr/>
        </p:nvSpPr>
        <p:spPr>
          <a:xfrm>
            <a:off x="8595360" y="6492240"/>
            <a:ext cx="2834640" cy="182880"/>
          </a:xfrm>
          <a:prstGeom prst="rect">
            <a:avLst/>
          </a:prstGeom>
          <a:noFill/>
        </p:spPr>
        <p:txBody>
          <a:bodyPr wrap="square">
            <a:spAutoFit/>
          </a:bodyPr>
          <a:lstStyle/>
          <a:p>
            <a:pPr algn="r"/>
            <a:r>
              <a:rPr sz="800" b="1">
                <a:solidFill>
                  <a:srgbClr val="7890AA"/>
                </a:solidFill>
                <a:latin typeface="Aptos"/>
              </a:rPr>
              <a:t>04 · IoT + DATA FUSION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11480"/>
            <a:ext cx="3657600" cy="274320"/>
          </a:xfrm>
          <a:prstGeom prst="rect">
            <a:avLst/>
          </a:prstGeom>
          <a:noFill/>
        </p:spPr>
        <p:txBody>
          <a:bodyPr wrap="square">
            <a:spAutoFit/>
          </a:bodyPr>
          <a:lstStyle/>
          <a:p>
            <a:pPr algn="l"/>
            <a:r>
              <a:rPr sz="1300" b="1">
                <a:solidFill>
                  <a:srgbClr val="A47B32"/>
                </a:solidFill>
                <a:latin typeface="Aptos"/>
              </a:rPr>
              <a:t>05 · DOMAIN</a:t>
            </a:r>
          </a:p>
        </p:txBody>
      </p:sp>
      <p:sp>
        <p:nvSpPr>
          <p:cNvPr id="5" name="TextBox 4"/>
          <p:cNvSpPr txBox="1"/>
          <p:nvPr/>
        </p:nvSpPr>
        <p:spPr>
          <a:xfrm>
            <a:off x="731520" y="713232"/>
            <a:ext cx="10789920" cy="548640"/>
          </a:xfrm>
          <a:prstGeom prst="rect">
            <a:avLst/>
          </a:prstGeom>
          <a:noFill/>
        </p:spPr>
        <p:txBody>
          <a:bodyPr wrap="square">
            <a:spAutoFit/>
          </a:bodyPr>
          <a:lstStyle/>
          <a:p>
            <a:pPr algn="l"/>
            <a:r>
              <a:rPr sz="2900" b="1">
                <a:solidFill>
                  <a:srgbClr val="071B36"/>
                </a:solidFill>
                <a:latin typeface="Aptos"/>
              </a:rPr>
              <a:t>Numerical Weather Prediction (NWP)</a:t>
            </a:r>
          </a:p>
        </p:txBody>
      </p:sp>
      <p:sp>
        <p:nvSpPr>
          <p:cNvPr id="6" name="TextBox 5"/>
          <p:cNvSpPr txBox="1"/>
          <p:nvPr/>
        </p:nvSpPr>
        <p:spPr>
          <a:xfrm>
            <a:off x="749808" y="1371600"/>
            <a:ext cx="5074920" cy="4480560"/>
          </a:xfrm>
          <a:prstGeom prst="rect">
            <a:avLst/>
          </a:prstGeom>
          <a:noFill/>
        </p:spPr>
        <p:txBody>
          <a:bodyPr wrap="square">
            <a:spAutoFit/>
          </a:bodyPr>
          <a:lstStyle/>
          <a:p>
            <a:pPr>
              <a:spcAft>
                <a:spcPts val="900"/>
              </a:spcAft>
              <a:defRPr sz="1500">
                <a:solidFill>
                  <a:srgbClr val="071B36"/>
                </a:solidFill>
                <a:latin typeface="Aptos"/>
              </a:defRPr>
            </a:pPr>
            <a:r>
              <a:t>• NWP is a physics-based approach that numerically solves atmospheric equations on a spatial grid.</a:t>
            </a:r>
          </a:p>
          <a:p>
            <a:pPr>
              <a:spcAft>
                <a:spcPts val="900"/>
              </a:spcAft>
              <a:defRPr sz="1500">
                <a:solidFill>
                  <a:srgbClr val="071B36"/>
                </a:solidFill>
                <a:latin typeface="Aptos"/>
              </a:defRPr>
            </a:pPr>
            <a:r>
              <a:t>• ECMWF's IFS and AI-based AIFS provide global forecast guidance.</a:t>
            </a:r>
          </a:p>
          <a:p>
            <a:pPr>
              <a:spcAft>
                <a:spcPts val="900"/>
              </a:spcAft>
              <a:defRPr sz="1500">
                <a:solidFill>
                  <a:srgbClr val="071B36"/>
                </a:solidFill>
                <a:latin typeface="Aptos"/>
              </a:defRPr>
            </a:pPr>
            <a:r>
              <a:t>• GRIB2 is a compact binary format for gridded meteorological fields and forecast steps.</a:t>
            </a:r>
          </a:p>
          <a:p>
            <a:pPr>
              <a:spcAft>
                <a:spcPts val="900"/>
              </a:spcAft>
              <a:defRPr sz="1500">
                <a:solidFill>
                  <a:srgbClr val="071B36"/>
                </a:solidFill>
                <a:latin typeface="Aptos"/>
              </a:defRPr>
            </a:pPr>
            <a:r>
              <a:t>• ECMWF Open Data provides selected real-time IFS/AIFS products publicly; many are on a 0.25° grid.</a:t>
            </a:r>
          </a:p>
          <a:p>
            <a:pPr>
              <a:spcAft>
                <a:spcPts val="900"/>
              </a:spcAft>
              <a:defRPr sz="1500">
                <a:solidFill>
                  <a:srgbClr val="071B36"/>
                </a:solidFill>
                <a:latin typeface="Aptos"/>
              </a:defRPr>
            </a:pPr>
            <a:r>
              <a:t>• Medium-range products extend far beyond the immediate nowcast horizon.</a:t>
            </a:r>
          </a:p>
        </p:txBody>
      </p:sp>
      <p:sp>
        <p:nvSpPr>
          <p:cNvPr id="7" name="Rounded Rectangle 6"/>
          <p:cNvSpPr/>
          <p:nvPr/>
        </p:nvSpPr>
        <p:spPr>
          <a:xfrm>
            <a:off x="6080760" y="1371600"/>
            <a:ext cx="5303520" cy="4526280"/>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55080" y="1627632"/>
            <a:ext cx="4480560" cy="274320"/>
          </a:xfrm>
          <a:prstGeom prst="rect">
            <a:avLst/>
          </a:prstGeom>
          <a:noFill/>
        </p:spPr>
        <p:txBody>
          <a:bodyPr wrap="square">
            <a:spAutoFit/>
          </a:bodyPr>
          <a:lstStyle/>
          <a:p>
            <a:pPr algn="l"/>
            <a:r>
              <a:rPr sz="1500" b="1">
                <a:solidFill>
                  <a:srgbClr val="0B315B"/>
                </a:solidFill>
                <a:latin typeface="Aptos"/>
              </a:rPr>
              <a:t>TWO FORECAST SCALES · ONE SYSTEM</a:t>
            </a:r>
          </a:p>
        </p:txBody>
      </p:sp>
      <p:sp>
        <p:nvSpPr>
          <p:cNvPr id="9" name="Rounded Rectangle 8"/>
          <p:cNvSpPr/>
          <p:nvPr/>
        </p:nvSpPr>
        <p:spPr>
          <a:xfrm>
            <a:off x="6400800" y="2240280"/>
            <a:ext cx="1600200" cy="731520"/>
          </a:xfrm>
          <a:prstGeom prst="roundRect">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2395728"/>
            <a:ext cx="1600200" cy="320040"/>
          </a:xfrm>
          <a:prstGeom prst="rect">
            <a:avLst/>
          </a:prstGeom>
          <a:noFill/>
        </p:spPr>
        <p:txBody>
          <a:bodyPr wrap="square">
            <a:spAutoFit/>
          </a:bodyPr>
          <a:lstStyle/>
          <a:p>
            <a:pPr algn="ctr"/>
            <a:r>
              <a:rPr sz="1400" b="1">
                <a:solidFill>
                  <a:srgbClr val="071B36"/>
                </a:solidFill>
                <a:latin typeface="Aptos"/>
              </a:rPr>
              <a:t>AWS + PWS</a:t>
            </a:r>
          </a:p>
        </p:txBody>
      </p:sp>
      <p:sp>
        <p:nvSpPr>
          <p:cNvPr id="11" name="TextBox 10"/>
          <p:cNvSpPr txBox="1"/>
          <p:nvPr/>
        </p:nvSpPr>
        <p:spPr>
          <a:xfrm>
            <a:off x="8046720" y="2450592"/>
            <a:ext cx="411480" cy="274320"/>
          </a:xfrm>
          <a:prstGeom prst="rect">
            <a:avLst/>
          </a:prstGeom>
          <a:noFill/>
        </p:spPr>
        <p:txBody>
          <a:bodyPr wrap="square">
            <a:spAutoFit/>
          </a:bodyPr>
          <a:lstStyle/>
          <a:p>
            <a:pPr algn="ctr"/>
            <a:r>
              <a:rPr sz="2000" b="1">
                <a:solidFill>
                  <a:srgbClr val="A47B32"/>
                </a:solidFill>
                <a:latin typeface="Aptos"/>
              </a:rPr>
              <a:t>→</a:t>
            </a:r>
          </a:p>
        </p:txBody>
      </p:sp>
      <p:sp>
        <p:nvSpPr>
          <p:cNvPr id="12" name="Rounded Rectangle 11"/>
          <p:cNvSpPr/>
          <p:nvPr/>
        </p:nvSpPr>
        <p:spPr>
          <a:xfrm>
            <a:off x="8503920" y="2148840"/>
            <a:ext cx="2148840" cy="914400"/>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03920" y="2304288"/>
            <a:ext cx="2148840" cy="502920"/>
          </a:xfrm>
          <a:prstGeom prst="rect">
            <a:avLst/>
          </a:prstGeom>
          <a:noFill/>
        </p:spPr>
        <p:txBody>
          <a:bodyPr wrap="square">
            <a:spAutoFit/>
          </a:bodyPr>
          <a:lstStyle/>
          <a:p>
            <a:pPr algn="ctr"/>
            <a:r>
              <a:rPr sz="1400" b="1">
                <a:solidFill>
                  <a:srgbClr val="F6F0DF"/>
                </a:solidFill>
                <a:latin typeface="Aptos"/>
              </a:rPr>
              <a:t>ML NOWCAST
0–3 hours</a:t>
            </a:r>
          </a:p>
        </p:txBody>
      </p:sp>
      <p:sp>
        <p:nvSpPr>
          <p:cNvPr id="14" name="TextBox 13"/>
          <p:cNvSpPr txBox="1"/>
          <p:nvPr/>
        </p:nvSpPr>
        <p:spPr>
          <a:xfrm>
            <a:off x="7086600" y="3200400"/>
            <a:ext cx="274320" cy="457200"/>
          </a:xfrm>
          <a:prstGeom prst="rect">
            <a:avLst/>
          </a:prstGeom>
          <a:noFill/>
        </p:spPr>
        <p:txBody>
          <a:bodyPr wrap="square">
            <a:spAutoFit/>
          </a:bodyPr>
          <a:lstStyle/>
          <a:p>
            <a:pPr algn="ctr"/>
            <a:r>
              <a:rPr sz="2000" b="1">
                <a:solidFill>
                  <a:srgbClr val="A47B32"/>
                </a:solidFill>
                <a:latin typeface="Aptos"/>
              </a:rPr>
              <a:t>↓</a:t>
            </a:r>
          </a:p>
        </p:txBody>
      </p:sp>
      <p:sp>
        <p:nvSpPr>
          <p:cNvPr id="15" name="Rounded Rectangle 14"/>
          <p:cNvSpPr/>
          <p:nvPr/>
        </p:nvSpPr>
        <p:spPr>
          <a:xfrm>
            <a:off x="6400800" y="3794760"/>
            <a:ext cx="1600200" cy="731520"/>
          </a:xfrm>
          <a:prstGeom prst="roundRect">
            <a:avLst/>
          </a:prstGeom>
          <a:solidFill>
            <a:srgbClr val="9FB6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00800" y="3950208"/>
            <a:ext cx="1600200" cy="320040"/>
          </a:xfrm>
          <a:prstGeom prst="rect">
            <a:avLst/>
          </a:prstGeom>
          <a:noFill/>
        </p:spPr>
        <p:txBody>
          <a:bodyPr wrap="square">
            <a:spAutoFit/>
          </a:bodyPr>
          <a:lstStyle/>
          <a:p>
            <a:pPr algn="ctr"/>
            <a:r>
              <a:rPr sz="1400" b="1">
                <a:solidFill>
                  <a:srgbClr val="071B36"/>
                </a:solidFill>
                <a:latin typeface="Aptos"/>
              </a:rPr>
              <a:t>ECMWF NWP</a:t>
            </a:r>
          </a:p>
        </p:txBody>
      </p:sp>
      <p:sp>
        <p:nvSpPr>
          <p:cNvPr id="17" name="TextBox 16"/>
          <p:cNvSpPr txBox="1"/>
          <p:nvPr/>
        </p:nvSpPr>
        <p:spPr>
          <a:xfrm>
            <a:off x="8046720" y="4005072"/>
            <a:ext cx="411480" cy="274320"/>
          </a:xfrm>
          <a:prstGeom prst="rect">
            <a:avLst/>
          </a:prstGeom>
          <a:noFill/>
        </p:spPr>
        <p:txBody>
          <a:bodyPr wrap="square">
            <a:spAutoFit/>
          </a:bodyPr>
          <a:lstStyle/>
          <a:p>
            <a:pPr algn="ctr"/>
            <a:r>
              <a:rPr sz="2000" b="1">
                <a:solidFill>
                  <a:srgbClr val="A47B32"/>
                </a:solidFill>
                <a:latin typeface="Aptos"/>
              </a:rPr>
              <a:t>→</a:t>
            </a:r>
          </a:p>
        </p:txBody>
      </p:sp>
      <p:sp>
        <p:nvSpPr>
          <p:cNvPr id="18" name="Rounded Rectangle 17"/>
          <p:cNvSpPr/>
          <p:nvPr/>
        </p:nvSpPr>
        <p:spPr>
          <a:xfrm>
            <a:off x="8503920" y="3703320"/>
            <a:ext cx="2148840" cy="914400"/>
          </a:xfrm>
          <a:prstGeom prst="roundRect">
            <a:avLst/>
          </a:prstGeom>
          <a:solidFill>
            <a:srgbClr val="C8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503920" y="3858768"/>
            <a:ext cx="2148840" cy="502920"/>
          </a:xfrm>
          <a:prstGeom prst="rect">
            <a:avLst/>
          </a:prstGeom>
          <a:noFill/>
        </p:spPr>
        <p:txBody>
          <a:bodyPr wrap="square">
            <a:spAutoFit/>
          </a:bodyPr>
          <a:lstStyle/>
          <a:p>
            <a:pPr algn="ctr"/>
            <a:r>
              <a:rPr sz="1300" b="1">
                <a:solidFill>
                  <a:srgbClr val="071B36"/>
                </a:solidFill>
                <a:latin typeface="Aptos"/>
              </a:rPr>
              <a:t>BROADER
FORECAST CONTEXT</a:t>
            </a:r>
          </a:p>
        </p:txBody>
      </p:sp>
      <p:sp>
        <p:nvSpPr>
          <p:cNvPr id="20" name="TextBox 19"/>
          <p:cNvSpPr txBox="1"/>
          <p:nvPr/>
        </p:nvSpPr>
        <p:spPr>
          <a:xfrm>
            <a:off x="6355080" y="5138928"/>
            <a:ext cx="4572000" cy="411480"/>
          </a:xfrm>
          <a:prstGeom prst="rect">
            <a:avLst/>
          </a:prstGeom>
          <a:noFill/>
        </p:spPr>
        <p:txBody>
          <a:bodyPr wrap="square">
            <a:spAutoFit/>
          </a:bodyPr>
          <a:lstStyle/>
          <a:p>
            <a:pPr algn="l"/>
            <a:r>
              <a:rPr sz="1100" b="0">
                <a:solidFill>
                  <a:srgbClr val="4F6277"/>
                </a:solidFill>
                <a:latin typeface="Aptos"/>
              </a:rPr>
              <a:t>Key principle: short-range local intelligence + broader-scale model guidance.</a:t>
            </a:r>
          </a:p>
        </p:txBody>
      </p:sp>
      <p:sp>
        <p:nvSpPr>
          <p:cNvPr id="21" name="TextBox 20"/>
          <p:cNvSpPr txBox="1"/>
          <p:nvPr/>
        </p:nvSpPr>
        <p:spPr>
          <a:xfrm>
            <a:off x="8595360" y="6492240"/>
            <a:ext cx="2834640" cy="182880"/>
          </a:xfrm>
          <a:prstGeom prst="rect">
            <a:avLst/>
          </a:prstGeom>
          <a:noFill/>
        </p:spPr>
        <p:txBody>
          <a:bodyPr wrap="square">
            <a:spAutoFit/>
          </a:bodyPr>
          <a:lstStyle/>
          <a:p>
            <a:pPr algn="r"/>
            <a:r>
              <a:rPr sz="800" b="1">
                <a:solidFill>
                  <a:srgbClr val="718091"/>
                </a:solidFill>
                <a:latin typeface="Aptos"/>
              </a:rPr>
              <a:t>05 · NWP / ECMWF</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71B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11480"/>
            <a:ext cx="3657600" cy="274320"/>
          </a:xfrm>
          <a:prstGeom prst="rect">
            <a:avLst/>
          </a:prstGeom>
          <a:noFill/>
        </p:spPr>
        <p:txBody>
          <a:bodyPr wrap="square">
            <a:spAutoFit/>
          </a:bodyPr>
          <a:lstStyle/>
          <a:p>
            <a:pPr algn="l"/>
            <a:r>
              <a:rPr sz="1300" b="1">
                <a:solidFill>
                  <a:srgbClr val="D8B56A"/>
                </a:solidFill>
                <a:latin typeface="Aptos"/>
              </a:rPr>
              <a:t>06 · DOMAIN</a:t>
            </a:r>
          </a:p>
        </p:txBody>
      </p:sp>
      <p:sp>
        <p:nvSpPr>
          <p:cNvPr id="5" name="TextBox 4"/>
          <p:cNvSpPr txBox="1"/>
          <p:nvPr/>
        </p:nvSpPr>
        <p:spPr>
          <a:xfrm>
            <a:off x="731520" y="713232"/>
            <a:ext cx="10789920" cy="548640"/>
          </a:xfrm>
          <a:prstGeom prst="rect">
            <a:avLst/>
          </a:prstGeom>
          <a:noFill/>
        </p:spPr>
        <p:txBody>
          <a:bodyPr wrap="square">
            <a:spAutoFit/>
          </a:bodyPr>
          <a:lstStyle/>
          <a:p>
            <a:pPr algn="l"/>
            <a:r>
              <a:rPr sz="2900" b="1">
                <a:solidFill>
                  <a:srgbClr val="F6F0DF"/>
                </a:solidFill>
                <a:latin typeface="Aptos"/>
              </a:rPr>
              <a:t>Geospatial &amp; Full-Stack Web Development</a:t>
            </a:r>
          </a:p>
        </p:txBody>
      </p:sp>
      <p:sp>
        <p:nvSpPr>
          <p:cNvPr id="6" name="TextBox 5"/>
          <p:cNvSpPr txBox="1"/>
          <p:nvPr/>
        </p:nvSpPr>
        <p:spPr>
          <a:xfrm>
            <a:off x="749808" y="1353312"/>
            <a:ext cx="5074920" cy="4754880"/>
          </a:xfrm>
          <a:prstGeom prst="rect">
            <a:avLst/>
          </a:prstGeom>
          <a:noFill/>
        </p:spPr>
        <p:txBody>
          <a:bodyPr wrap="square">
            <a:spAutoFit/>
          </a:bodyPr>
          <a:lstStyle/>
          <a:p>
            <a:pPr>
              <a:spcAft>
                <a:spcPts val="900"/>
              </a:spcAft>
              <a:defRPr sz="1450">
                <a:solidFill>
                  <a:srgbClr val="DCE6F2"/>
                </a:solidFill>
                <a:latin typeface="Aptos"/>
              </a:defRPr>
            </a:pPr>
            <a:r>
              <a:t>• Rainfall varies over space; a single city-wide number can hide neighborhood differences.</a:t>
            </a:r>
          </a:p>
          <a:p>
            <a:pPr>
              <a:spcAft>
                <a:spcPts val="900"/>
              </a:spcAft>
              <a:defRPr sz="1450">
                <a:solidFill>
                  <a:srgbClr val="DCE6F2"/>
                </a:solidFill>
                <a:latin typeface="Aptos"/>
              </a:defRPr>
            </a:pPr>
            <a:r>
              <a:t>• Leaflet.js supports interactive maps with stations, markers and rainfall layers.</a:t>
            </a:r>
          </a:p>
          <a:p>
            <a:pPr>
              <a:spcAft>
                <a:spcPts val="900"/>
              </a:spcAft>
              <a:defRPr sz="1450">
                <a:solidFill>
                  <a:srgbClr val="DCE6F2"/>
                </a:solidFill>
                <a:latin typeface="Aptos"/>
              </a:defRPr>
            </a:pPr>
            <a:r>
              <a:t>• GeoTIFF / raster data represents rainfall intensity as a spatial grid.</a:t>
            </a:r>
          </a:p>
          <a:p>
            <a:pPr>
              <a:spcAft>
                <a:spcPts val="900"/>
              </a:spcAft>
              <a:defRPr sz="1450">
                <a:solidFill>
                  <a:srgbClr val="DCE6F2"/>
                </a:solidFill>
                <a:latin typeface="Aptos"/>
              </a:defRPr>
            </a:pPr>
            <a:r>
              <a:t>• Next.js presents observations, forecasts and visual overlays.</a:t>
            </a:r>
          </a:p>
          <a:p>
            <a:pPr>
              <a:spcAft>
                <a:spcPts val="900"/>
              </a:spcAft>
              <a:defRPr sz="1450">
                <a:solidFill>
                  <a:srgbClr val="DCE6F2"/>
                </a:solidFill>
                <a:latin typeface="Aptos"/>
              </a:defRPr>
            </a:pPr>
            <a:r>
              <a:t>• FastAPI handles ingestion, processing, ML inference and API responses.</a:t>
            </a:r>
          </a:p>
          <a:p>
            <a:pPr>
              <a:spcAft>
                <a:spcPts val="900"/>
              </a:spcAft>
              <a:defRPr sz="1450">
                <a:solidFill>
                  <a:srgbClr val="DCE6F2"/>
                </a:solidFill>
                <a:latin typeface="Aptos"/>
              </a:defRPr>
            </a:pPr>
            <a:r>
              <a:t>• SQLite can support lightweight development; PostgreSQL can support scalable structured storage.</a:t>
            </a:r>
          </a:p>
        </p:txBody>
      </p:sp>
      <p:sp>
        <p:nvSpPr>
          <p:cNvPr id="7" name="Rounded Rectangle 6"/>
          <p:cNvSpPr/>
          <p:nvPr/>
        </p:nvSpPr>
        <p:spPr>
          <a:xfrm>
            <a:off x="6080760" y="1353312"/>
            <a:ext cx="5303520" cy="4709160"/>
          </a:xfrm>
          <a:prstGeom prst="roundRect">
            <a:avLst/>
          </a:prstGeom>
          <a:solidFill>
            <a:srgbClr val="F6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55080" y="1600200"/>
            <a:ext cx="4389120" cy="274320"/>
          </a:xfrm>
          <a:prstGeom prst="rect">
            <a:avLst/>
          </a:prstGeom>
          <a:noFill/>
        </p:spPr>
        <p:txBody>
          <a:bodyPr wrap="square">
            <a:spAutoFit/>
          </a:bodyPr>
          <a:lstStyle/>
          <a:p>
            <a:pPr algn="l"/>
            <a:r>
              <a:rPr sz="1500" b="1">
                <a:solidFill>
                  <a:srgbClr val="071B36"/>
                </a:solidFill>
                <a:latin typeface="Aptos"/>
              </a:rPr>
              <a:t>SYSTEM VIEW</a:t>
            </a:r>
          </a:p>
        </p:txBody>
      </p:sp>
      <p:sp>
        <p:nvSpPr>
          <p:cNvPr id="9" name="Rounded Rectangle 8"/>
          <p:cNvSpPr/>
          <p:nvPr/>
        </p:nvSpPr>
        <p:spPr>
          <a:xfrm>
            <a:off x="6355080" y="2057400"/>
            <a:ext cx="1417320" cy="749808"/>
          </a:xfrm>
          <a:prstGeom prst="roundRect">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55080" y="2185416"/>
            <a:ext cx="1417320" cy="384048"/>
          </a:xfrm>
          <a:prstGeom prst="rect">
            <a:avLst/>
          </a:prstGeom>
          <a:noFill/>
        </p:spPr>
        <p:txBody>
          <a:bodyPr wrap="square">
            <a:spAutoFit/>
          </a:bodyPr>
          <a:lstStyle/>
          <a:p>
            <a:pPr algn="ctr"/>
            <a:r>
              <a:rPr sz="1100" b="1">
                <a:solidFill>
                  <a:srgbClr val="071B36"/>
                </a:solidFill>
                <a:latin typeface="Aptos"/>
              </a:rPr>
              <a:t>Next.js
UI + maps</a:t>
            </a:r>
          </a:p>
        </p:txBody>
      </p:sp>
      <p:sp>
        <p:nvSpPr>
          <p:cNvPr id="11" name="Rounded Rectangle 10"/>
          <p:cNvSpPr/>
          <p:nvPr/>
        </p:nvSpPr>
        <p:spPr>
          <a:xfrm>
            <a:off x="7955279" y="2057400"/>
            <a:ext cx="1417320" cy="749808"/>
          </a:xfrm>
          <a:prstGeom prst="roundRect">
            <a:avLst/>
          </a:prstGeom>
          <a:solidFill>
            <a:srgbClr val="C8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79" y="2185416"/>
            <a:ext cx="1417320" cy="384048"/>
          </a:xfrm>
          <a:prstGeom prst="rect">
            <a:avLst/>
          </a:prstGeom>
          <a:noFill/>
        </p:spPr>
        <p:txBody>
          <a:bodyPr wrap="square">
            <a:spAutoFit/>
          </a:bodyPr>
          <a:lstStyle/>
          <a:p>
            <a:pPr algn="ctr"/>
            <a:r>
              <a:rPr sz="1100" b="1">
                <a:solidFill>
                  <a:srgbClr val="071B36"/>
                </a:solidFill>
                <a:latin typeface="Aptos"/>
              </a:rPr>
              <a:t>FastAPI
APIs + ML</a:t>
            </a:r>
          </a:p>
        </p:txBody>
      </p:sp>
      <p:sp>
        <p:nvSpPr>
          <p:cNvPr id="13" name="Rounded Rectangle 12"/>
          <p:cNvSpPr/>
          <p:nvPr/>
        </p:nvSpPr>
        <p:spPr>
          <a:xfrm>
            <a:off x="9555480" y="2057400"/>
            <a:ext cx="1417320" cy="749808"/>
          </a:xfrm>
          <a:prstGeom prst="roundRect">
            <a:avLst/>
          </a:prstGeom>
          <a:solidFill>
            <a:srgbClr val="9FB6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555480" y="2185416"/>
            <a:ext cx="1417320" cy="384048"/>
          </a:xfrm>
          <a:prstGeom prst="rect">
            <a:avLst/>
          </a:prstGeom>
          <a:noFill/>
        </p:spPr>
        <p:txBody>
          <a:bodyPr wrap="square">
            <a:spAutoFit/>
          </a:bodyPr>
          <a:lstStyle/>
          <a:p>
            <a:pPr algn="ctr"/>
            <a:r>
              <a:rPr sz="1100" b="1">
                <a:solidFill>
                  <a:srgbClr val="071B36"/>
                </a:solidFill>
                <a:latin typeface="Aptos"/>
              </a:rPr>
              <a:t>DB
SQLite / PostgreSQL</a:t>
            </a:r>
          </a:p>
        </p:txBody>
      </p:sp>
      <p:sp>
        <p:nvSpPr>
          <p:cNvPr id="15" name="Rounded Rectangle 14"/>
          <p:cNvSpPr/>
          <p:nvPr/>
        </p:nvSpPr>
        <p:spPr>
          <a:xfrm>
            <a:off x="6355080" y="3154680"/>
            <a:ext cx="4526280" cy="2057400"/>
          </a:xfrm>
          <a:prstGeom prst="roundRect">
            <a:avLst/>
          </a:prstGeom>
          <a:solidFill>
            <a:srgbClr val="FBF8EF"/>
          </a:solidFill>
          <a:ln>
            <a:solidFill>
              <a:srgbClr val="0B315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583680" y="3383280"/>
            <a:ext cx="4023360" cy="274320"/>
          </a:xfrm>
          <a:prstGeom prst="rect">
            <a:avLst/>
          </a:prstGeom>
          <a:noFill/>
        </p:spPr>
        <p:txBody>
          <a:bodyPr wrap="square">
            <a:spAutoFit/>
          </a:bodyPr>
          <a:lstStyle/>
          <a:p>
            <a:pPr algn="l"/>
            <a:r>
              <a:rPr sz="1200" b="1">
                <a:solidFill>
                  <a:srgbClr val="071B36"/>
                </a:solidFill>
                <a:latin typeface="Aptos"/>
              </a:rPr>
              <a:t>INTERACTIVE RAINFALL MAP</a:t>
            </a:r>
          </a:p>
        </p:txBody>
      </p:sp>
      <p:sp>
        <p:nvSpPr>
          <p:cNvPr id="17" name="Rounded Rectangle 16"/>
          <p:cNvSpPr/>
          <p:nvPr/>
        </p:nvSpPr>
        <p:spPr>
          <a:xfrm>
            <a:off x="6629400" y="3794760"/>
            <a:ext cx="3977639" cy="1051560"/>
          </a:xfrm>
          <a:prstGeom prst="roundRect">
            <a:avLst/>
          </a:prstGeom>
          <a:solidFill>
            <a:srgbClr val="DDE7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269480" y="4343400"/>
            <a:ext cx="164592" cy="164592"/>
          </a:xfrm>
          <a:prstGeom prst="ellipse">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275320" y="4114800"/>
            <a:ext cx="164592" cy="164592"/>
          </a:xfrm>
          <a:prstGeom prst="ellipse">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9464040" y="4407408"/>
            <a:ext cx="164592" cy="164592"/>
          </a:xfrm>
          <a:prstGeom prst="ellipse">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629400" y="4892040"/>
            <a:ext cx="3840480" cy="228600"/>
          </a:xfrm>
          <a:prstGeom prst="rect">
            <a:avLst/>
          </a:prstGeom>
          <a:noFill/>
        </p:spPr>
        <p:txBody>
          <a:bodyPr wrap="square">
            <a:spAutoFit/>
          </a:bodyPr>
          <a:lstStyle/>
          <a:p>
            <a:pPr algn="ctr"/>
            <a:r>
              <a:rPr sz="900" b="0">
                <a:solidFill>
                  <a:srgbClr val="4F6277"/>
                </a:solidFill>
                <a:latin typeface="Aptos"/>
              </a:rPr>
              <a:t>Stations + raster rainfall forecast</a:t>
            </a:r>
          </a:p>
        </p:txBody>
      </p:sp>
      <p:sp>
        <p:nvSpPr>
          <p:cNvPr id="22" name="TextBox 21"/>
          <p:cNvSpPr txBox="1"/>
          <p:nvPr/>
        </p:nvSpPr>
        <p:spPr>
          <a:xfrm>
            <a:off x="8595360" y="6492240"/>
            <a:ext cx="2834640" cy="182880"/>
          </a:xfrm>
          <a:prstGeom prst="rect">
            <a:avLst/>
          </a:prstGeom>
          <a:noFill/>
        </p:spPr>
        <p:txBody>
          <a:bodyPr wrap="square">
            <a:spAutoFit/>
          </a:bodyPr>
          <a:lstStyle/>
          <a:p>
            <a:pPr algn="r"/>
            <a:r>
              <a:rPr sz="800" b="1">
                <a:solidFill>
                  <a:srgbClr val="7890AA"/>
                </a:solidFill>
                <a:latin typeface="Aptos"/>
              </a:rPr>
              <a:t>06 · GEOSPATIAL + FULL STACK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11480"/>
            <a:ext cx="3657600" cy="274320"/>
          </a:xfrm>
          <a:prstGeom prst="rect">
            <a:avLst/>
          </a:prstGeom>
          <a:noFill/>
        </p:spPr>
        <p:txBody>
          <a:bodyPr wrap="square">
            <a:spAutoFit/>
          </a:bodyPr>
          <a:lstStyle/>
          <a:p>
            <a:pPr algn="l"/>
            <a:r>
              <a:rPr sz="1300" b="1">
                <a:solidFill>
                  <a:srgbClr val="A47B32"/>
                </a:solidFill>
                <a:latin typeface="Aptos"/>
              </a:rPr>
              <a:t>07 · DOMAIN INTERSECTION</a:t>
            </a:r>
          </a:p>
        </p:txBody>
      </p:sp>
      <p:sp>
        <p:nvSpPr>
          <p:cNvPr id="5" name="TextBox 4"/>
          <p:cNvSpPr txBox="1"/>
          <p:nvPr/>
        </p:nvSpPr>
        <p:spPr>
          <a:xfrm>
            <a:off x="731520" y="713232"/>
            <a:ext cx="10789920" cy="548640"/>
          </a:xfrm>
          <a:prstGeom prst="rect">
            <a:avLst/>
          </a:prstGeom>
          <a:noFill/>
        </p:spPr>
        <p:txBody>
          <a:bodyPr wrap="square">
            <a:spAutoFit/>
          </a:bodyPr>
          <a:lstStyle/>
          <a:p>
            <a:pPr algn="l"/>
            <a:r>
              <a:rPr sz="2900" b="1">
                <a:solidFill>
                  <a:srgbClr val="071B36"/>
                </a:solidFill>
                <a:latin typeface="Aptos"/>
              </a:rPr>
              <a:t>Four Domains → One Hyperlocal System</a:t>
            </a:r>
          </a:p>
        </p:txBody>
      </p:sp>
      <p:sp>
        <p:nvSpPr>
          <p:cNvPr id="6" name="Oval 5"/>
          <p:cNvSpPr/>
          <p:nvPr/>
        </p:nvSpPr>
        <p:spPr>
          <a:xfrm>
            <a:off x="2011680" y="2240280"/>
            <a:ext cx="2834640" cy="2103120"/>
          </a:xfrm>
          <a:prstGeom prst="ellipse">
            <a:avLst/>
          </a:prstGeom>
          <a:solidFill>
            <a:srgbClr val="D8B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5394960" y="2240280"/>
            <a:ext cx="2834640" cy="2103120"/>
          </a:xfrm>
          <a:prstGeom prst="ellipse">
            <a:avLst/>
          </a:prstGeom>
          <a:solidFill>
            <a:srgbClr val="9FB6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3703320" y="1143000"/>
            <a:ext cx="2834640" cy="2103120"/>
          </a:xfrm>
          <a:prstGeom prst="ellipse">
            <a:avLst/>
          </a:prstGeom>
          <a:solidFill>
            <a:srgbClr val="C8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3703320" y="3337560"/>
            <a:ext cx="2834640" cy="2103120"/>
          </a:xfrm>
          <a:prstGeom prst="ellipse">
            <a:avLst/>
          </a:prstGeom>
          <a:solidFill>
            <a:srgbClr val="E0E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06040" y="2743200"/>
            <a:ext cx="1645920" cy="274320"/>
          </a:xfrm>
          <a:prstGeom prst="rect">
            <a:avLst/>
          </a:prstGeom>
          <a:noFill/>
        </p:spPr>
        <p:txBody>
          <a:bodyPr wrap="square">
            <a:spAutoFit/>
          </a:bodyPr>
          <a:lstStyle/>
          <a:p>
            <a:pPr algn="ctr"/>
            <a:r>
              <a:rPr sz="1600" b="1">
                <a:solidFill>
                  <a:srgbClr val="071B36"/>
                </a:solidFill>
                <a:latin typeface="Aptos"/>
              </a:rPr>
              <a:t>Meteorology</a:t>
            </a:r>
          </a:p>
        </p:txBody>
      </p:sp>
      <p:sp>
        <p:nvSpPr>
          <p:cNvPr id="11" name="TextBox 10"/>
          <p:cNvSpPr txBox="1"/>
          <p:nvPr/>
        </p:nvSpPr>
        <p:spPr>
          <a:xfrm>
            <a:off x="2468880" y="3090672"/>
            <a:ext cx="1828800" cy="228600"/>
          </a:xfrm>
          <a:prstGeom prst="rect">
            <a:avLst/>
          </a:prstGeom>
          <a:noFill/>
        </p:spPr>
        <p:txBody>
          <a:bodyPr wrap="square">
            <a:spAutoFit/>
          </a:bodyPr>
          <a:lstStyle/>
          <a:p>
            <a:pPr algn="ctr"/>
            <a:r>
              <a:rPr sz="1000" b="0">
                <a:solidFill>
                  <a:srgbClr val="071B36"/>
                </a:solidFill>
                <a:latin typeface="Aptos"/>
              </a:rPr>
              <a:t>Nowcasting · NWP</a:t>
            </a:r>
          </a:p>
        </p:txBody>
      </p:sp>
      <p:sp>
        <p:nvSpPr>
          <p:cNvPr id="12" name="TextBox 11"/>
          <p:cNvSpPr txBox="1"/>
          <p:nvPr/>
        </p:nvSpPr>
        <p:spPr>
          <a:xfrm>
            <a:off x="6080760" y="2743200"/>
            <a:ext cx="1371600" cy="274320"/>
          </a:xfrm>
          <a:prstGeom prst="rect">
            <a:avLst/>
          </a:prstGeom>
          <a:noFill/>
        </p:spPr>
        <p:txBody>
          <a:bodyPr wrap="square">
            <a:spAutoFit/>
          </a:bodyPr>
          <a:lstStyle/>
          <a:p>
            <a:pPr algn="ctr"/>
            <a:r>
              <a:rPr sz="1600" b="1">
                <a:solidFill>
                  <a:srgbClr val="071B36"/>
                </a:solidFill>
                <a:latin typeface="Aptos"/>
              </a:rPr>
              <a:t>IoT</a:t>
            </a:r>
          </a:p>
        </p:txBody>
      </p:sp>
      <p:sp>
        <p:nvSpPr>
          <p:cNvPr id="13" name="TextBox 12"/>
          <p:cNvSpPr txBox="1"/>
          <p:nvPr/>
        </p:nvSpPr>
        <p:spPr>
          <a:xfrm>
            <a:off x="5852160" y="3090672"/>
            <a:ext cx="1828800" cy="228600"/>
          </a:xfrm>
          <a:prstGeom prst="rect">
            <a:avLst/>
          </a:prstGeom>
          <a:noFill/>
        </p:spPr>
        <p:txBody>
          <a:bodyPr wrap="square">
            <a:spAutoFit/>
          </a:bodyPr>
          <a:lstStyle/>
          <a:p>
            <a:pPr algn="ctr"/>
            <a:r>
              <a:rPr sz="1000" b="0">
                <a:solidFill>
                  <a:srgbClr val="071B36"/>
                </a:solidFill>
                <a:latin typeface="Aptos"/>
              </a:rPr>
              <a:t>AWS · PWS</a:t>
            </a:r>
          </a:p>
        </p:txBody>
      </p:sp>
      <p:sp>
        <p:nvSpPr>
          <p:cNvPr id="14" name="TextBox 13"/>
          <p:cNvSpPr txBox="1"/>
          <p:nvPr/>
        </p:nvSpPr>
        <p:spPr>
          <a:xfrm>
            <a:off x="4160520" y="1600200"/>
            <a:ext cx="1463040" cy="274320"/>
          </a:xfrm>
          <a:prstGeom prst="rect">
            <a:avLst/>
          </a:prstGeom>
          <a:noFill/>
        </p:spPr>
        <p:txBody>
          <a:bodyPr wrap="square">
            <a:spAutoFit/>
          </a:bodyPr>
          <a:lstStyle/>
          <a:p>
            <a:pPr algn="ctr"/>
            <a:r>
              <a:rPr sz="1600" b="1">
                <a:solidFill>
                  <a:srgbClr val="071B36"/>
                </a:solidFill>
                <a:latin typeface="Aptos"/>
              </a:rPr>
              <a:t>AI / ML</a:t>
            </a:r>
          </a:p>
        </p:txBody>
      </p:sp>
      <p:sp>
        <p:nvSpPr>
          <p:cNvPr id="15" name="TextBox 14"/>
          <p:cNvSpPr txBox="1"/>
          <p:nvPr/>
        </p:nvSpPr>
        <p:spPr>
          <a:xfrm>
            <a:off x="3931920" y="1938528"/>
            <a:ext cx="1920240" cy="228600"/>
          </a:xfrm>
          <a:prstGeom prst="rect">
            <a:avLst/>
          </a:prstGeom>
          <a:noFill/>
        </p:spPr>
        <p:txBody>
          <a:bodyPr wrap="square">
            <a:spAutoFit/>
          </a:bodyPr>
          <a:lstStyle/>
          <a:p>
            <a:pPr algn="ctr"/>
            <a:r>
              <a:rPr sz="1000" b="0">
                <a:solidFill>
                  <a:srgbClr val="071B36"/>
                </a:solidFill>
                <a:latin typeface="Aptos"/>
              </a:rPr>
              <a:t>Learning · inference</a:t>
            </a:r>
          </a:p>
        </p:txBody>
      </p:sp>
      <p:sp>
        <p:nvSpPr>
          <p:cNvPr id="16" name="TextBox 15"/>
          <p:cNvSpPr txBox="1"/>
          <p:nvPr/>
        </p:nvSpPr>
        <p:spPr>
          <a:xfrm>
            <a:off x="4160520" y="3794760"/>
            <a:ext cx="1463040" cy="274320"/>
          </a:xfrm>
          <a:prstGeom prst="rect">
            <a:avLst/>
          </a:prstGeom>
          <a:noFill/>
        </p:spPr>
        <p:txBody>
          <a:bodyPr wrap="square">
            <a:spAutoFit/>
          </a:bodyPr>
          <a:lstStyle/>
          <a:p>
            <a:pPr algn="ctr"/>
            <a:r>
              <a:rPr sz="1600" b="1">
                <a:solidFill>
                  <a:srgbClr val="071B36"/>
                </a:solidFill>
                <a:latin typeface="Aptos"/>
              </a:rPr>
              <a:t>Web</a:t>
            </a:r>
          </a:p>
        </p:txBody>
      </p:sp>
      <p:sp>
        <p:nvSpPr>
          <p:cNvPr id="17" name="TextBox 16"/>
          <p:cNvSpPr txBox="1"/>
          <p:nvPr/>
        </p:nvSpPr>
        <p:spPr>
          <a:xfrm>
            <a:off x="3977639" y="4133087"/>
            <a:ext cx="1828800" cy="228600"/>
          </a:xfrm>
          <a:prstGeom prst="rect">
            <a:avLst/>
          </a:prstGeom>
          <a:noFill/>
        </p:spPr>
        <p:txBody>
          <a:bodyPr wrap="square">
            <a:spAutoFit/>
          </a:bodyPr>
          <a:lstStyle/>
          <a:p>
            <a:pPr algn="ctr"/>
            <a:r>
              <a:rPr sz="1000" b="0">
                <a:solidFill>
                  <a:srgbClr val="071B36"/>
                </a:solidFill>
                <a:latin typeface="Aptos"/>
              </a:rPr>
              <a:t>Maps · APIs · UX</a:t>
            </a:r>
          </a:p>
        </p:txBody>
      </p:sp>
      <p:sp>
        <p:nvSpPr>
          <p:cNvPr id="18" name="Rounded Rectangle 17"/>
          <p:cNvSpPr/>
          <p:nvPr/>
        </p:nvSpPr>
        <p:spPr>
          <a:xfrm>
            <a:off x="4114800" y="2606040"/>
            <a:ext cx="1828800" cy="914400"/>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114800" y="2788920"/>
            <a:ext cx="1828800" cy="411480"/>
          </a:xfrm>
          <a:prstGeom prst="rect">
            <a:avLst/>
          </a:prstGeom>
          <a:noFill/>
        </p:spPr>
        <p:txBody>
          <a:bodyPr wrap="square">
            <a:spAutoFit/>
          </a:bodyPr>
          <a:lstStyle/>
          <a:p>
            <a:pPr algn="ctr"/>
            <a:r>
              <a:rPr sz="1400" b="1">
                <a:solidFill>
                  <a:srgbClr val="F6F0DF"/>
                </a:solidFill>
                <a:latin typeface="Aptos"/>
              </a:rPr>
              <a:t>HYPERLOCAL
NOWCAST</a:t>
            </a:r>
          </a:p>
        </p:txBody>
      </p:sp>
      <p:sp>
        <p:nvSpPr>
          <p:cNvPr id="20" name="Rounded Rectangle 19"/>
          <p:cNvSpPr/>
          <p:nvPr/>
        </p:nvSpPr>
        <p:spPr>
          <a:xfrm>
            <a:off x="1508760" y="5715000"/>
            <a:ext cx="9144000" cy="457200"/>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508760" y="5833872"/>
            <a:ext cx="9144000" cy="182880"/>
          </a:xfrm>
          <a:prstGeom prst="rect">
            <a:avLst/>
          </a:prstGeom>
          <a:noFill/>
        </p:spPr>
        <p:txBody>
          <a:bodyPr wrap="square">
            <a:spAutoFit/>
          </a:bodyPr>
          <a:lstStyle/>
          <a:p>
            <a:pPr algn="ctr"/>
            <a:r>
              <a:rPr sz="1100" b="1">
                <a:solidFill>
                  <a:srgbClr val="F6F0DF"/>
                </a:solidFill>
                <a:latin typeface="Aptos"/>
              </a:rPr>
              <a:t>Meteorology = problem  ·  IoT = observations  ·  AI = prediction  ·  Web = delivery</a:t>
            </a:r>
          </a:p>
        </p:txBody>
      </p:sp>
      <p:sp>
        <p:nvSpPr>
          <p:cNvPr id="22" name="TextBox 21"/>
          <p:cNvSpPr txBox="1"/>
          <p:nvPr/>
        </p:nvSpPr>
        <p:spPr>
          <a:xfrm>
            <a:off x="8595360" y="6492240"/>
            <a:ext cx="2834640" cy="182880"/>
          </a:xfrm>
          <a:prstGeom prst="rect">
            <a:avLst/>
          </a:prstGeom>
          <a:noFill/>
        </p:spPr>
        <p:txBody>
          <a:bodyPr wrap="square">
            <a:spAutoFit/>
          </a:bodyPr>
          <a:lstStyle/>
          <a:p>
            <a:pPr algn="r"/>
            <a:r>
              <a:rPr sz="800" b="1">
                <a:solidFill>
                  <a:srgbClr val="718091"/>
                </a:solidFill>
                <a:latin typeface="Aptos"/>
              </a:rPr>
              <a:t>07 · DOMAIN INTERSECTION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6F0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2296"/>
          </a:xfrm>
          <a:prstGeom prst="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411480"/>
            <a:ext cx="3657600" cy="292388"/>
          </a:xfrm>
          <a:prstGeom prst="rect">
            <a:avLst/>
          </a:prstGeom>
          <a:noFill/>
        </p:spPr>
        <p:txBody>
          <a:bodyPr wrap="square">
            <a:spAutoFit/>
          </a:bodyPr>
          <a:lstStyle/>
          <a:p>
            <a:pPr algn="l"/>
            <a:r>
              <a:rPr sz="1300" b="1" dirty="0">
                <a:solidFill>
                  <a:srgbClr val="A47B32"/>
                </a:solidFill>
                <a:latin typeface="Aptos"/>
              </a:rPr>
              <a:t>0</a:t>
            </a:r>
            <a:r>
              <a:rPr lang="en-US" sz="1300" b="1" dirty="0">
                <a:solidFill>
                  <a:srgbClr val="A47B32"/>
                </a:solidFill>
                <a:latin typeface="Aptos"/>
              </a:rPr>
              <a:t>8</a:t>
            </a:r>
            <a:r>
              <a:rPr sz="1300" b="1" dirty="0">
                <a:solidFill>
                  <a:srgbClr val="A47B32"/>
                </a:solidFill>
                <a:latin typeface="Aptos"/>
              </a:rPr>
              <a:t> · REFERENCES</a:t>
            </a:r>
          </a:p>
        </p:txBody>
      </p:sp>
      <p:sp>
        <p:nvSpPr>
          <p:cNvPr id="5" name="TextBox 4"/>
          <p:cNvSpPr txBox="1"/>
          <p:nvPr/>
        </p:nvSpPr>
        <p:spPr>
          <a:xfrm>
            <a:off x="731520" y="713232"/>
            <a:ext cx="10789920" cy="548640"/>
          </a:xfrm>
          <a:prstGeom prst="rect">
            <a:avLst/>
          </a:prstGeom>
          <a:noFill/>
        </p:spPr>
        <p:txBody>
          <a:bodyPr wrap="square">
            <a:spAutoFit/>
          </a:bodyPr>
          <a:lstStyle/>
          <a:p>
            <a:pPr algn="l"/>
            <a:r>
              <a:rPr sz="2900" b="1">
                <a:solidFill>
                  <a:srgbClr val="071B36"/>
                </a:solidFill>
                <a:latin typeface="Aptos"/>
              </a:rPr>
              <a:t>Domain References</a:t>
            </a:r>
          </a:p>
        </p:txBody>
      </p:sp>
      <p:sp>
        <p:nvSpPr>
          <p:cNvPr id="6" name="Rounded Rectangle 5"/>
          <p:cNvSpPr/>
          <p:nvPr/>
        </p:nvSpPr>
        <p:spPr>
          <a:xfrm>
            <a:off x="749808" y="1353312"/>
            <a:ext cx="10652760" cy="566928"/>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435608"/>
            <a:ext cx="10241280" cy="411480"/>
          </a:xfrm>
          <a:prstGeom prst="rect">
            <a:avLst/>
          </a:prstGeom>
          <a:noFill/>
        </p:spPr>
        <p:txBody>
          <a:bodyPr wrap="square">
            <a:spAutoFit/>
          </a:bodyPr>
          <a:lstStyle/>
          <a:p>
            <a:pPr algn="l"/>
            <a:r>
              <a:rPr sz="950" b="0">
                <a:solidFill>
                  <a:srgbClr val="071B36"/>
                </a:solidFill>
                <a:latin typeface="Aptos"/>
              </a:rPr>
              <a:t>[1] Bowler, N. E., Pierce, C. E., &amp; Seed, A. W. (2006). STEPS: A probabilistic precipitation forecasting scheme which merges an extrapolation nowcast with downscaled NWP. QJRMS, 132, 2127–2155. DOI: 10.1256/qj.04.100</a:t>
            </a:r>
          </a:p>
        </p:txBody>
      </p:sp>
      <p:sp>
        <p:nvSpPr>
          <p:cNvPr id="8" name="Rounded Rectangle 7"/>
          <p:cNvSpPr/>
          <p:nvPr/>
        </p:nvSpPr>
        <p:spPr>
          <a:xfrm>
            <a:off x="749808" y="2066543"/>
            <a:ext cx="10652760" cy="566928"/>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148839"/>
            <a:ext cx="10241280" cy="411480"/>
          </a:xfrm>
          <a:prstGeom prst="rect">
            <a:avLst/>
          </a:prstGeom>
          <a:noFill/>
        </p:spPr>
        <p:txBody>
          <a:bodyPr wrap="square">
            <a:spAutoFit/>
          </a:bodyPr>
          <a:lstStyle/>
          <a:p>
            <a:pPr algn="l"/>
            <a:r>
              <a:rPr sz="950" b="0">
                <a:solidFill>
                  <a:srgbClr val="071B36"/>
                </a:solidFill>
                <a:latin typeface="Aptos"/>
              </a:rPr>
              <a:t>[2] Shi, X., Chen, Z., Wang, H., et al. (2015). Convolutional LSTM Network: A Machine Learning Approach for Precipitation Nowcasting. arXiv:1506.04214.</a:t>
            </a:r>
          </a:p>
        </p:txBody>
      </p:sp>
      <p:sp>
        <p:nvSpPr>
          <p:cNvPr id="10" name="Rounded Rectangle 9"/>
          <p:cNvSpPr/>
          <p:nvPr/>
        </p:nvSpPr>
        <p:spPr>
          <a:xfrm>
            <a:off x="749808" y="2779776"/>
            <a:ext cx="10652760" cy="566928"/>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2862072"/>
            <a:ext cx="10241280" cy="411480"/>
          </a:xfrm>
          <a:prstGeom prst="rect">
            <a:avLst/>
          </a:prstGeom>
          <a:noFill/>
        </p:spPr>
        <p:txBody>
          <a:bodyPr wrap="square">
            <a:spAutoFit/>
          </a:bodyPr>
          <a:lstStyle/>
          <a:p>
            <a:pPr algn="l"/>
            <a:r>
              <a:rPr sz="950" b="0">
                <a:solidFill>
                  <a:srgbClr val="071B36"/>
                </a:solidFill>
                <a:latin typeface="Aptos"/>
              </a:rPr>
              <a:t>[3] Shi, X., Gao, Z., Lausen, L., et al. (2017). Deep Learning for Precipitation Nowcasting: A Benchmark and a New Model. arXiv:1706.03458.</a:t>
            </a:r>
          </a:p>
        </p:txBody>
      </p:sp>
      <p:sp>
        <p:nvSpPr>
          <p:cNvPr id="12" name="Rounded Rectangle 11"/>
          <p:cNvSpPr/>
          <p:nvPr/>
        </p:nvSpPr>
        <p:spPr>
          <a:xfrm>
            <a:off x="749808" y="3493008"/>
            <a:ext cx="10652760" cy="566928"/>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2688" y="3575303"/>
            <a:ext cx="10241280" cy="411480"/>
          </a:xfrm>
          <a:prstGeom prst="rect">
            <a:avLst/>
          </a:prstGeom>
          <a:noFill/>
        </p:spPr>
        <p:txBody>
          <a:bodyPr wrap="square">
            <a:spAutoFit/>
          </a:bodyPr>
          <a:lstStyle/>
          <a:p>
            <a:pPr algn="l"/>
            <a:r>
              <a:rPr sz="950" b="0">
                <a:solidFill>
                  <a:srgbClr val="071B36"/>
                </a:solidFill>
                <a:latin typeface="Aptos"/>
              </a:rPr>
              <a:t>[4] Ravuri, S., Lenc, K., Willson, M., et al. (2021). Skilful precipitation nowcasting using deep generative models of radar. Nature, 597, 672–677. DOI: 10.1038/s41586-021-03854-z.</a:t>
            </a:r>
          </a:p>
        </p:txBody>
      </p:sp>
      <p:sp>
        <p:nvSpPr>
          <p:cNvPr id="14" name="Rounded Rectangle 13"/>
          <p:cNvSpPr/>
          <p:nvPr/>
        </p:nvSpPr>
        <p:spPr>
          <a:xfrm>
            <a:off x="749808" y="4206240"/>
            <a:ext cx="10652760" cy="566928"/>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4288536"/>
            <a:ext cx="10241280" cy="411480"/>
          </a:xfrm>
          <a:prstGeom prst="rect">
            <a:avLst/>
          </a:prstGeom>
          <a:noFill/>
        </p:spPr>
        <p:txBody>
          <a:bodyPr wrap="square">
            <a:spAutoFit/>
          </a:bodyPr>
          <a:lstStyle/>
          <a:p>
            <a:pPr algn="l"/>
            <a:r>
              <a:rPr sz="950" b="0">
                <a:solidFill>
                  <a:srgbClr val="071B36"/>
                </a:solidFill>
                <a:latin typeface="Aptos"/>
              </a:rPr>
              <a:t>[5] An, S., Oh, T.-J., Sohn, E., &amp; Kim, D. (2024). Deep learning for precipitation nowcasting: A survey from the perspective of time series forecasting. arXiv:2406.04867.</a:t>
            </a:r>
          </a:p>
        </p:txBody>
      </p:sp>
      <p:sp>
        <p:nvSpPr>
          <p:cNvPr id="16" name="Rounded Rectangle 15"/>
          <p:cNvSpPr/>
          <p:nvPr/>
        </p:nvSpPr>
        <p:spPr>
          <a:xfrm>
            <a:off x="749808" y="4919472"/>
            <a:ext cx="10652760" cy="566928"/>
          </a:xfrm>
          <a:prstGeom prst="roundRect">
            <a:avLst/>
          </a:prstGeom>
          <a:solidFill>
            <a:srgbClr val="FBF8EF"/>
          </a:solidFill>
          <a:ln>
            <a:solidFill>
              <a:srgbClr val="D8CCB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2688" y="5001768"/>
            <a:ext cx="10241280" cy="411480"/>
          </a:xfrm>
          <a:prstGeom prst="rect">
            <a:avLst/>
          </a:prstGeom>
          <a:noFill/>
        </p:spPr>
        <p:txBody>
          <a:bodyPr wrap="square">
            <a:spAutoFit/>
          </a:bodyPr>
          <a:lstStyle/>
          <a:p>
            <a:pPr algn="l"/>
            <a:r>
              <a:rPr sz="950" b="0">
                <a:solidFill>
                  <a:srgbClr val="071B36"/>
                </a:solidFill>
                <a:latin typeface="Aptos"/>
              </a:rPr>
              <a:t>[6] ECMWF. Open Data: real-time IFS and AIFS forecast products. 0.25° GRIB2 open-data catalogue and documentation.</a:t>
            </a:r>
          </a:p>
        </p:txBody>
      </p:sp>
      <p:sp>
        <p:nvSpPr>
          <p:cNvPr id="18" name="Rounded Rectangle 17"/>
          <p:cNvSpPr/>
          <p:nvPr/>
        </p:nvSpPr>
        <p:spPr>
          <a:xfrm>
            <a:off x="749808" y="5760720"/>
            <a:ext cx="10652760" cy="411480"/>
          </a:xfrm>
          <a:prstGeom prst="roundRect">
            <a:avLst/>
          </a:prstGeom>
          <a:solidFill>
            <a:srgbClr val="0B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8" y="5870448"/>
            <a:ext cx="10652760" cy="182880"/>
          </a:xfrm>
          <a:prstGeom prst="rect">
            <a:avLst/>
          </a:prstGeom>
          <a:noFill/>
        </p:spPr>
        <p:txBody>
          <a:bodyPr wrap="square">
            <a:spAutoFit/>
          </a:bodyPr>
          <a:lstStyle/>
          <a:p>
            <a:pPr algn="ctr"/>
            <a:r>
              <a:rPr sz="1000" b="1">
                <a:solidFill>
                  <a:srgbClr val="F6F0DF"/>
                </a:solidFill>
                <a:latin typeface="Aptos"/>
              </a:rPr>
              <a:t>Key foundations: classical nowcasting · ConvLSTM · deep generative nowcasting · ECMWF operational forecast data</a:t>
            </a:r>
          </a:p>
        </p:txBody>
      </p:sp>
      <p:sp>
        <p:nvSpPr>
          <p:cNvPr id="20" name="TextBox 19"/>
          <p:cNvSpPr txBox="1"/>
          <p:nvPr/>
        </p:nvSpPr>
        <p:spPr>
          <a:xfrm>
            <a:off x="8595360" y="6492240"/>
            <a:ext cx="2834640" cy="215444"/>
          </a:xfrm>
          <a:prstGeom prst="rect">
            <a:avLst/>
          </a:prstGeom>
          <a:noFill/>
        </p:spPr>
        <p:txBody>
          <a:bodyPr wrap="square">
            <a:spAutoFit/>
          </a:bodyPr>
          <a:lstStyle/>
          <a:p>
            <a:pPr algn="r"/>
            <a:r>
              <a:rPr sz="800" b="1" dirty="0">
                <a:solidFill>
                  <a:srgbClr val="718091"/>
                </a:solidFill>
                <a:latin typeface="Aptos"/>
              </a:rPr>
              <a:t>0</a:t>
            </a:r>
            <a:r>
              <a:rPr lang="en-US" sz="800" b="1" dirty="0">
                <a:solidFill>
                  <a:srgbClr val="718091"/>
                </a:solidFill>
                <a:latin typeface="Aptos"/>
              </a:rPr>
              <a:t>8</a:t>
            </a:r>
            <a:r>
              <a:rPr sz="800" b="1" dirty="0">
                <a:solidFill>
                  <a:srgbClr val="718091"/>
                </a:solidFill>
                <a:latin typeface="Aptos"/>
              </a:rPr>
              <a:t> · REFERENCES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1504</Words>
  <Application>Microsoft Office PowerPoint</Application>
  <PresentationFormat>Widescreen</PresentationFormat>
  <Paragraphs>152</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Bharath B</cp:lastModifiedBy>
  <cp:revision>5</cp:revision>
  <dcterms:created xsi:type="dcterms:W3CDTF">2013-01-27T09:14:16Z</dcterms:created>
  <dcterms:modified xsi:type="dcterms:W3CDTF">2026-09-23T14:06:10Z</dcterms:modified>
  <cp:category/>
</cp:coreProperties>
</file>