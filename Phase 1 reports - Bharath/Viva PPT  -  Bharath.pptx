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embeddedFontLst>
    <p:embeddedFont>
      <p:font typeface="Inter" panose="020B0604020202020204" charset="0"/>
      <p:regular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2" autoAdjust="0"/>
    <p:restoredTop sz="94610"/>
  </p:normalViewPr>
  <p:slideViewPr>
    <p:cSldViewPr snapToGrid="0" snapToObjects="1">
      <p:cViewPr varScale="1">
        <p:scale>
          <a:sx n="117" d="100"/>
          <a:sy n="117" d="100"/>
        </p:scale>
        <p:origin x="269"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7608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09600" y="2316956"/>
            <a:ext cx="5715000" cy="552450"/>
          </a:xfrm>
          <a:prstGeom prst="rect">
            <a:avLst/>
          </a:prstGeom>
          <a:noFill/>
          <a:ln/>
        </p:spPr>
        <p:txBody>
          <a:bodyPr/>
          <a:lstStyle/>
          <a:p>
            <a:endParaRPr lang="en-IN"/>
          </a:p>
        </p:txBody>
      </p:sp>
      <p:sp>
        <p:nvSpPr>
          <p:cNvPr id="3" name="Text 1"/>
          <p:cNvSpPr/>
          <p:nvPr/>
        </p:nvSpPr>
        <p:spPr>
          <a:xfrm>
            <a:off x="609600" y="2316956"/>
            <a:ext cx="3605213" cy="552450"/>
          </a:xfrm>
          <a:prstGeom prst="rect">
            <a:avLst/>
          </a:prstGeom>
          <a:noFill/>
          <a:ln/>
        </p:spPr>
        <p:txBody>
          <a:bodyPr wrap="square" lIns="0" tIns="0" rIns="0" bIns="0" rtlCol="0" anchor="ctr"/>
          <a:lstStyle/>
          <a:p>
            <a:pPr marL="0" indent="0" algn="l">
              <a:lnSpc>
                <a:spcPts val="2052"/>
              </a:lnSpc>
              <a:buNone/>
            </a:pPr>
            <a:r>
              <a:rPr lang="en-US" sz="1710" b="1" kern="0" spc="-38" dirty="0">
                <a:solidFill>
                  <a:srgbClr val="00457E">
                    <a:alpha val="99000"/>
                  </a:srgbClr>
                </a:solidFill>
                <a:latin typeface="Times New Roman" panose="02020603050405020304" pitchFamily="18" charset="0"/>
                <a:ea typeface="Inter" pitchFamily="34" charset="-122"/>
                <a:cs typeface="Times New Roman" panose="02020603050405020304" pitchFamily="18" charset="0"/>
              </a:rPr>
              <a:t>Multi Source AI for Hyperlocal Rainfall Nowcasting</a:t>
            </a:r>
            <a:endParaRPr lang="en-US" sz="1710" dirty="0">
              <a:latin typeface="Times New Roman" panose="02020603050405020304" pitchFamily="18" charset="0"/>
              <a:cs typeface="Times New Roman" panose="02020603050405020304" pitchFamily="18" charset="0"/>
            </a:endParaRPr>
          </a:p>
        </p:txBody>
      </p:sp>
      <p:sp>
        <p:nvSpPr>
          <p:cNvPr id="4" name="Text 2"/>
          <p:cNvSpPr/>
          <p:nvPr/>
        </p:nvSpPr>
        <p:spPr>
          <a:xfrm>
            <a:off x="3800475" y="1643063"/>
            <a:ext cx="1462088" cy="161925"/>
          </a:xfrm>
          <a:prstGeom prst="rect">
            <a:avLst/>
          </a:prstGeom>
          <a:noFill/>
          <a:ln/>
        </p:spPr>
        <p:txBody>
          <a:bodyPr wrap="square" lIns="0" tIns="0" rIns="0" bIns="0" rtlCol="0" anchor="ctr"/>
          <a:lstStyle/>
          <a:p>
            <a:pPr marL="0" indent="0" algn="ctr">
              <a:lnSpc>
                <a:spcPts val="1197"/>
              </a:lnSpc>
              <a:buNone/>
            </a:pPr>
            <a:r>
              <a:rPr lang="en-US" sz="855" kern="0" spc="103" dirty="0">
                <a:solidFill>
                  <a:srgbClr val="000000">
                    <a:alpha val="99000"/>
                  </a:srgbClr>
                </a:solidFill>
                <a:latin typeface="Inter" pitchFamily="34" charset="0"/>
                <a:ea typeface="Inter" pitchFamily="34" charset="-122"/>
                <a:cs typeface="Inter" pitchFamily="34" charset="-120"/>
              </a:rPr>
              <a:t>PROJECT REVIEW </a:t>
            </a:r>
            <a:endParaRPr lang="en-US" sz="855" dirty="0"/>
          </a:p>
        </p:txBody>
      </p:sp>
      <p:sp>
        <p:nvSpPr>
          <p:cNvPr id="6" name="Text 3"/>
          <p:cNvSpPr/>
          <p:nvPr/>
        </p:nvSpPr>
        <p:spPr>
          <a:xfrm>
            <a:off x="5391150" y="2314575"/>
            <a:ext cx="3543300" cy="1666875"/>
          </a:xfrm>
          <a:prstGeom prst="rect">
            <a:avLst/>
          </a:prstGeom>
          <a:noFill/>
          <a:ln/>
        </p:spPr>
        <p:txBody>
          <a:bodyPr wrap="square" lIns="0" tIns="0" rIns="0" bIns="0" rtlCol="0" anchor="ctr"/>
          <a:lstStyle/>
          <a:p>
            <a:pPr marL="0" indent="0" algn="l">
              <a:lnSpc>
                <a:spcPts val="1795"/>
              </a:lnSpc>
              <a:buNone/>
            </a:pPr>
            <a:r>
              <a:rPr lang="en-US" sz="1283" b="1" kern="0" spc="-13" dirty="0">
                <a:solidFill>
                  <a:srgbClr val="4682B4">
                    <a:alpha val="99000"/>
                  </a:srgbClr>
                </a:solidFill>
                <a:latin typeface="Inter" pitchFamily="34" charset="0"/>
                <a:ea typeface="Inter" pitchFamily="34" charset="-122"/>
                <a:cs typeface="Inter" pitchFamily="34" charset="-120"/>
              </a:rPr>
              <a:t>          Team Members:</a:t>
            </a:r>
            <a:endParaRPr lang="en-US" sz="1283" dirty="0"/>
          </a:p>
          <a:p>
            <a:pPr marL="0" indent="0" algn="l">
              <a:lnSpc>
                <a:spcPts val="1795"/>
              </a:lnSpc>
              <a:buNone/>
            </a:pPr>
            <a:r>
              <a:rPr lang="en-US" sz="1283" b="1" kern="0" spc="-13" dirty="0">
                <a:solidFill>
                  <a:srgbClr val="4682B4">
                    <a:alpha val="99000"/>
                  </a:srgbClr>
                </a:solidFill>
                <a:latin typeface="Inter" pitchFamily="34" charset="0"/>
                <a:ea typeface="Inter" pitchFamily="34" charset="-122"/>
                <a:cs typeface="Inter" pitchFamily="34" charset="-120"/>
              </a:rPr>
              <a:t>           </a:t>
            </a:r>
            <a:r>
              <a:rPr lang="en-US" sz="1283" kern="0" spc="-13" dirty="0">
                <a:solidFill>
                  <a:srgbClr val="4682B4">
                    <a:alpha val="99000"/>
                  </a:srgbClr>
                </a:solidFill>
                <a:latin typeface="Inter" pitchFamily="34" charset="0"/>
                <a:ea typeface="Inter" pitchFamily="34" charset="-122"/>
                <a:cs typeface="Inter" pitchFamily="34" charset="-120"/>
              </a:rPr>
              <a:t>1. Ariyan M         -  23UCS015</a:t>
            </a:r>
            <a:endParaRPr lang="en-US" sz="1283" dirty="0"/>
          </a:p>
          <a:p>
            <a:pPr marL="0" indent="0" algn="l">
              <a:lnSpc>
                <a:spcPts val="1795"/>
              </a:lnSpc>
              <a:buNone/>
            </a:pPr>
            <a:r>
              <a:rPr lang="en-US" sz="1283" kern="0" spc="-13" dirty="0">
                <a:solidFill>
                  <a:srgbClr val="4682B4">
                    <a:alpha val="99000"/>
                  </a:srgbClr>
                </a:solidFill>
                <a:latin typeface="Inter" pitchFamily="34" charset="0"/>
                <a:ea typeface="Inter" pitchFamily="34" charset="-122"/>
                <a:cs typeface="Inter" pitchFamily="34" charset="-120"/>
              </a:rPr>
              <a:t>          2. Bharath B       -  23UCS025</a:t>
            </a:r>
            <a:endParaRPr lang="en-US" sz="1283" dirty="0"/>
          </a:p>
          <a:p>
            <a:pPr marL="0" indent="0" algn="l">
              <a:lnSpc>
                <a:spcPts val="1795"/>
              </a:lnSpc>
              <a:buNone/>
            </a:pPr>
            <a:r>
              <a:rPr lang="en-US" sz="1283" kern="0" spc="-13" dirty="0">
                <a:solidFill>
                  <a:srgbClr val="4682B4">
                    <a:alpha val="99000"/>
                  </a:srgbClr>
                </a:solidFill>
                <a:latin typeface="Inter" pitchFamily="34" charset="0"/>
                <a:ea typeface="Inter" pitchFamily="34" charset="-122"/>
                <a:cs typeface="Inter" pitchFamily="34" charset="-120"/>
              </a:rPr>
              <a:t>          3. </a:t>
            </a:r>
            <a:r>
              <a:rPr lang="en-US" sz="1283" kern="0" spc="-13" dirty="0" err="1">
                <a:solidFill>
                  <a:srgbClr val="4682B4">
                    <a:alpha val="99000"/>
                  </a:srgbClr>
                </a:solidFill>
                <a:latin typeface="Inter" pitchFamily="34" charset="0"/>
                <a:ea typeface="Inter" pitchFamily="34" charset="-122"/>
                <a:cs typeface="Inter" pitchFamily="34" charset="-120"/>
              </a:rPr>
              <a:t>Hemnnath</a:t>
            </a:r>
            <a:r>
              <a:rPr lang="en-US" sz="1283" kern="0" spc="-13" dirty="0">
                <a:solidFill>
                  <a:srgbClr val="4682B4">
                    <a:alpha val="99000"/>
                  </a:srgbClr>
                </a:solidFill>
                <a:latin typeface="Inter" pitchFamily="34" charset="0"/>
                <a:ea typeface="Inter" pitchFamily="34" charset="-122"/>
                <a:cs typeface="Inter" pitchFamily="34" charset="-120"/>
              </a:rPr>
              <a:t> G  -  23UCS066</a:t>
            </a:r>
            <a:endParaRPr lang="en-US" sz="1283" dirty="0"/>
          </a:p>
        </p:txBody>
      </p:sp>
      <p:sp>
        <p:nvSpPr>
          <p:cNvPr id="7" name="Text 4"/>
          <p:cNvSpPr/>
          <p:nvPr/>
        </p:nvSpPr>
        <p:spPr>
          <a:xfrm>
            <a:off x="609600" y="3200400"/>
            <a:ext cx="2289110" cy="390525"/>
          </a:xfrm>
          <a:prstGeom prst="rect">
            <a:avLst/>
          </a:prstGeom>
          <a:noFill/>
          <a:ln/>
        </p:spPr>
        <p:txBody>
          <a:bodyPr wrap="square" lIns="0" tIns="0" rIns="0" bIns="0" rtlCol="0" anchor="ctr"/>
          <a:lstStyle/>
          <a:p>
            <a:pPr marL="0" indent="0" algn="l">
              <a:lnSpc>
                <a:spcPts val="1453"/>
              </a:lnSpc>
              <a:buNone/>
            </a:pPr>
            <a:r>
              <a:rPr lang="en-US" sz="1069" b="1" kern="0" spc="-11" dirty="0">
                <a:solidFill>
                  <a:srgbClr val="4682B4">
                    <a:alpha val="99000"/>
                  </a:srgbClr>
                </a:solidFill>
                <a:latin typeface="Inter" pitchFamily="34" charset="0"/>
                <a:ea typeface="Inter" pitchFamily="34" charset="-122"/>
                <a:cs typeface="Inter" pitchFamily="34" charset="-120"/>
              </a:rPr>
              <a:t>Guide Name:  </a:t>
            </a:r>
            <a:r>
              <a:rPr lang="en-US" sz="1069" kern="0" spc="-11" dirty="0">
                <a:solidFill>
                  <a:srgbClr val="4682B4">
                    <a:alpha val="99000"/>
                  </a:srgbClr>
                </a:solidFill>
                <a:latin typeface="Inter" pitchFamily="34" charset="0"/>
                <a:ea typeface="Inter" pitchFamily="34" charset="-122"/>
                <a:cs typeface="Inter" pitchFamily="34" charset="-120"/>
              </a:rPr>
              <a:t>Dr. N. Danapaquiame </a:t>
            </a:r>
            <a:endParaRPr lang="en-US" sz="1069" dirty="0"/>
          </a:p>
          <a:p>
            <a:pPr marL="0" indent="0" algn="l">
              <a:lnSpc>
                <a:spcPts val="1453"/>
              </a:lnSpc>
              <a:buNone/>
            </a:pPr>
            <a:r>
              <a:rPr lang="en-US" sz="1069" kern="0" spc="-11" dirty="0">
                <a:solidFill>
                  <a:srgbClr val="4682B4">
                    <a:alpha val="99000"/>
                  </a:srgbClr>
                </a:solidFill>
                <a:latin typeface="Inter" pitchFamily="34" charset="0"/>
                <a:ea typeface="Inter" pitchFamily="34" charset="-122"/>
                <a:cs typeface="Inter" pitchFamily="34" charset="-120"/>
              </a:rPr>
              <a:t>Professor and Head</a:t>
            </a:r>
            <a:endParaRPr lang="en-US" sz="1069" dirty="0"/>
          </a:p>
        </p:txBody>
      </p:sp>
      <p:sp>
        <p:nvSpPr>
          <p:cNvPr id="8" name="Text 5"/>
          <p:cNvSpPr/>
          <p:nvPr/>
        </p:nvSpPr>
        <p:spPr>
          <a:xfrm>
            <a:off x="2781300" y="1114425"/>
            <a:ext cx="3576638" cy="152400"/>
          </a:xfrm>
          <a:prstGeom prst="rect">
            <a:avLst/>
          </a:prstGeom>
          <a:noFill/>
          <a:ln/>
        </p:spPr>
        <p:txBody>
          <a:bodyPr wrap="square" lIns="0" tIns="0" rIns="0" bIns="0" rtlCol="0" anchor="ctr"/>
          <a:lstStyle/>
          <a:p>
            <a:pPr marL="0" indent="0" algn="l">
              <a:lnSpc>
                <a:spcPts val="1129"/>
              </a:lnSpc>
              <a:buNone/>
            </a:pPr>
            <a:r>
              <a:rPr lang="en-US" sz="855" b="1" kern="0" spc="51" dirty="0">
                <a:solidFill>
                  <a:srgbClr val="000000">
                    <a:alpha val="99000"/>
                  </a:srgbClr>
                </a:solidFill>
                <a:latin typeface="Inter" pitchFamily="34" charset="0"/>
                <a:ea typeface="Inter" pitchFamily="34" charset="-122"/>
                <a:cs typeface="Inter" pitchFamily="34" charset="-120"/>
              </a:rPr>
              <a:t>DEPARTMENT OF COMPUTER SCIENCE AND ENGINEERING</a:t>
            </a:r>
            <a:endParaRPr lang="en-US" sz="855" dirty="0"/>
          </a:p>
        </p:txBody>
      </p:sp>
      <p:pic>
        <p:nvPicPr>
          <p:cNvPr id="11" name="Picture 6">
            <a:extLst>
              <a:ext uri="{FF2B5EF4-FFF2-40B4-BE49-F238E27FC236}">
                <a16:creationId xmlns:a16="http://schemas.microsoft.com/office/drawing/2014/main" id="{111A21F5-6A88-4B12-78FE-3DD9B8EF65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0174" y="139303"/>
            <a:ext cx="4919824" cy="7834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57213" y="1943100"/>
            <a:ext cx="2209800" cy="1252538"/>
          </a:xfrm>
          <a:prstGeom prst="roundRect">
            <a:avLst>
              <a:gd name="adj" fmla="val 11681"/>
            </a:avLst>
          </a:prstGeom>
          <a:solidFill>
            <a:srgbClr val="FFFFFF"/>
          </a:solidFill>
          <a:ln/>
        </p:spPr>
        <p:txBody>
          <a:bodyPr wrap="square" rtlCol="0" anchor="ctr"/>
          <a:lstStyle/>
          <a:p>
            <a:pPr marL="0" indent="0">
              <a:buNone/>
            </a:pPr>
            <a:endParaRPr lang="en-US" dirty="0"/>
          </a:p>
        </p:txBody>
      </p:sp>
      <p:sp>
        <p:nvSpPr>
          <p:cNvPr id="3" name="Text 1"/>
          <p:cNvSpPr/>
          <p:nvPr/>
        </p:nvSpPr>
        <p:spPr>
          <a:xfrm>
            <a:off x="9525" y="-4762"/>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
        <p:nvSpPr>
          <p:cNvPr id="4" name="Text 2"/>
          <p:cNvSpPr/>
          <p:nvPr/>
        </p:nvSpPr>
        <p:spPr>
          <a:xfrm>
            <a:off x="714375" y="2114550"/>
            <a:ext cx="1866900" cy="6858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Domain Introduction</a:t>
            </a:r>
            <a:endParaRPr lang="en-US" sz="2138" dirty="0"/>
          </a:p>
        </p:txBody>
      </p:sp>
      <p:sp>
        <p:nvSpPr>
          <p:cNvPr id="5" name="Text 3"/>
          <p:cNvSpPr/>
          <p:nvPr/>
        </p:nvSpPr>
        <p:spPr>
          <a:xfrm>
            <a:off x="3448050" y="857250"/>
            <a:ext cx="5086350" cy="3429000"/>
          </a:xfrm>
          <a:prstGeom prst="rect">
            <a:avLst/>
          </a:prstGeom>
          <a:noFill/>
          <a:ln/>
        </p:spPr>
        <p:txBody>
          <a:bodyPr wrap="square" lIns="0" tIns="0" rIns="0" bIns="0" rtlCol="0" anchor="ctr"/>
          <a:lstStyle/>
          <a:p>
            <a:pPr algn="just"/>
            <a:r>
              <a:rPr lang="en-IN" sz="1100" b="1" dirty="0">
                <a:latin typeface="Times New Roman" panose="02020603050405020304" pitchFamily="18" charset="0"/>
                <a:cs typeface="Times New Roman" panose="02020603050405020304" pitchFamily="18" charset="0"/>
              </a:rPr>
              <a:t>Artificial Intelligence and Machine Learning</a:t>
            </a:r>
            <a:r>
              <a:rPr lang="en-IN" sz="1100" dirty="0">
                <a:latin typeface="Times New Roman" panose="02020603050405020304" pitchFamily="18" charset="0"/>
                <a:cs typeface="Times New Roman" panose="02020603050405020304" pitchFamily="18" charset="0"/>
              </a:rPr>
              <a:t> is the domain that enables computers to learn patterns from data and make predictions or decisions. In this project, deep learning techniques are used to analyze meteorological data and predict rainfall intensity and occurrence over short time periods.</a:t>
            </a:r>
          </a:p>
          <a:p>
            <a:pPr algn="just"/>
            <a:endParaRPr lang="en-IN" sz="1100" dirty="0">
              <a:latin typeface="Times New Roman" panose="02020603050405020304" pitchFamily="18" charset="0"/>
              <a:cs typeface="Times New Roman" panose="02020603050405020304" pitchFamily="18" charset="0"/>
            </a:endParaRPr>
          </a:p>
          <a:p>
            <a:pPr algn="just"/>
            <a:r>
              <a:rPr lang="en-IN" sz="1100" b="1" dirty="0">
                <a:latin typeface="Times New Roman" panose="02020603050405020304" pitchFamily="18" charset="0"/>
                <a:cs typeface="Times New Roman" panose="02020603050405020304" pitchFamily="18" charset="0"/>
              </a:rPr>
              <a:t>Weather Data Analytics and Meteorology</a:t>
            </a:r>
            <a:r>
              <a:rPr lang="en-IN" sz="1100" dirty="0">
                <a:latin typeface="Times New Roman" panose="02020603050405020304" pitchFamily="18" charset="0"/>
                <a:cs typeface="Times New Roman" panose="02020603050405020304" pitchFamily="18" charset="0"/>
              </a:rPr>
              <a:t> is the domain concerned with collecting, processing, and </a:t>
            </a:r>
            <a:r>
              <a:rPr lang="en-IN" sz="1100" dirty="0" err="1">
                <a:latin typeface="Times New Roman" panose="02020603050405020304" pitchFamily="18" charset="0"/>
                <a:cs typeface="Times New Roman" panose="02020603050405020304" pitchFamily="18" charset="0"/>
              </a:rPr>
              <a:t>analyzing</a:t>
            </a:r>
            <a:r>
              <a:rPr lang="en-IN" sz="1100" dirty="0">
                <a:latin typeface="Times New Roman" panose="02020603050405020304" pitchFamily="18" charset="0"/>
                <a:cs typeface="Times New Roman" panose="02020603050405020304" pitchFamily="18" charset="0"/>
              </a:rPr>
              <a:t> atmospheric information such as temperature, humidity, pressure, rainfall, and wind. It is used to understand local weather conditions and identify atmospheric patterns associated with rainfall.</a:t>
            </a:r>
          </a:p>
          <a:p>
            <a:pPr algn="just"/>
            <a:endParaRPr lang="en-IN" sz="1100" dirty="0">
              <a:latin typeface="Times New Roman" panose="02020603050405020304" pitchFamily="18" charset="0"/>
              <a:cs typeface="Times New Roman" panose="02020603050405020304" pitchFamily="18" charset="0"/>
            </a:endParaRPr>
          </a:p>
          <a:p>
            <a:pPr algn="just"/>
            <a:r>
              <a:rPr lang="en-IN" sz="1100" b="1" dirty="0">
                <a:latin typeface="Times New Roman" panose="02020603050405020304" pitchFamily="18" charset="0"/>
                <a:cs typeface="Times New Roman" panose="02020603050405020304" pitchFamily="18" charset="0"/>
              </a:rPr>
              <a:t>Internet of Things (IoT) and Sensor Data Fusion</a:t>
            </a:r>
            <a:r>
              <a:rPr lang="en-IN" sz="1100" dirty="0">
                <a:latin typeface="Times New Roman" panose="02020603050405020304" pitchFamily="18" charset="0"/>
                <a:cs typeface="Times New Roman" panose="02020603050405020304" pitchFamily="18" charset="0"/>
              </a:rPr>
              <a:t> provide the infrastructure for collecting real-time environmental observations from distributed weather stations. Personal Weather Stations (PWS), Automatic Weather Stations (AWS), and other weather data sources are used to provide hyperlocal observations that can be combined for improved rainfall prediction.</a:t>
            </a:r>
          </a:p>
          <a:p>
            <a:pPr algn="just"/>
            <a:endParaRPr lang="en-IN" sz="1100" dirty="0">
              <a:latin typeface="Times New Roman" panose="02020603050405020304" pitchFamily="18" charset="0"/>
              <a:cs typeface="Times New Roman" panose="02020603050405020304" pitchFamily="18" charset="0"/>
            </a:endParaRPr>
          </a:p>
          <a:p>
            <a:pPr algn="just"/>
            <a:r>
              <a:rPr lang="en-IN" sz="1100" b="1" dirty="0">
                <a:latin typeface="Times New Roman" panose="02020603050405020304" pitchFamily="18" charset="0"/>
                <a:cs typeface="Times New Roman" panose="02020603050405020304" pitchFamily="18" charset="0"/>
              </a:rPr>
              <a:t>Precipitation Nowcasting and Numerical Weather Prediction (NWP)</a:t>
            </a:r>
            <a:r>
              <a:rPr lang="en-IN" sz="1100" dirty="0">
                <a:latin typeface="Times New Roman" panose="02020603050405020304" pitchFamily="18" charset="0"/>
                <a:cs typeface="Times New Roman" panose="02020603050405020304" pitchFamily="18" charset="0"/>
              </a:rPr>
              <a:t> focus on predicting rainfall over short time horizons and combining numerical weather model outputs with local observations. They are used to provide hyperlocal rainfall predictions for the next few hours and support applications such as flood monitoring, agriculture, transportation, and disaster management.</a:t>
            </a:r>
          </a:p>
          <a:p>
            <a:pPr algn="just"/>
            <a:endParaRPr lang="en-IN" sz="1100" dirty="0">
              <a:latin typeface="Times New Roman" panose="02020603050405020304" pitchFamily="18" charset="0"/>
              <a:cs typeface="Times New Roman" panose="02020603050405020304" pitchFamily="18" charset="0"/>
            </a:endParaRPr>
          </a:p>
          <a:p>
            <a:pPr algn="just"/>
            <a:r>
              <a:rPr lang="en-IN" sz="1100" b="1" dirty="0">
                <a:latin typeface="Times New Roman" panose="02020603050405020304" pitchFamily="18" charset="0"/>
                <a:cs typeface="Times New Roman" panose="02020603050405020304" pitchFamily="18" charset="0"/>
              </a:rPr>
              <a:t>Web and Database Technologies</a:t>
            </a:r>
            <a:r>
              <a:rPr lang="en-IN" sz="1100" dirty="0">
                <a:latin typeface="Times New Roman" panose="02020603050405020304" pitchFamily="18" charset="0"/>
                <a:cs typeface="Times New Roman" panose="02020603050405020304" pitchFamily="18" charset="0"/>
              </a:rPr>
              <a:t> provide the supporting infrastructure for the weather intelligence platform. They are used to collect, store, process, expose, and visualize real-time weather data and AI-generated rainfall predictions through an interactive web dashboard.</a:t>
            </a:r>
          </a:p>
        </p:txBody>
      </p:sp>
      <p:sp>
        <p:nvSpPr>
          <p:cNvPr id="6" name="Text 4"/>
          <p:cNvSpPr/>
          <p:nvPr/>
        </p:nvSpPr>
        <p:spPr>
          <a:xfrm>
            <a:off x="714375" y="2847975"/>
            <a:ext cx="1514475" cy="147638"/>
          </a:xfrm>
          <a:prstGeom prst="rect">
            <a:avLst/>
          </a:prstGeom>
          <a:noFill/>
          <a:ln/>
        </p:spPr>
        <p:txBody>
          <a:bodyPr wrap="square" lIns="0" tIns="0" rIns="0" bIns="0" rtlCol="0" anchor="ctr"/>
          <a:lstStyle/>
          <a:p>
            <a:pPr marL="0" indent="0" algn="l">
              <a:lnSpc>
                <a:spcPts val="1097"/>
              </a:lnSpc>
              <a:buNone/>
            </a:pPr>
            <a:endParaRPr lang="en-US" sz="78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1975" y="2252663"/>
            <a:ext cx="1557338" cy="638175"/>
          </a:xfrm>
          <a:prstGeom prst="roundRect">
            <a:avLst>
              <a:gd name="adj" fmla="val 22925"/>
            </a:avLst>
          </a:prstGeom>
          <a:solidFill>
            <a:srgbClr val="FFFFFF"/>
          </a:solidFill>
          <a:ln/>
        </p:spPr>
        <p:txBody>
          <a:bodyPr wrap="square" rtlCol="0" anchor="ctr"/>
          <a:lstStyle/>
          <a:p>
            <a:pPr marL="0" indent="0">
              <a:buNone/>
            </a:pPr>
            <a:endParaRPr lang="en-US" dirty="0"/>
          </a:p>
        </p:txBody>
      </p:sp>
      <p:sp>
        <p:nvSpPr>
          <p:cNvPr id="3" name="Text 1"/>
          <p:cNvSpPr/>
          <p:nvPr/>
        </p:nvSpPr>
        <p:spPr>
          <a:xfrm>
            <a:off x="0" y="0"/>
            <a:ext cx="2767013" cy="5143500"/>
          </a:xfrm>
          <a:prstGeom prst="rect">
            <a:avLst/>
          </a:prstGeom>
          <a:solidFill>
            <a:srgbClr val="009AE7">
              <a:alpha val="30000"/>
            </a:srgbClr>
          </a:solidFill>
          <a:ln/>
        </p:spPr>
        <p:txBody>
          <a:bodyPr wrap="square" rtlCol="0" anchor="ctr"/>
          <a:lstStyle/>
          <a:p>
            <a:pPr marL="0" indent="0">
              <a:buNone/>
            </a:pPr>
            <a:endParaRPr lang="en-US" dirty="0"/>
          </a:p>
        </p:txBody>
      </p:sp>
      <p:sp>
        <p:nvSpPr>
          <p:cNvPr id="4" name="Text 2"/>
          <p:cNvSpPr/>
          <p:nvPr/>
        </p:nvSpPr>
        <p:spPr>
          <a:xfrm>
            <a:off x="747713" y="2400300"/>
            <a:ext cx="1866900" cy="3429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Abstract</a:t>
            </a:r>
            <a:endParaRPr lang="en-US" sz="2138" dirty="0"/>
          </a:p>
        </p:txBody>
      </p:sp>
      <p:sp>
        <p:nvSpPr>
          <p:cNvPr id="5" name="Text 3"/>
          <p:cNvSpPr/>
          <p:nvPr/>
        </p:nvSpPr>
        <p:spPr>
          <a:xfrm>
            <a:off x="3067050" y="719138"/>
            <a:ext cx="5662613" cy="952500"/>
          </a:xfrm>
          <a:prstGeom prst="rect">
            <a:avLst/>
          </a:prstGeom>
          <a:noFill/>
          <a:ln/>
        </p:spPr>
        <p:txBody>
          <a:bodyPr wrap="square" lIns="0" tIns="0" rIns="0" bIns="0" rtlCol="0" anchor="ctr"/>
          <a:lstStyle/>
          <a:p>
            <a:pPr algn="just"/>
            <a:r>
              <a:rPr lang="en-IN" sz="1100" dirty="0">
                <a:latin typeface="Times New Roman" panose="02020603050405020304" pitchFamily="18" charset="0"/>
                <a:cs typeface="Times New Roman" panose="02020603050405020304" pitchFamily="18" charset="0"/>
              </a:rPr>
              <a:t>Modern weather monitoring involves multiple information sources such as weather stations, personal weather stations, satellite observations, and numerical weather prediction models. Traditional weather forecasting often struggles to capture short-duration and highly localized rainfall events, especially in regions such as Puducherry and Tamil Nadu. This project is based on the idea of automatically generating accurate hyperlocal rainfall nowcasts by integrating multi-source weather data with AI-driven deep learning models. The system processes real-time observations, performs feature engineering and data fusion, and predicts rainfall for the next few hours through an interactive web-based platform.</a:t>
            </a:r>
          </a:p>
        </p:txBody>
      </p:sp>
      <p:sp>
        <p:nvSpPr>
          <p:cNvPr id="6" name="Text 4"/>
          <p:cNvSpPr/>
          <p:nvPr/>
        </p:nvSpPr>
        <p:spPr>
          <a:xfrm>
            <a:off x="3067050" y="381000"/>
            <a:ext cx="552450" cy="185738"/>
          </a:xfrm>
          <a:prstGeom prst="rect">
            <a:avLst/>
          </a:prstGeom>
          <a:noFill/>
          <a:ln/>
        </p:spPr>
        <p:txBody>
          <a:bodyPr wrap="square" lIns="0" tIns="0" rIns="0" bIns="0" rtlCol="0" anchor="ctr"/>
          <a:lstStyle/>
          <a:p>
            <a:pPr marL="0" indent="0" algn="l">
              <a:lnSpc>
                <a:spcPts val="1397"/>
              </a:lnSpc>
              <a:buNone/>
            </a:pPr>
            <a:r>
              <a:rPr lang="en-US" sz="998" b="1" dirty="0">
                <a:solidFill>
                  <a:srgbClr val="4682B4">
                    <a:alpha val="99000"/>
                  </a:srgbClr>
                </a:solidFill>
                <a:latin typeface="Inter" pitchFamily="34" charset="0"/>
                <a:ea typeface="Inter" pitchFamily="34" charset="-122"/>
                <a:cs typeface="Inter" pitchFamily="34" charset="-120"/>
              </a:rPr>
              <a:t>Our Idea</a:t>
            </a:r>
            <a:endParaRPr lang="en-US" sz="998" dirty="0"/>
          </a:p>
        </p:txBody>
      </p:sp>
      <p:sp>
        <p:nvSpPr>
          <p:cNvPr id="7" name="Text 5"/>
          <p:cNvSpPr/>
          <p:nvPr/>
        </p:nvSpPr>
        <p:spPr>
          <a:xfrm>
            <a:off x="3067050" y="2357438"/>
            <a:ext cx="5662613" cy="762000"/>
          </a:xfrm>
          <a:prstGeom prst="rect">
            <a:avLst/>
          </a:prstGeom>
          <a:noFill/>
          <a:ln/>
        </p:spPr>
        <p:txBody>
          <a:bodyPr wrap="square" lIns="0" tIns="0" rIns="0" bIns="0" rtlCol="0" anchor="ctr"/>
          <a:lstStyle/>
          <a:p>
            <a:pPr algn="just"/>
            <a:r>
              <a:rPr lang="en-IN" sz="1100" dirty="0">
                <a:latin typeface="Times New Roman" panose="02020603050405020304" pitchFamily="18" charset="0"/>
                <a:cs typeface="Times New Roman" panose="02020603050405020304" pitchFamily="18" charset="0"/>
              </a:rPr>
              <a:t>Current weather forecasting systems mainly rely on numerical weather prediction models and individual weather data sources. These systems often operate at coarse spatial and temporal resolutions, making it difficult to accurately capture short-duration and highly localized rainfall events. Existing approaches also do not effectively combine real-time observations from weather stations, personal weather stations, and multiple forecasting models, resulting in limited accuracy for hyperlocal rainfall prediction and short-term nowcasting.</a:t>
            </a:r>
          </a:p>
        </p:txBody>
      </p:sp>
      <p:sp>
        <p:nvSpPr>
          <p:cNvPr id="8" name="Text 6"/>
          <p:cNvSpPr/>
          <p:nvPr/>
        </p:nvSpPr>
        <p:spPr>
          <a:xfrm>
            <a:off x="3067050" y="1924050"/>
            <a:ext cx="1176338" cy="185738"/>
          </a:xfrm>
          <a:prstGeom prst="rect">
            <a:avLst/>
          </a:prstGeom>
          <a:noFill/>
          <a:ln/>
        </p:spPr>
        <p:txBody>
          <a:bodyPr wrap="square" lIns="0" tIns="0" rIns="0" bIns="0" rtlCol="0" anchor="ctr"/>
          <a:lstStyle/>
          <a:p>
            <a:pPr marL="0" indent="0" algn="l">
              <a:lnSpc>
                <a:spcPts val="1397"/>
              </a:lnSpc>
              <a:buNone/>
            </a:pPr>
            <a:r>
              <a:rPr lang="en-US" sz="998" b="1" dirty="0">
                <a:solidFill>
                  <a:srgbClr val="4682B4">
                    <a:alpha val="99000"/>
                  </a:srgbClr>
                </a:solidFill>
                <a:latin typeface="Inter" pitchFamily="34" charset="0"/>
                <a:ea typeface="Inter" pitchFamily="34" charset="-122"/>
                <a:cs typeface="Inter" pitchFamily="34" charset="-120"/>
              </a:rPr>
              <a:t>Existing Solutions</a:t>
            </a:r>
            <a:endParaRPr lang="en-US" sz="998" dirty="0"/>
          </a:p>
        </p:txBody>
      </p:sp>
      <p:sp>
        <p:nvSpPr>
          <p:cNvPr id="9" name="Text 7"/>
          <p:cNvSpPr/>
          <p:nvPr/>
        </p:nvSpPr>
        <p:spPr>
          <a:xfrm>
            <a:off x="3067050" y="3709988"/>
            <a:ext cx="5662613" cy="952500"/>
          </a:xfrm>
          <a:prstGeom prst="rect">
            <a:avLst/>
          </a:prstGeom>
          <a:noFill/>
          <a:ln/>
        </p:spPr>
        <p:txBody>
          <a:bodyPr wrap="square" lIns="0" tIns="0" rIns="0" bIns="0" rtlCol="0" anchor="ctr"/>
          <a:lstStyle/>
          <a:p>
            <a:pPr algn="just"/>
            <a:r>
              <a:rPr lang="en-IN" sz="1100" dirty="0">
                <a:latin typeface="Times New Roman" panose="02020603050405020304" pitchFamily="18" charset="0"/>
                <a:cs typeface="Times New Roman" panose="02020603050405020304" pitchFamily="18" charset="0"/>
              </a:rPr>
              <a:t>The proposed AI-powered hyperlocal rainfall nowcasting system integrates real-time weather observations from multiple sources, including weather stations, personal weather stations, and Open-</a:t>
            </a:r>
            <a:r>
              <a:rPr lang="en-IN" sz="1100" dirty="0" err="1">
                <a:latin typeface="Times New Roman" panose="02020603050405020304" pitchFamily="18" charset="0"/>
                <a:cs typeface="Times New Roman" panose="02020603050405020304" pitchFamily="18" charset="0"/>
              </a:rPr>
              <a:t>Meteo</a:t>
            </a:r>
            <a:r>
              <a:rPr lang="en-IN" sz="1100" dirty="0">
                <a:latin typeface="Times New Roman" panose="02020603050405020304" pitchFamily="18" charset="0"/>
                <a:cs typeface="Times New Roman" panose="02020603050405020304" pitchFamily="18" charset="0"/>
              </a:rPr>
              <a:t>, with deep learning and numerical weather prediction models. By performing data preprocessing, feature engineering, and multi-source data fusion, the system generates short-term rainfall predictions for the next few hours. The results are presented through an interactive web dashboard, enabling accurate, localized, and real-time rainfall monitoring and nowcasting.</a:t>
            </a:r>
          </a:p>
        </p:txBody>
      </p:sp>
      <p:sp>
        <p:nvSpPr>
          <p:cNvPr id="10" name="Text 8"/>
          <p:cNvSpPr/>
          <p:nvPr/>
        </p:nvSpPr>
        <p:spPr>
          <a:xfrm>
            <a:off x="3067050" y="3371850"/>
            <a:ext cx="1376363" cy="185738"/>
          </a:xfrm>
          <a:prstGeom prst="rect">
            <a:avLst/>
          </a:prstGeom>
          <a:noFill/>
          <a:ln/>
        </p:spPr>
        <p:txBody>
          <a:bodyPr wrap="square" lIns="0" tIns="0" rIns="0" bIns="0" rtlCol="0" anchor="ctr"/>
          <a:lstStyle/>
          <a:p>
            <a:pPr marL="0" indent="0" algn="l">
              <a:lnSpc>
                <a:spcPts val="1397"/>
              </a:lnSpc>
              <a:buNone/>
            </a:pPr>
            <a:r>
              <a:rPr lang="en-US" sz="998" b="1" dirty="0">
                <a:solidFill>
                  <a:srgbClr val="4682B4">
                    <a:alpha val="99000"/>
                  </a:srgbClr>
                </a:solidFill>
                <a:latin typeface="Inter" pitchFamily="34" charset="0"/>
                <a:ea typeface="Inter" pitchFamily="34" charset="-122"/>
                <a:cs typeface="Inter" pitchFamily="34" charset="-120"/>
              </a:rPr>
              <a:t>Proposed Solution</a:t>
            </a:r>
            <a:endParaRPr lang="en-US" sz="998"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2413" y="2014538"/>
            <a:ext cx="2732724"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590550" y="2214563"/>
            <a:ext cx="2052781" cy="495300"/>
          </a:xfrm>
          <a:prstGeom prst="rect">
            <a:avLst/>
          </a:prstGeom>
          <a:noFill/>
          <a:ln/>
        </p:spPr>
        <p:txBody>
          <a:bodyPr wrap="square" lIns="0" tIns="0" rIns="0" bIns="0" rtlCol="0" anchor="ctr"/>
          <a:lstStyle/>
          <a:p>
            <a:pPr marL="0" indent="0" algn="l">
              <a:lnSpc>
                <a:spcPts val="1847"/>
              </a:lnSpc>
              <a:buNone/>
            </a:pPr>
            <a:r>
              <a:rPr lang="en-US" sz="1924" b="1" kern="0" spc="-42" dirty="0">
                <a:solidFill>
                  <a:srgbClr val="00457E">
                    <a:alpha val="99000"/>
                  </a:srgbClr>
                </a:solidFill>
                <a:latin typeface="Inter" pitchFamily="34" charset="0"/>
                <a:ea typeface="Inter" pitchFamily="34" charset="-122"/>
                <a:cs typeface="Inter" pitchFamily="34" charset="-120"/>
              </a:rPr>
              <a:t>Drawbacks of Existing Work</a:t>
            </a:r>
            <a:endParaRPr lang="en-US" sz="1924" dirty="0"/>
          </a:p>
        </p:txBody>
      </p:sp>
      <p:sp>
        <p:nvSpPr>
          <p:cNvPr id="4" name="Text 2"/>
          <p:cNvSpPr/>
          <p:nvPr/>
        </p:nvSpPr>
        <p:spPr>
          <a:xfrm>
            <a:off x="3448050" y="628650"/>
            <a:ext cx="5086350" cy="3890962"/>
          </a:xfrm>
          <a:prstGeom prst="rect">
            <a:avLst/>
          </a:prstGeom>
          <a:noFill/>
          <a:ln/>
        </p:spPr>
        <p:txBody>
          <a:bodyPr wrap="square" lIns="0" tIns="0" rIns="0" bIns="0" rtlCol="0" anchor="ctr"/>
          <a:lstStyle/>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Coarse Spatial and Temporal Resolution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Most traditional weather forecasting systems operate at relatively coarse spatial and temporal resolutions, making it difficult to capture short-duration and highly localized rainfall events.</a:t>
            </a: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Limited Hyperlocal Prediction Accuracy</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Conventional numerical weather prediction models may not accurately represent localized convective rainfall, especially in coastal regions where weather conditions can change rapidly.</a:t>
            </a: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Fragmented Weather Data Sources</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Weather observations are often collected from separate sources such as weather stations, personal weather stations, and forecasting models, making it difficult to combine them into a unified and consistent dataset.</a:t>
            </a: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Lack of Real-Time Multi-Source Data Fusion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Existing systems generally do not effectively integrate real-time observations with AI-based nowcasting and multiple NWP model outputs, limiting their ability to provide accurate short-term rainfall predictions.</a:t>
            </a: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Difficulty in Predicting Rapid Rainfall Changes</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Sudden changes in temperature, humidity, pressure, and wind can lead to rapid rainfall development, which traditional forecasting approaches may fail to capture effectively.</a:t>
            </a:r>
          </a:p>
        </p:txBody>
      </p:sp>
      <p:sp>
        <p:nvSpPr>
          <p:cNvPr id="5" name="Text 3"/>
          <p:cNvSpPr/>
          <p:nvPr/>
        </p:nvSpPr>
        <p:spPr>
          <a:xfrm>
            <a:off x="590550" y="2938463"/>
            <a:ext cx="1795463" cy="323850"/>
          </a:xfrm>
          <a:prstGeom prst="rect">
            <a:avLst/>
          </a:prstGeom>
          <a:noFill/>
          <a:ln/>
        </p:spPr>
        <p:txBody>
          <a:bodyPr wrap="square" lIns="0" tIns="0" rIns="0" bIns="0" rtlCol="0" anchor="ctr"/>
          <a:lstStyle/>
          <a:p>
            <a:pPr marL="0" indent="0" algn="l">
              <a:lnSpc>
                <a:spcPts val="1197"/>
              </a:lnSpc>
              <a:buNone/>
            </a:pPr>
            <a:endParaRPr lang="en-US" sz="855" dirty="0"/>
          </a:p>
        </p:txBody>
      </p:sp>
      <p:sp>
        <p:nvSpPr>
          <p:cNvPr id="6" name="Text 4"/>
          <p:cNvSpPr/>
          <p:nvPr/>
        </p:nvSpPr>
        <p:spPr>
          <a:xfrm>
            <a:off x="0" y="0"/>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252413" y="2014538"/>
            <a:ext cx="2058991"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506127" y="2157413"/>
            <a:ext cx="1546683" cy="552450"/>
          </a:xfrm>
          <a:prstGeom prst="rect">
            <a:avLst/>
          </a:prstGeom>
          <a:noFill/>
          <a:ln/>
        </p:spPr>
        <p:txBody>
          <a:bodyPr wrap="square" lIns="0" tIns="0" rIns="0" bIns="0" rtlCol="0" anchor="ctr"/>
          <a:lstStyle/>
          <a:p>
            <a:pPr marL="0" indent="0" algn="ctr">
              <a:lnSpc>
                <a:spcPts val="2052"/>
              </a:lnSpc>
              <a:buNone/>
            </a:pPr>
            <a:r>
              <a:rPr lang="en-US" sz="2138" b="1" kern="0" spc="-47" dirty="0">
                <a:solidFill>
                  <a:srgbClr val="00457E">
                    <a:alpha val="99000"/>
                  </a:srgbClr>
                </a:solidFill>
                <a:latin typeface="Inter" pitchFamily="34" charset="0"/>
                <a:ea typeface="Inter" pitchFamily="34" charset="-122"/>
                <a:cs typeface="Inter" pitchFamily="34" charset="-120"/>
              </a:rPr>
              <a:t>Proposed Solution</a:t>
            </a:r>
            <a:endParaRPr lang="en-US" sz="2138" dirty="0"/>
          </a:p>
        </p:txBody>
      </p:sp>
      <p:sp>
        <p:nvSpPr>
          <p:cNvPr id="4" name="Text 2"/>
          <p:cNvSpPr/>
          <p:nvPr/>
        </p:nvSpPr>
        <p:spPr>
          <a:xfrm>
            <a:off x="3448050" y="628650"/>
            <a:ext cx="5086350" cy="3890962"/>
          </a:xfrm>
          <a:prstGeom prst="rect">
            <a:avLst/>
          </a:prstGeom>
          <a:noFill/>
          <a:ln/>
        </p:spPr>
        <p:txBody>
          <a:bodyPr wrap="square" lIns="0" tIns="0" rIns="0" bIns="0" rtlCol="0" anchor="ctr"/>
          <a:lstStyle/>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Multi-Source Data Acquisition</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The system collects real-time weather observations from multiple sources, including IMD AWS, personal weather stations, and Open-</a:t>
            </a:r>
            <a:r>
              <a:rPr lang="en-IN" sz="1200" dirty="0" err="1">
                <a:latin typeface="Times New Roman" panose="02020603050405020304" pitchFamily="18" charset="0"/>
                <a:cs typeface="Times New Roman" panose="02020603050405020304" pitchFamily="18" charset="0"/>
              </a:rPr>
              <a:t>Meteo</a:t>
            </a:r>
            <a:r>
              <a:rPr lang="en-IN" sz="1200" dirty="0">
                <a:latin typeface="Times New Roman" panose="02020603050405020304" pitchFamily="18" charset="0"/>
                <a:cs typeface="Times New Roman" panose="02020603050405020304" pitchFamily="18" charset="0"/>
              </a:rPr>
              <a:t>, providing a comprehensive view of local atmospheric conditions.</a:t>
            </a: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Integrated AI-Based Processing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Deep learning models such as </a:t>
            </a:r>
            <a:r>
              <a:rPr lang="en-IN" sz="1200" dirty="0" err="1">
                <a:latin typeface="Times New Roman" panose="02020603050405020304" pitchFamily="18" charset="0"/>
                <a:cs typeface="Times New Roman" panose="02020603050405020304" pitchFamily="18" charset="0"/>
              </a:rPr>
              <a:t>LSTMAtU</a:t>
            </a:r>
            <a:r>
              <a:rPr lang="en-IN" sz="1200" dirty="0">
                <a:latin typeface="Times New Roman" panose="02020603050405020304" pitchFamily="18" charset="0"/>
                <a:cs typeface="Times New Roman" panose="02020603050405020304" pitchFamily="18" charset="0"/>
              </a:rPr>
              <a:t>-Net and the proposed </a:t>
            </a:r>
            <a:r>
              <a:rPr lang="en-IN" sz="1200" dirty="0" err="1">
                <a:latin typeface="Times New Roman" panose="02020603050405020304" pitchFamily="18" charset="0"/>
                <a:cs typeface="Times New Roman" panose="02020603050405020304" pitchFamily="18" charset="0"/>
              </a:rPr>
              <a:t>TransAtU</a:t>
            </a:r>
            <a:r>
              <a:rPr lang="en-IN" sz="1200" dirty="0">
                <a:latin typeface="Times New Roman" panose="02020603050405020304" pitchFamily="18" charset="0"/>
                <a:cs typeface="Times New Roman" panose="02020603050405020304" pitchFamily="18" charset="0"/>
              </a:rPr>
              <a:t>-Net process weather data and learn complex spatial and temporal patterns to generate short-term rainfall predictions.</a:t>
            </a: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Data Fusion and Feature Engineering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Data from different sources is cleaned, synchronized, and combined with important atmospheric features such as temperature, humidity, pressure, wind, and rainfall trends to improve prediction accuracy.</a:t>
            </a:r>
          </a:p>
          <a:p>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Hyperlocal Rainfall Nowcasting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The system generates rainfall predictions for short time horizons and combines AI predictions with multi-model NWP guidance to provide localized and reliable rainfall information through an interactive web dashboard.</a:t>
            </a:r>
          </a:p>
        </p:txBody>
      </p:sp>
      <p:sp>
        <p:nvSpPr>
          <p:cNvPr id="5" name="Text 3"/>
          <p:cNvSpPr/>
          <p:nvPr/>
        </p:nvSpPr>
        <p:spPr>
          <a:xfrm>
            <a:off x="590550" y="2938463"/>
            <a:ext cx="1795463" cy="323850"/>
          </a:xfrm>
          <a:prstGeom prst="rect">
            <a:avLst/>
          </a:prstGeom>
          <a:noFill/>
          <a:ln/>
        </p:spPr>
        <p:txBody>
          <a:bodyPr wrap="square" lIns="0" tIns="0" rIns="0" bIns="0" rtlCol="0" anchor="ctr"/>
          <a:lstStyle/>
          <a:p>
            <a:pPr marL="0" indent="0" algn="l">
              <a:lnSpc>
                <a:spcPts val="1197"/>
              </a:lnSpc>
              <a:buNone/>
            </a:pPr>
            <a:endParaRPr lang="en-US" sz="855" dirty="0"/>
          </a:p>
        </p:txBody>
      </p:sp>
      <p:sp>
        <p:nvSpPr>
          <p:cNvPr id="6" name="Text 4"/>
          <p:cNvSpPr/>
          <p:nvPr/>
        </p:nvSpPr>
        <p:spPr>
          <a:xfrm>
            <a:off x="0" y="0"/>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609600"/>
            <a:ext cx="7543800" cy="276225"/>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Sub Domains and Issues </a:t>
            </a:r>
            <a:endParaRPr lang="en-US" sz="1710" dirty="0"/>
          </a:p>
        </p:txBody>
      </p:sp>
      <p:sp>
        <p:nvSpPr>
          <p:cNvPr id="3" name="Shape 1"/>
          <p:cNvSpPr/>
          <p:nvPr/>
        </p:nvSpPr>
        <p:spPr>
          <a:xfrm>
            <a:off x="609600" y="1304925"/>
            <a:ext cx="2438400" cy="3228975"/>
          </a:xfrm>
          <a:prstGeom prst="roundRect">
            <a:avLst>
              <a:gd name="adj" fmla="val 6000"/>
            </a:avLst>
          </a:prstGeom>
          <a:solidFill>
            <a:srgbClr val="AEE4FF"/>
          </a:solidFill>
          <a:ln/>
        </p:spPr>
        <p:txBody>
          <a:bodyPr/>
          <a:lstStyle/>
          <a:p>
            <a:endParaRPr lang="en-IN"/>
          </a:p>
        </p:txBody>
      </p:sp>
      <p:sp>
        <p:nvSpPr>
          <p:cNvPr id="4" name="Text 2"/>
          <p:cNvSpPr/>
          <p:nvPr/>
        </p:nvSpPr>
        <p:spPr>
          <a:xfrm>
            <a:off x="838200" y="1495425"/>
            <a:ext cx="2008187" cy="457200"/>
          </a:xfrm>
          <a:prstGeom prst="rect">
            <a:avLst/>
          </a:prstGeom>
          <a:noFill/>
          <a:ln/>
        </p:spPr>
        <p:txBody>
          <a:bodyPr wrap="square" lIns="0" tIns="0" rIns="0" bIns="0" rtlCol="0" anchor="ctr"/>
          <a:lstStyle/>
          <a:p>
            <a:r>
              <a:rPr lang="en-IN" sz="1400" b="1" dirty="0"/>
              <a:t>Weather Data Acquisition</a:t>
            </a:r>
            <a:endParaRPr lang="en-IN" sz="1400" dirty="0"/>
          </a:p>
        </p:txBody>
      </p:sp>
      <p:sp>
        <p:nvSpPr>
          <p:cNvPr id="5" name="Text 3"/>
          <p:cNvSpPr/>
          <p:nvPr/>
        </p:nvSpPr>
        <p:spPr>
          <a:xfrm>
            <a:off x="823913" y="2214563"/>
            <a:ext cx="2008187" cy="2166938"/>
          </a:xfrm>
          <a:prstGeom prst="rect">
            <a:avLst/>
          </a:prstGeom>
          <a:noFill/>
          <a:ln/>
        </p:spPr>
        <p:txBody>
          <a:bodyPr wrap="square" lIns="0" tIns="0" rIns="0" bIns="0" rtlCol="0" anchor="ctr"/>
          <a:lstStyle/>
          <a:p>
            <a:pPr marL="171450" lvl="0" indent="-1714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Integrating data from multiple weather sources.</a:t>
            </a:r>
          </a:p>
          <a:p>
            <a:pPr marL="171450" lvl="0" indent="-1714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Handling different data formats and sampling intervals.</a:t>
            </a:r>
          </a:p>
          <a:p>
            <a:pPr marL="171450" lvl="0" indent="-1714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Missing or inconsistent observations can affect reliability.</a:t>
            </a:r>
          </a:p>
          <a:p>
            <a:pPr marL="171450" lvl="0" indent="-171450" algn="just">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Real-time data collection requires continuous monitoring.</a:t>
            </a:r>
          </a:p>
        </p:txBody>
      </p:sp>
      <p:sp>
        <p:nvSpPr>
          <p:cNvPr id="6" name="Shape 4"/>
          <p:cNvSpPr/>
          <p:nvPr/>
        </p:nvSpPr>
        <p:spPr>
          <a:xfrm>
            <a:off x="3352800" y="1304925"/>
            <a:ext cx="2438400" cy="3228975"/>
          </a:xfrm>
          <a:prstGeom prst="roundRect">
            <a:avLst>
              <a:gd name="adj" fmla="val 6000"/>
            </a:avLst>
          </a:prstGeom>
          <a:solidFill>
            <a:srgbClr val="AEE4FF"/>
          </a:solidFill>
          <a:ln/>
        </p:spPr>
        <p:txBody>
          <a:bodyPr/>
          <a:lstStyle/>
          <a:p>
            <a:endParaRPr lang="en-IN"/>
          </a:p>
        </p:txBody>
      </p:sp>
      <p:sp>
        <p:nvSpPr>
          <p:cNvPr id="7" name="Text 5"/>
          <p:cNvSpPr/>
          <p:nvPr/>
        </p:nvSpPr>
        <p:spPr>
          <a:xfrm>
            <a:off x="3581400" y="1495425"/>
            <a:ext cx="2008187" cy="457200"/>
          </a:xfrm>
          <a:prstGeom prst="rect">
            <a:avLst/>
          </a:prstGeom>
          <a:noFill/>
          <a:ln/>
        </p:spPr>
        <p:txBody>
          <a:bodyPr wrap="square" lIns="0" tIns="0" rIns="0" bIns="0" rtlCol="0" anchor="ctr"/>
          <a:lstStyle/>
          <a:p>
            <a:r>
              <a:rPr lang="en-IN" sz="1400" b="1" dirty="0"/>
              <a:t>AI &amp; Deep Learning</a:t>
            </a:r>
            <a:endParaRPr lang="en-US" sz="1283" b="1" dirty="0"/>
          </a:p>
        </p:txBody>
      </p:sp>
      <p:sp>
        <p:nvSpPr>
          <p:cNvPr id="8" name="Text 6"/>
          <p:cNvSpPr/>
          <p:nvPr/>
        </p:nvSpPr>
        <p:spPr>
          <a:xfrm>
            <a:off x="3581400" y="2124075"/>
            <a:ext cx="2008187" cy="2166938"/>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Capturing complex spatial and temporal rainfall patterns.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Predicting highly localized and rapidly changing rainfall.</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Handling class imbalance between rainfall and non-rainfall events.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Higher-resolution models require significant computational resources.</a:t>
            </a:r>
          </a:p>
        </p:txBody>
      </p:sp>
      <p:sp>
        <p:nvSpPr>
          <p:cNvPr id="9" name="Shape 7"/>
          <p:cNvSpPr/>
          <p:nvPr/>
        </p:nvSpPr>
        <p:spPr>
          <a:xfrm>
            <a:off x="6096000" y="1304925"/>
            <a:ext cx="2438400" cy="3228975"/>
          </a:xfrm>
          <a:prstGeom prst="roundRect">
            <a:avLst>
              <a:gd name="adj" fmla="val 6000"/>
            </a:avLst>
          </a:prstGeom>
          <a:solidFill>
            <a:srgbClr val="AEE4FF"/>
          </a:solidFill>
          <a:ln/>
        </p:spPr>
        <p:txBody>
          <a:bodyPr/>
          <a:lstStyle/>
          <a:p>
            <a:endParaRPr lang="en-IN"/>
          </a:p>
        </p:txBody>
      </p:sp>
      <p:sp>
        <p:nvSpPr>
          <p:cNvPr id="10" name="Text 8"/>
          <p:cNvSpPr/>
          <p:nvPr/>
        </p:nvSpPr>
        <p:spPr>
          <a:xfrm>
            <a:off x="6324600" y="1633538"/>
            <a:ext cx="2008187" cy="228600"/>
          </a:xfrm>
          <a:prstGeom prst="rect">
            <a:avLst/>
          </a:prstGeom>
          <a:noFill/>
          <a:ln/>
        </p:spPr>
        <p:txBody>
          <a:bodyPr wrap="square" lIns="0" tIns="0" rIns="0" bIns="0" rtlCol="0" anchor="ctr"/>
          <a:lstStyle/>
          <a:p>
            <a:r>
              <a:rPr lang="en-IN" sz="1400" b="1" dirty="0"/>
              <a:t>Weather Data Fusion &amp; Nowcasting</a:t>
            </a:r>
            <a:endParaRPr lang="en-US" sz="1283" b="1" dirty="0"/>
          </a:p>
        </p:txBody>
      </p:sp>
      <p:sp>
        <p:nvSpPr>
          <p:cNvPr id="11" name="Text 9"/>
          <p:cNvSpPr/>
          <p:nvPr/>
        </p:nvSpPr>
        <p:spPr>
          <a:xfrm>
            <a:off x="6324600" y="1957388"/>
            <a:ext cx="2008187" cy="2333625"/>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Synchronizing observations from different sources.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Combining station data with NWP model predictions.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Maintaining accuracy across different locations and weather conditions.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Generating reliable short-term forecasts in real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609600"/>
            <a:ext cx="7543800" cy="276225"/>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Sub Domains and Issues </a:t>
            </a:r>
            <a:endParaRPr lang="en-US" sz="1710" dirty="0"/>
          </a:p>
        </p:txBody>
      </p:sp>
      <p:sp>
        <p:nvSpPr>
          <p:cNvPr id="3" name="Shape 1"/>
          <p:cNvSpPr/>
          <p:nvPr/>
        </p:nvSpPr>
        <p:spPr>
          <a:xfrm>
            <a:off x="609600" y="1304925"/>
            <a:ext cx="2438400" cy="3228975"/>
          </a:xfrm>
          <a:prstGeom prst="roundRect">
            <a:avLst>
              <a:gd name="adj" fmla="val 6000"/>
            </a:avLst>
          </a:prstGeom>
          <a:solidFill>
            <a:srgbClr val="AEE4FF"/>
          </a:solidFill>
          <a:ln/>
        </p:spPr>
        <p:txBody>
          <a:bodyPr/>
          <a:lstStyle/>
          <a:p>
            <a:endParaRPr lang="en-IN"/>
          </a:p>
        </p:txBody>
      </p:sp>
      <p:sp>
        <p:nvSpPr>
          <p:cNvPr id="4" name="Text 2"/>
          <p:cNvSpPr/>
          <p:nvPr/>
        </p:nvSpPr>
        <p:spPr>
          <a:xfrm>
            <a:off x="838200" y="1495425"/>
            <a:ext cx="2008187" cy="457200"/>
          </a:xfrm>
          <a:prstGeom prst="rect">
            <a:avLst/>
          </a:prstGeom>
          <a:noFill/>
          <a:ln/>
        </p:spPr>
        <p:txBody>
          <a:bodyPr wrap="square" lIns="0" tIns="0" rIns="0" bIns="0" rtlCol="0" anchor="ctr"/>
          <a:lstStyle/>
          <a:p>
            <a:r>
              <a:rPr lang="en-IN" sz="1400" b="1" dirty="0"/>
              <a:t>Numerical Weather Prediction (NWP)</a:t>
            </a:r>
            <a:endParaRPr lang="en-US" sz="1283" b="1" dirty="0"/>
          </a:p>
        </p:txBody>
      </p:sp>
      <p:sp>
        <p:nvSpPr>
          <p:cNvPr id="5" name="Text 3"/>
          <p:cNvSpPr/>
          <p:nvPr/>
        </p:nvSpPr>
        <p:spPr>
          <a:xfrm>
            <a:off x="838200" y="2124075"/>
            <a:ext cx="2008187" cy="2166938"/>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Coarse spatial resolution limits hyperlocal rainfall prediction.</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Different models may produce varying rainfall forecasts.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Model updates may not capture sudden weather changes.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Combining multiple NWP outputs requires careful weighting.</a:t>
            </a:r>
          </a:p>
        </p:txBody>
      </p:sp>
      <p:sp>
        <p:nvSpPr>
          <p:cNvPr id="6" name="Shape 4"/>
          <p:cNvSpPr/>
          <p:nvPr/>
        </p:nvSpPr>
        <p:spPr>
          <a:xfrm>
            <a:off x="3352800" y="1304925"/>
            <a:ext cx="2438400" cy="3228975"/>
          </a:xfrm>
          <a:prstGeom prst="roundRect">
            <a:avLst>
              <a:gd name="adj" fmla="val 6000"/>
            </a:avLst>
          </a:prstGeom>
          <a:solidFill>
            <a:srgbClr val="AEE4FF"/>
          </a:solidFill>
          <a:ln/>
        </p:spPr>
        <p:txBody>
          <a:bodyPr/>
          <a:lstStyle/>
          <a:p>
            <a:endParaRPr lang="en-IN"/>
          </a:p>
        </p:txBody>
      </p:sp>
      <p:sp>
        <p:nvSpPr>
          <p:cNvPr id="7" name="Text 5"/>
          <p:cNvSpPr/>
          <p:nvPr/>
        </p:nvSpPr>
        <p:spPr>
          <a:xfrm>
            <a:off x="3581400" y="1495425"/>
            <a:ext cx="1833563" cy="457200"/>
          </a:xfrm>
          <a:prstGeom prst="rect">
            <a:avLst/>
          </a:prstGeom>
          <a:noFill/>
          <a:ln/>
        </p:spPr>
        <p:txBody>
          <a:bodyPr wrap="square" lIns="0" tIns="0" rIns="0" bIns="0" rtlCol="0" anchor="ctr"/>
          <a:lstStyle/>
          <a:p>
            <a:r>
              <a:rPr lang="en-IN" sz="1400" b="1" dirty="0"/>
              <a:t>Feature Engineering &amp; Data Preprocessing</a:t>
            </a:r>
            <a:endParaRPr lang="en-US" sz="1283" b="1" dirty="0">
              <a:latin typeface="Calibri" panose="020F0502020204030204" pitchFamily="34" charset="0"/>
              <a:ea typeface="Calibri" panose="020F0502020204030204" pitchFamily="34" charset="0"/>
              <a:cs typeface="Calibri" panose="020F0502020204030204" pitchFamily="34" charset="0"/>
            </a:endParaRPr>
          </a:p>
        </p:txBody>
      </p:sp>
      <p:sp>
        <p:nvSpPr>
          <p:cNvPr id="8" name="Text 6"/>
          <p:cNvSpPr/>
          <p:nvPr/>
        </p:nvSpPr>
        <p:spPr>
          <a:xfrm>
            <a:off x="3581400" y="2124075"/>
            <a:ext cx="2008187" cy="2166938"/>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Weather data may contain missing or inconsistent observations.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Different sources use different measurement intervals and formats.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Atmospheric features must be engineered to capture rainfall conditions.</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Poor-quality input data can reduce model prediction accuracy</a:t>
            </a:r>
          </a:p>
        </p:txBody>
      </p:sp>
      <p:sp>
        <p:nvSpPr>
          <p:cNvPr id="9" name="Shape 7"/>
          <p:cNvSpPr/>
          <p:nvPr/>
        </p:nvSpPr>
        <p:spPr>
          <a:xfrm>
            <a:off x="6095206" y="1276739"/>
            <a:ext cx="2438400" cy="3228975"/>
          </a:xfrm>
          <a:prstGeom prst="roundRect">
            <a:avLst>
              <a:gd name="adj" fmla="val 6000"/>
            </a:avLst>
          </a:prstGeom>
          <a:solidFill>
            <a:srgbClr val="AEE4FF"/>
          </a:solidFill>
          <a:ln/>
        </p:spPr>
        <p:txBody>
          <a:bodyPr/>
          <a:lstStyle/>
          <a:p>
            <a:endParaRPr lang="en-IN"/>
          </a:p>
        </p:txBody>
      </p:sp>
      <p:sp>
        <p:nvSpPr>
          <p:cNvPr id="10" name="Text 8"/>
          <p:cNvSpPr/>
          <p:nvPr/>
        </p:nvSpPr>
        <p:spPr>
          <a:xfrm>
            <a:off x="6324600" y="1585718"/>
            <a:ext cx="2008187" cy="228600"/>
          </a:xfrm>
          <a:prstGeom prst="rect">
            <a:avLst/>
          </a:prstGeom>
          <a:noFill/>
          <a:ln/>
        </p:spPr>
        <p:txBody>
          <a:bodyPr wrap="square" lIns="0" tIns="0" rIns="0" bIns="0" rtlCol="0" anchor="ctr"/>
          <a:lstStyle/>
          <a:p>
            <a:r>
              <a:rPr lang="en-IN" sz="1400" b="1" dirty="0"/>
              <a:t>Real-Time Monitoring &amp; Visualization</a:t>
            </a:r>
            <a:endParaRPr lang="en-US" sz="1283" b="1" dirty="0">
              <a:ea typeface="Inter" panose="020B0604020202020204" charset="0"/>
              <a:cs typeface="Inter" panose="020B0604020202020204" charset="0"/>
            </a:endParaRPr>
          </a:p>
        </p:txBody>
      </p:sp>
      <p:sp>
        <p:nvSpPr>
          <p:cNvPr id="11" name="Text 9"/>
          <p:cNvSpPr/>
          <p:nvPr/>
        </p:nvSpPr>
        <p:spPr>
          <a:xfrm>
            <a:off x="6310313" y="2124075"/>
            <a:ext cx="2008187" cy="2166938"/>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Continuous weather updates require efficient data processing.</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Large amounts of real-time data can increase system load.</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Forecast results must be presented clearly for easy interpretation.</a:t>
            </a:r>
          </a:p>
          <a:p>
            <a:pPr marL="171450" lvl="0" indent="-171450">
              <a:buFont typeface="Arial" panose="020B0604020202020204" pitchFamily="34" charset="0"/>
              <a:buChar char="•"/>
            </a:pPr>
            <a:r>
              <a:rPr lang="en-IN" sz="1200" dirty="0">
                <a:latin typeface="Times New Roman" panose="02020603050405020304" pitchFamily="18" charset="0"/>
                <a:cs typeface="Times New Roman" panose="02020603050405020304" pitchFamily="18" charset="0"/>
              </a:rPr>
              <a:t>Maintaining responsive dashboards while processing live data can be challenging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graphicFrame>
        <p:nvGraphicFramePr>
          <p:cNvPr id="9" name="Table 0"/>
          <p:cNvGraphicFramePr>
            <a:graphicFrameLocks noGrp="1"/>
          </p:cNvGraphicFramePr>
          <p:nvPr>
            <p:extLst>
              <p:ext uri="{D42A27DB-BD31-4B8C-83A1-F6EECF244321}">
                <p14:modId xmlns:p14="http://schemas.microsoft.com/office/powerpoint/2010/main" val="3816762977"/>
              </p:ext>
            </p:extLst>
          </p:nvPr>
        </p:nvGraphicFramePr>
        <p:xfrm>
          <a:off x="276225" y="985838"/>
          <a:ext cx="8591550" cy="3914775"/>
        </p:xfrm>
        <a:graphic>
          <a:graphicData uri="http://schemas.openxmlformats.org/drawingml/2006/table">
            <a:tbl>
              <a:tblPr/>
              <a:tblGrid>
                <a:gridCol w="502048">
                  <a:extLst>
                    <a:ext uri="{9D8B030D-6E8A-4147-A177-3AD203B41FA5}">
                      <a16:colId xmlns:a16="http://schemas.microsoft.com/office/drawing/2014/main" val="20000"/>
                    </a:ext>
                  </a:extLst>
                </a:gridCol>
                <a:gridCol w="1955402">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2686050">
                  <a:extLst>
                    <a:ext uri="{9D8B030D-6E8A-4147-A177-3AD203B41FA5}">
                      <a16:colId xmlns:a16="http://schemas.microsoft.com/office/drawing/2014/main" val="20003"/>
                    </a:ext>
                  </a:extLst>
                </a:gridCol>
                <a:gridCol w="2686050">
                  <a:extLst>
                    <a:ext uri="{9D8B030D-6E8A-4147-A177-3AD203B41FA5}">
                      <a16:colId xmlns:a16="http://schemas.microsoft.com/office/drawing/2014/main" val="20004"/>
                    </a:ext>
                  </a:extLst>
                </a:gridCol>
              </a:tblGrid>
              <a:tr h="647700">
                <a:tc>
                  <a:txBody>
                    <a:bodyPr/>
                    <a:lstStyle/>
                    <a:p>
                      <a:pPr>
                        <a:buNone/>
                      </a:pPr>
                      <a:r>
                        <a:rPr lang="en-IN" sz="1000" b="1" dirty="0">
                          <a:latin typeface="Times New Roman" panose="02020603050405020304" pitchFamily="18" charset="0"/>
                          <a:cs typeface="Times New Roman" panose="02020603050405020304" pitchFamily="18" charset="0"/>
                        </a:rPr>
                        <a:t>Sl. No.</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tc>
                  <a:txBody>
                    <a:bodyPr/>
                    <a:lstStyle/>
                    <a:p>
                      <a:pPr>
                        <a:buNone/>
                      </a:pPr>
                      <a:r>
                        <a:rPr lang="en-IN" sz="1000" b="1" dirty="0">
                          <a:latin typeface="Times New Roman" panose="02020603050405020304" pitchFamily="18" charset="0"/>
                          <a:cs typeface="Times New Roman" panose="02020603050405020304" pitchFamily="18" charset="0"/>
                        </a:rPr>
                        <a:t>Sub Domains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tc>
                  <a:txBody>
                    <a:bodyPr/>
                    <a:lstStyle/>
                    <a:p>
                      <a:pPr>
                        <a:buNone/>
                      </a:pPr>
                      <a:r>
                        <a:rPr lang="en-IN" sz="1000" b="1" dirty="0">
                          <a:latin typeface="Times New Roman" panose="02020603050405020304" pitchFamily="18" charset="0"/>
                          <a:cs typeface="Times New Roman" panose="02020603050405020304" pitchFamily="18" charset="0"/>
                        </a:rPr>
                        <a:t>Papers Count</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tc>
                  <a:txBody>
                    <a:bodyPr/>
                    <a:lstStyle/>
                    <a:p>
                      <a:pPr>
                        <a:buNone/>
                      </a:pPr>
                      <a:r>
                        <a:rPr lang="en-IN" sz="1000" b="1" dirty="0">
                          <a:latin typeface="Times New Roman" panose="02020603050405020304" pitchFamily="18" charset="0"/>
                          <a:cs typeface="Times New Roman" panose="02020603050405020304" pitchFamily="18" charset="0"/>
                        </a:rPr>
                        <a:t>Advantages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tc>
                  <a:txBody>
                    <a:bodyPr/>
                    <a:lstStyle/>
                    <a:p>
                      <a:pPr>
                        <a:buNone/>
                      </a:pPr>
                      <a:r>
                        <a:rPr lang="en-IN" sz="1000" b="1" dirty="0">
                          <a:latin typeface="Times New Roman" panose="02020603050405020304" pitchFamily="18" charset="0"/>
                          <a:cs typeface="Times New Roman" panose="02020603050405020304" pitchFamily="18" charset="0"/>
                        </a:rPr>
                        <a:t>Disadvantages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AEE4FF"/>
                    </a:solidFill>
                  </a:tcPr>
                </a:tc>
                <a:extLst>
                  <a:ext uri="{0D108BD9-81ED-4DB2-BD59-A6C34878D82A}">
                    <a16:rowId xmlns:a16="http://schemas.microsoft.com/office/drawing/2014/main" val="10000"/>
                  </a:ext>
                </a:extLst>
              </a:tr>
              <a:tr h="523875">
                <a:tc>
                  <a:txBody>
                    <a:bodyPr/>
                    <a:lstStyle/>
                    <a:p>
                      <a:pPr>
                        <a:buNone/>
                      </a:pPr>
                      <a:r>
                        <a:rPr lang="en-IN" sz="1000" dirty="0">
                          <a:latin typeface="Times New Roman" panose="02020603050405020304" pitchFamily="18" charset="0"/>
                          <a:cs typeface="Times New Roman" panose="02020603050405020304" pitchFamily="18" charset="0"/>
                        </a:rPr>
                        <a:t>1</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b="1">
                          <a:latin typeface="Times New Roman" panose="02020603050405020304" pitchFamily="18" charset="0"/>
                          <a:cs typeface="Times New Roman" panose="02020603050405020304" pitchFamily="18" charset="0"/>
                        </a:rPr>
                        <a:t>Precipitation Nowcasting</a:t>
                      </a:r>
                      <a:endParaRPr lang="en-IN" sz="1000">
                        <a:latin typeface="Times New Roman" panose="02020603050405020304" pitchFamily="18" charset="0"/>
                        <a:cs typeface="Times New Roman" panose="02020603050405020304" pitchFamily="18" charset="0"/>
                      </a:endParaRP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3</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Deep learning models effectively capture spatial and temporal rainfall patterns for short-term prediction.</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Prediction quality decreases for longer lead times and rapidly changing rainfall events.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4350">
                <a:tc>
                  <a:txBody>
                    <a:bodyPr/>
                    <a:lstStyle/>
                    <a:p>
                      <a:pPr>
                        <a:buNone/>
                      </a:pPr>
                      <a:r>
                        <a:rPr lang="en-IN" sz="1000">
                          <a:latin typeface="Times New Roman" panose="02020603050405020304" pitchFamily="18" charset="0"/>
                          <a:cs typeface="Times New Roman" panose="02020603050405020304" pitchFamily="18" charset="0"/>
                        </a:rPr>
                        <a:t>2</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b="1">
                          <a:latin typeface="Times New Roman" panose="02020603050405020304" pitchFamily="18" charset="0"/>
                          <a:cs typeface="Times New Roman" panose="02020603050405020304" pitchFamily="18" charset="0"/>
                        </a:rPr>
                        <a:t>Spatio-Temporal Deep Learning</a:t>
                      </a:r>
                      <a:endParaRPr lang="en-IN" sz="1000">
                        <a:latin typeface="Times New Roman" panose="02020603050405020304" pitchFamily="18" charset="0"/>
                        <a:cs typeface="Times New Roman" panose="02020603050405020304" pitchFamily="18" charset="0"/>
                      </a:endParaRP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4</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ConvLSTM, TrajGRU, and related models can learn complex movement and evolution of rainfall patterns.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Recurrent models may suffer from memory decay, computational complexity, and prediction blurring.</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3875">
                <a:tc>
                  <a:txBody>
                    <a:bodyPr/>
                    <a:lstStyle/>
                    <a:p>
                      <a:pPr>
                        <a:buNone/>
                      </a:pPr>
                      <a:r>
                        <a:rPr lang="en-IN" sz="1000">
                          <a:latin typeface="Times New Roman" panose="02020603050405020304" pitchFamily="18" charset="0"/>
                          <a:cs typeface="Times New Roman" panose="02020603050405020304" pitchFamily="18" charset="0"/>
                        </a:rPr>
                        <a:t>3</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b="1">
                          <a:latin typeface="Times New Roman" panose="02020603050405020304" pitchFamily="18" charset="0"/>
                          <a:cs typeface="Times New Roman" panose="02020603050405020304" pitchFamily="18" charset="0"/>
                        </a:rPr>
                        <a:t>Attention-Based Rainfall Prediction</a:t>
                      </a:r>
                      <a:endParaRPr lang="en-IN" sz="1000">
                        <a:latin typeface="Times New Roman" panose="02020603050405020304" pitchFamily="18" charset="0"/>
                        <a:cs typeface="Times New Roman" panose="02020603050405020304" pitchFamily="18" charset="0"/>
                      </a:endParaRP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2</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Attention mechanisms help the model focus on important spatial and meteorological features.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Attention-based architectures can require higher computational resources and careful tuning.</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875">
                <a:tc>
                  <a:txBody>
                    <a:bodyPr/>
                    <a:lstStyle/>
                    <a:p>
                      <a:pPr>
                        <a:buNone/>
                      </a:pPr>
                      <a:r>
                        <a:rPr lang="en-IN" sz="1000">
                          <a:latin typeface="Times New Roman" panose="02020603050405020304" pitchFamily="18" charset="0"/>
                          <a:cs typeface="Times New Roman" panose="02020603050405020304" pitchFamily="18" charset="0"/>
                        </a:rPr>
                        <a:t>4</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b="1">
                          <a:latin typeface="Times New Roman" panose="02020603050405020304" pitchFamily="18" charset="0"/>
                          <a:cs typeface="Times New Roman" panose="02020603050405020304" pitchFamily="18" charset="0"/>
                        </a:rPr>
                        <a:t>Weather Data Fusion</a:t>
                      </a:r>
                      <a:endParaRPr lang="en-IN" sz="1000">
                        <a:latin typeface="Times New Roman" panose="02020603050405020304" pitchFamily="18" charset="0"/>
                        <a:cs typeface="Times New Roman" panose="02020603050405020304" pitchFamily="18" charset="0"/>
                      </a:endParaRP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3</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Combining weather stations, PWS observations, and other sources provides richer and more localized weather information.</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Different sources may have missing data, different sampling intervals, and measurement inconsistencies.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3875">
                <a:tc>
                  <a:txBody>
                    <a:bodyPr/>
                    <a:lstStyle/>
                    <a:p>
                      <a:pPr>
                        <a:buNone/>
                      </a:pPr>
                      <a:r>
                        <a:rPr lang="en-IN" sz="1000">
                          <a:latin typeface="Times New Roman" panose="02020603050405020304" pitchFamily="18" charset="0"/>
                          <a:cs typeface="Times New Roman" panose="02020603050405020304" pitchFamily="18" charset="0"/>
                        </a:rPr>
                        <a:t>5</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b="1">
                          <a:latin typeface="Times New Roman" panose="02020603050405020304" pitchFamily="18" charset="0"/>
                          <a:cs typeface="Times New Roman" panose="02020603050405020304" pitchFamily="18" charset="0"/>
                        </a:rPr>
                        <a:t>Numerical Weather Prediction (NWP)</a:t>
                      </a:r>
                      <a:endParaRPr lang="en-IN" sz="1000">
                        <a:latin typeface="Times New Roman" panose="02020603050405020304" pitchFamily="18" charset="0"/>
                        <a:cs typeface="Times New Roman" panose="02020603050405020304" pitchFamily="18" charset="0"/>
                      </a:endParaRP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4</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Models such as ECMWF, GFS, and ICON provide reliable large-scale atmospheric forecasts.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Coarse spatial and temporal resolution limits their ability to capture hyperlocal and rapidly developing rainfall.</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3875">
                <a:tc>
                  <a:txBody>
                    <a:bodyPr/>
                    <a:lstStyle/>
                    <a:p>
                      <a:pPr>
                        <a:buNone/>
                      </a:pPr>
                      <a:r>
                        <a:rPr lang="en-IN" sz="1000">
                          <a:latin typeface="Times New Roman" panose="02020603050405020304" pitchFamily="18" charset="0"/>
                          <a:cs typeface="Times New Roman" panose="02020603050405020304" pitchFamily="18" charset="0"/>
                        </a:rPr>
                        <a:t>6</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b="1">
                          <a:latin typeface="Times New Roman" panose="02020603050405020304" pitchFamily="18" charset="0"/>
                          <a:cs typeface="Times New Roman" panose="02020603050405020304" pitchFamily="18" charset="0"/>
                        </a:rPr>
                        <a:t>Machine Learning Weather Forecasting</a:t>
                      </a:r>
                      <a:endParaRPr lang="en-IN" sz="1000">
                        <a:latin typeface="Times New Roman" panose="02020603050405020304" pitchFamily="18" charset="0"/>
                        <a:cs typeface="Times New Roman" panose="02020603050405020304" pitchFamily="18" charset="0"/>
                      </a:endParaRP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2</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a:latin typeface="Times New Roman" panose="02020603050405020304" pitchFamily="18" charset="0"/>
                          <a:cs typeface="Times New Roman" panose="02020603050405020304" pitchFamily="18" charset="0"/>
                        </a:rPr>
                        <a:t>RF and XGBoost provide fast inference and useful baselines using meteorological features.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000" dirty="0">
                          <a:latin typeface="Times New Roman" panose="02020603050405020304" pitchFamily="18" charset="0"/>
                          <a:cs typeface="Times New Roman" panose="02020603050405020304" pitchFamily="18" charset="0"/>
                        </a:rPr>
                        <a:t>Tabular models have limited ability to learn complex spatial rainfall structures and continuous rain-cell movement.</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 name="Text 0"/>
          <p:cNvSpPr/>
          <p:nvPr/>
        </p:nvSpPr>
        <p:spPr>
          <a:xfrm>
            <a:off x="3543300" y="266700"/>
            <a:ext cx="2405063" cy="3429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Literature Survey</a:t>
            </a:r>
            <a:endParaRPr lang="en-US" sz="213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43300" y="266700"/>
            <a:ext cx="2405063" cy="342900"/>
          </a:xfrm>
          <a:prstGeom prst="rect">
            <a:avLst/>
          </a:prstGeom>
          <a:noFill/>
          <a:ln/>
        </p:spPr>
        <p:txBody>
          <a:bodyPr wrap="square" lIns="0" tIns="0" rIns="0" bIns="0" rtlCol="0" anchor="ctr"/>
          <a:lstStyle/>
          <a:p>
            <a:pPr marL="0" indent="0" algn="ctr">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Implementation</a:t>
            </a:r>
            <a:endParaRPr lang="en-US" sz="2138" dirty="0"/>
          </a:p>
        </p:txBody>
      </p:sp>
      <p:pic>
        <p:nvPicPr>
          <p:cNvPr id="5" name="Picture 4">
            <a:extLst>
              <a:ext uri="{FF2B5EF4-FFF2-40B4-BE49-F238E27FC236}">
                <a16:creationId xmlns:a16="http://schemas.microsoft.com/office/drawing/2014/main" id="{2D71242C-08EF-CEB7-7D48-189B82C0C4AC}"/>
              </a:ext>
            </a:extLst>
          </p:cNvPr>
          <p:cNvPicPr>
            <a:picLocks noChangeAspect="1"/>
          </p:cNvPicPr>
          <p:nvPr/>
        </p:nvPicPr>
        <p:blipFill>
          <a:blip r:embed="rId3"/>
          <a:stretch>
            <a:fillRect/>
          </a:stretch>
        </p:blipFill>
        <p:spPr>
          <a:xfrm>
            <a:off x="963930" y="723900"/>
            <a:ext cx="7216140" cy="39557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43300" y="266700"/>
            <a:ext cx="2405063" cy="342900"/>
          </a:xfrm>
          <a:prstGeom prst="rect">
            <a:avLst/>
          </a:prstGeom>
          <a:noFill/>
          <a:ln/>
        </p:spPr>
        <p:txBody>
          <a:bodyPr wrap="square" lIns="0" tIns="0" rIns="0" bIns="0" rtlCol="0" anchor="ctr"/>
          <a:lstStyle/>
          <a:p>
            <a:pPr marL="0" indent="0" algn="ctr">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Implementation</a:t>
            </a:r>
            <a:endParaRPr lang="en-US" sz="2138" dirty="0"/>
          </a:p>
        </p:txBody>
      </p:sp>
      <p:pic>
        <p:nvPicPr>
          <p:cNvPr id="5" name="Picture 4">
            <a:extLst>
              <a:ext uri="{FF2B5EF4-FFF2-40B4-BE49-F238E27FC236}">
                <a16:creationId xmlns:a16="http://schemas.microsoft.com/office/drawing/2014/main" id="{4C9E14B4-B382-991F-5ACF-2CC386F7ED68}"/>
              </a:ext>
            </a:extLst>
          </p:cNvPr>
          <p:cNvPicPr>
            <a:picLocks noChangeAspect="1"/>
          </p:cNvPicPr>
          <p:nvPr/>
        </p:nvPicPr>
        <p:blipFill>
          <a:blip r:embed="rId3"/>
          <a:stretch>
            <a:fillRect/>
          </a:stretch>
        </p:blipFill>
        <p:spPr>
          <a:xfrm>
            <a:off x="592455" y="758191"/>
            <a:ext cx="7959090" cy="40119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43300" y="266700"/>
            <a:ext cx="2405063" cy="342900"/>
          </a:xfrm>
          <a:prstGeom prst="rect">
            <a:avLst/>
          </a:prstGeom>
          <a:noFill/>
          <a:ln/>
        </p:spPr>
        <p:txBody>
          <a:bodyPr wrap="square" lIns="0" tIns="0" rIns="0" bIns="0" rtlCol="0" anchor="ctr"/>
          <a:lstStyle/>
          <a:p>
            <a:pPr marL="0" indent="0" algn="ctr">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Implementation</a:t>
            </a:r>
            <a:endParaRPr lang="en-US" sz="2138" dirty="0"/>
          </a:p>
        </p:txBody>
      </p:sp>
      <p:pic>
        <p:nvPicPr>
          <p:cNvPr id="5" name="Picture 4">
            <a:extLst>
              <a:ext uri="{FF2B5EF4-FFF2-40B4-BE49-F238E27FC236}">
                <a16:creationId xmlns:a16="http://schemas.microsoft.com/office/drawing/2014/main" id="{FB4D5E92-BFB1-4783-FEA6-0874BA095E47}"/>
              </a:ext>
            </a:extLst>
          </p:cNvPr>
          <p:cNvPicPr>
            <a:picLocks noChangeAspect="1"/>
          </p:cNvPicPr>
          <p:nvPr/>
        </p:nvPicPr>
        <p:blipFill>
          <a:blip r:embed="rId3"/>
          <a:stretch>
            <a:fillRect/>
          </a:stretch>
        </p:blipFill>
        <p:spPr>
          <a:xfrm>
            <a:off x="744242" y="944880"/>
            <a:ext cx="7655516" cy="35471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09575" y="2290763"/>
            <a:ext cx="1381125" cy="561975"/>
          </a:xfrm>
          <a:prstGeom prst="roundRect">
            <a:avLst>
              <a:gd name="adj" fmla="val 26034"/>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2433638"/>
            <a:ext cx="2286000" cy="276225"/>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Modules</a:t>
            </a:r>
            <a:endParaRPr lang="en-US" sz="1710" dirty="0"/>
          </a:p>
        </p:txBody>
      </p:sp>
      <p:sp>
        <p:nvSpPr>
          <p:cNvPr id="4" name="Shape 2"/>
          <p:cNvSpPr/>
          <p:nvPr/>
        </p:nvSpPr>
        <p:spPr>
          <a:xfrm>
            <a:off x="2405063" y="1495425"/>
            <a:ext cx="3371850" cy="1085850"/>
          </a:xfrm>
          <a:prstGeom prst="rect">
            <a:avLst/>
          </a:prstGeom>
          <a:noFill/>
          <a:ln/>
        </p:spPr>
        <p:txBody>
          <a:bodyPr/>
          <a:lstStyle/>
          <a:p>
            <a:endParaRPr lang="en-IN"/>
          </a:p>
        </p:txBody>
      </p:sp>
      <p:sp>
        <p:nvSpPr>
          <p:cNvPr id="5" name="Text 3"/>
          <p:cNvSpPr/>
          <p:nvPr/>
        </p:nvSpPr>
        <p:spPr>
          <a:xfrm>
            <a:off x="2352675" y="469106"/>
            <a:ext cx="3371850" cy="228600"/>
          </a:xfrm>
          <a:prstGeom prst="rect">
            <a:avLst/>
          </a:prstGeom>
          <a:noFill/>
          <a:ln/>
        </p:spPr>
        <p:txBody>
          <a:bodyPr wrap="square" lIns="0" tIns="0" rIns="0" bIns="0" rtlCol="0" anchor="ctr"/>
          <a:lstStyle/>
          <a:p>
            <a:r>
              <a:rPr lang="en-IN" sz="1400" b="1" dirty="0"/>
              <a:t>Data Acquisition &amp; Ingestion Module</a:t>
            </a:r>
            <a:endParaRPr lang="en-US" sz="1283" b="1" dirty="0"/>
          </a:p>
        </p:txBody>
      </p:sp>
      <p:sp>
        <p:nvSpPr>
          <p:cNvPr id="6" name="Text 4"/>
          <p:cNvSpPr/>
          <p:nvPr/>
        </p:nvSpPr>
        <p:spPr>
          <a:xfrm>
            <a:off x="2238376" y="895350"/>
            <a:ext cx="3048000" cy="781050"/>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Collects real-time weather data from IMD AWS, PWS, and Open-</a:t>
            </a:r>
            <a:r>
              <a:rPr lang="en-IN" sz="1100" dirty="0" err="1">
                <a:latin typeface="Times New Roman" panose="02020603050405020304" pitchFamily="18" charset="0"/>
                <a:cs typeface="Times New Roman" panose="02020603050405020304" pitchFamily="18" charset="0"/>
              </a:rPr>
              <a:t>Meteo</a:t>
            </a:r>
            <a:r>
              <a:rPr lang="en-IN" sz="1100" dirty="0">
                <a:latin typeface="Times New Roman" panose="02020603050405020304" pitchFamily="18" charset="0"/>
                <a:cs typeface="Times New Roman" panose="02020603050405020304" pitchFamily="18" charset="0"/>
              </a:rPr>
              <a:t>.</a:t>
            </a:r>
          </a:p>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Performs periodic data ingestion and 24–48 hour historical backfilling.</a:t>
            </a:r>
          </a:p>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Cleans, validates, and stores weather observations.</a:t>
            </a:r>
          </a:p>
        </p:txBody>
      </p:sp>
      <p:sp>
        <p:nvSpPr>
          <p:cNvPr id="7" name="Shape 5"/>
          <p:cNvSpPr/>
          <p:nvPr/>
        </p:nvSpPr>
        <p:spPr>
          <a:xfrm>
            <a:off x="2405063" y="2805113"/>
            <a:ext cx="3033713" cy="1085850"/>
          </a:xfrm>
          <a:prstGeom prst="rect">
            <a:avLst/>
          </a:prstGeom>
          <a:noFill/>
          <a:ln/>
        </p:spPr>
        <p:txBody>
          <a:bodyPr/>
          <a:lstStyle/>
          <a:p>
            <a:endParaRPr lang="en-IN"/>
          </a:p>
        </p:txBody>
      </p:sp>
      <p:sp>
        <p:nvSpPr>
          <p:cNvPr id="8" name="Text 6"/>
          <p:cNvSpPr/>
          <p:nvPr/>
        </p:nvSpPr>
        <p:spPr>
          <a:xfrm>
            <a:off x="2405063" y="2581275"/>
            <a:ext cx="3033713" cy="228600"/>
          </a:xfrm>
          <a:prstGeom prst="rect">
            <a:avLst/>
          </a:prstGeom>
          <a:noFill/>
          <a:ln/>
        </p:spPr>
        <p:txBody>
          <a:bodyPr wrap="square" lIns="0" tIns="0" rIns="0" bIns="0" rtlCol="0" anchor="ctr"/>
          <a:lstStyle/>
          <a:p>
            <a:r>
              <a:rPr lang="en-IN" sz="1400" b="1" dirty="0"/>
              <a:t>AI Nowcasting Module</a:t>
            </a:r>
            <a:endParaRPr lang="en-US" sz="1283" b="1" dirty="0"/>
          </a:p>
        </p:txBody>
      </p:sp>
      <p:sp>
        <p:nvSpPr>
          <p:cNvPr id="9" name="Text 7"/>
          <p:cNvSpPr/>
          <p:nvPr/>
        </p:nvSpPr>
        <p:spPr>
          <a:xfrm>
            <a:off x="2405063" y="3109913"/>
            <a:ext cx="3033713" cy="781050"/>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Processes </a:t>
            </a:r>
            <a:r>
              <a:rPr lang="en-IN" sz="1100" dirty="0" err="1">
                <a:latin typeface="Times New Roman" panose="02020603050405020304" pitchFamily="18" charset="0"/>
                <a:cs typeface="Times New Roman" panose="02020603050405020304" pitchFamily="18" charset="0"/>
              </a:rPr>
              <a:t>spatio</a:t>
            </a:r>
            <a:r>
              <a:rPr lang="en-IN" sz="1100" dirty="0">
                <a:latin typeface="Times New Roman" panose="02020603050405020304" pitchFamily="18" charset="0"/>
                <a:cs typeface="Times New Roman" panose="02020603050405020304" pitchFamily="18" charset="0"/>
              </a:rPr>
              <a:t>-temporal weather data using </a:t>
            </a:r>
            <a:r>
              <a:rPr lang="en-IN" sz="1100" dirty="0" err="1">
                <a:latin typeface="Times New Roman" panose="02020603050405020304" pitchFamily="18" charset="0"/>
                <a:cs typeface="Times New Roman" panose="02020603050405020304" pitchFamily="18" charset="0"/>
              </a:rPr>
              <a:t>LSTMAtU</a:t>
            </a:r>
            <a:r>
              <a:rPr lang="en-IN" sz="1100" dirty="0">
                <a:latin typeface="Times New Roman" panose="02020603050405020304" pitchFamily="18" charset="0"/>
                <a:cs typeface="Times New Roman" panose="02020603050405020304" pitchFamily="18" charset="0"/>
              </a:rPr>
              <a:t>-Net.</a:t>
            </a:r>
          </a:p>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Uses the proposed </a:t>
            </a:r>
            <a:r>
              <a:rPr lang="en-IN" sz="1100" dirty="0" err="1">
                <a:latin typeface="Times New Roman" panose="02020603050405020304" pitchFamily="18" charset="0"/>
                <a:cs typeface="Times New Roman" panose="02020603050405020304" pitchFamily="18" charset="0"/>
              </a:rPr>
              <a:t>TransAtU</a:t>
            </a:r>
            <a:r>
              <a:rPr lang="en-IN" sz="1100" dirty="0">
                <a:latin typeface="Times New Roman" panose="02020603050405020304" pitchFamily="18" charset="0"/>
                <a:cs typeface="Times New Roman" panose="02020603050405020304" pitchFamily="18" charset="0"/>
              </a:rPr>
              <a:t>-Net with </a:t>
            </a:r>
            <a:r>
              <a:rPr lang="en-IN" sz="1100" dirty="0" err="1">
                <a:latin typeface="Times New Roman" panose="02020603050405020304" pitchFamily="18" charset="0"/>
                <a:cs typeface="Times New Roman" panose="02020603050405020304" pitchFamily="18" charset="0"/>
              </a:rPr>
              <a:t>spatio</a:t>
            </a:r>
            <a:r>
              <a:rPr lang="en-IN" sz="1100" dirty="0">
                <a:latin typeface="Times New Roman" panose="02020603050405020304" pitchFamily="18" charset="0"/>
                <a:cs typeface="Times New Roman" panose="02020603050405020304" pitchFamily="18" charset="0"/>
              </a:rPr>
              <a:t>-temporal attention.</a:t>
            </a:r>
          </a:p>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Generates short-term rainfall predictions for multiple forecast horizons.</a:t>
            </a:r>
          </a:p>
        </p:txBody>
      </p:sp>
      <p:sp>
        <p:nvSpPr>
          <p:cNvPr id="10" name="Shape 8"/>
          <p:cNvSpPr/>
          <p:nvPr/>
        </p:nvSpPr>
        <p:spPr>
          <a:xfrm>
            <a:off x="5943600" y="1447800"/>
            <a:ext cx="2676525" cy="1085850"/>
          </a:xfrm>
          <a:prstGeom prst="rect">
            <a:avLst/>
          </a:prstGeom>
          <a:noFill/>
          <a:ln/>
        </p:spPr>
        <p:txBody>
          <a:bodyPr/>
          <a:lstStyle/>
          <a:p>
            <a:endParaRPr lang="en-IN"/>
          </a:p>
        </p:txBody>
      </p:sp>
      <p:sp>
        <p:nvSpPr>
          <p:cNvPr id="11" name="Text 9"/>
          <p:cNvSpPr/>
          <p:nvPr/>
        </p:nvSpPr>
        <p:spPr>
          <a:xfrm>
            <a:off x="5943599" y="469106"/>
            <a:ext cx="2676525" cy="228600"/>
          </a:xfrm>
          <a:prstGeom prst="rect">
            <a:avLst/>
          </a:prstGeom>
          <a:noFill/>
          <a:ln/>
        </p:spPr>
        <p:txBody>
          <a:bodyPr wrap="square" lIns="0" tIns="0" rIns="0" bIns="0" rtlCol="0" anchor="ctr"/>
          <a:lstStyle/>
          <a:p>
            <a:r>
              <a:rPr lang="en-IN" sz="1400" b="1" dirty="0"/>
              <a:t>Feature Engineering Module</a:t>
            </a:r>
            <a:endParaRPr lang="en-US" sz="1283" b="1" dirty="0"/>
          </a:p>
        </p:txBody>
      </p:sp>
      <p:sp>
        <p:nvSpPr>
          <p:cNvPr id="12" name="Text 10"/>
          <p:cNvSpPr/>
          <p:nvPr/>
        </p:nvSpPr>
        <p:spPr>
          <a:xfrm>
            <a:off x="5776913" y="881062"/>
            <a:ext cx="2676525" cy="781050"/>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Derives pressure trends, humidity gradients, dew point spread, and spatial features.</a:t>
            </a:r>
          </a:p>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Aligns observations from different stations and time intervals.</a:t>
            </a:r>
          </a:p>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Prepares predictive features for the AI nowcasting models.</a:t>
            </a:r>
          </a:p>
        </p:txBody>
      </p:sp>
      <p:sp>
        <p:nvSpPr>
          <p:cNvPr id="13" name="Shape 11"/>
          <p:cNvSpPr/>
          <p:nvPr/>
        </p:nvSpPr>
        <p:spPr>
          <a:xfrm>
            <a:off x="5943600" y="2805113"/>
            <a:ext cx="2819400" cy="1281113"/>
          </a:xfrm>
          <a:prstGeom prst="rect">
            <a:avLst/>
          </a:prstGeom>
          <a:noFill/>
          <a:ln/>
        </p:spPr>
        <p:txBody>
          <a:bodyPr/>
          <a:lstStyle/>
          <a:p>
            <a:endParaRPr lang="en-IN"/>
          </a:p>
        </p:txBody>
      </p:sp>
      <p:sp>
        <p:nvSpPr>
          <p:cNvPr id="14" name="Text 12"/>
          <p:cNvSpPr/>
          <p:nvPr/>
        </p:nvSpPr>
        <p:spPr>
          <a:xfrm>
            <a:off x="5943600" y="2571750"/>
            <a:ext cx="2819400" cy="228600"/>
          </a:xfrm>
          <a:prstGeom prst="rect">
            <a:avLst/>
          </a:prstGeom>
          <a:noFill/>
          <a:ln/>
        </p:spPr>
        <p:txBody>
          <a:bodyPr wrap="square" lIns="0" tIns="0" rIns="0" bIns="0" rtlCol="0" anchor="ctr"/>
          <a:lstStyle/>
          <a:p>
            <a:r>
              <a:rPr lang="en-IN" sz="1400" b="1" dirty="0"/>
              <a:t>NWP &amp; Forecast Fusion Module</a:t>
            </a:r>
            <a:endParaRPr lang="en-US" sz="1283" b="1" dirty="0"/>
          </a:p>
        </p:txBody>
      </p:sp>
      <p:sp>
        <p:nvSpPr>
          <p:cNvPr id="15" name="Text 13"/>
          <p:cNvSpPr/>
          <p:nvPr/>
        </p:nvSpPr>
        <p:spPr>
          <a:xfrm>
            <a:off x="5943599" y="3012282"/>
            <a:ext cx="2819400" cy="976312"/>
          </a:xfrm>
          <a:prstGeom prst="rect">
            <a:avLst/>
          </a:prstGeom>
          <a:noFill/>
          <a:ln/>
        </p:spPr>
        <p:txBody>
          <a:bodyPr wrap="square" lIns="0" tIns="0" rIns="0" bIns="0" rtlCol="0" anchor="ctr"/>
          <a:lstStyle/>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Integrates forecasts from ECMWF, GFS, ICON, and AI models.</a:t>
            </a:r>
          </a:p>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Combines model outputs using weighted multi-model rainfall blending.</a:t>
            </a:r>
          </a:p>
          <a:p>
            <a:pPr marL="171450" lvl="0" indent="-171450">
              <a:buFont typeface="Arial" panose="020B0604020202020204" pitchFamily="34" charset="0"/>
              <a:buChar char="•"/>
            </a:pPr>
            <a:r>
              <a:rPr lang="en-IN" sz="1100" dirty="0">
                <a:latin typeface="Times New Roman" panose="02020603050405020304" pitchFamily="18" charset="0"/>
                <a:cs typeface="Times New Roman" panose="02020603050405020304" pitchFamily="18" charset="0"/>
              </a:rPr>
              <a:t>Generates localized rainfall guidance across Tamil Nadu and Puducherry.</a:t>
            </a:r>
          </a:p>
        </p:txBody>
      </p:sp>
      <p:sp>
        <p:nvSpPr>
          <p:cNvPr id="16" name="Text 14"/>
          <p:cNvSpPr/>
          <p:nvPr/>
        </p:nvSpPr>
        <p:spPr>
          <a:xfrm>
            <a:off x="4763" y="0"/>
            <a:ext cx="2128838"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52400" y="2152650"/>
            <a:ext cx="2209800"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519113" y="2295525"/>
            <a:ext cx="2286000" cy="552450"/>
          </a:xfrm>
          <a:prstGeom prst="rect">
            <a:avLst/>
          </a:prstGeom>
          <a:noFill/>
          <a:ln/>
        </p:spPr>
        <p:txBody>
          <a:bodyPr wrap="square" lIns="0" tIns="0" rIns="0" bIns="0" rtlCol="0" anchor="ctr"/>
          <a:lstStyle/>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Architectural</a:t>
            </a:r>
            <a:endParaRPr lang="en-US" sz="1710" dirty="0"/>
          </a:p>
          <a:p>
            <a:pPr marL="0" indent="0" algn="l">
              <a:lnSpc>
                <a:spcPts val="2052"/>
              </a:lnSpc>
              <a:buNone/>
            </a:pPr>
            <a:r>
              <a:rPr lang="en-US" sz="1710" b="1" kern="0" spc="-34" dirty="0">
                <a:solidFill>
                  <a:srgbClr val="00457E">
                    <a:alpha val="99000"/>
                  </a:srgbClr>
                </a:solidFill>
                <a:latin typeface="Inter" pitchFamily="34" charset="0"/>
                <a:ea typeface="Inter" pitchFamily="34" charset="-122"/>
                <a:cs typeface="Inter" pitchFamily="34" charset="-120"/>
              </a:rPr>
              <a:t>diagram</a:t>
            </a:r>
            <a:endParaRPr lang="en-US" sz="1710" dirty="0"/>
          </a:p>
        </p:txBody>
      </p:sp>
      <p:sp>
        <p:nvSpPr>
          <p:cNvPr id="4" name="Text 2"/>
          <p:cNvSpPr/>
          <p:nvPr/>
        </p:nvSpPr>
        <p:spPr>
          <a:xfrm>
            <a:off x="0" y="0"/>
            <a:ext cx="2495550" cy="5143500"/>
          </a:xfrm>
          <a:prstGeom prst="rect">
            <a:avLst/>
          </a:prstGeom>
          <a:solidFill>
            <a:srgbClr val="009AE7">
              <a:alpha val="30000"/>
            </a:srgbClr>
          </a:solidFill>
          <a:ln/>
        </p:spPr>
        <p:txBody>
          <a:bodyPr wrap="square" rtlCol="0" anchor="ctr"/>
          <a:lstStyle/>
          <a:p>
            <a:pPr marL="0" indent="0">
              <a:buNone/>
            </a:pPr>
            <a:endParaRPr lang="en-US" dirty="0"/>
          </a:p>
        </p:txBody>
      </p:sp>
      <p:pic>
        <p:nvPicPr>
          <p:cNvPr id="7" name="Picture 6">
            <a:extLst>
              <a:ext uri="{FF2B5EF4-FFF2-40B4-BE49-F238E27FC236}">
                <a16:creationId xmlns:a16="http://schemas.microsoft.com/office/drawing/2014/main" id="{BFDDFB25-2FB8-7234-CF45-53A29096ACCE}"/>
              </a:ext>
            </a:extLst>
          </p:cNvPr>
          <p:cNvPicPr>
            <a:picLocks noChangeAspect="1"/>
          </p:cNvPicPr>
          <p:nvPr/>
        </p:nvPicPr>
        <p:blipFill>
          <a:blip r:embed="rId3"/>
          <a:srcRect t="6262" b="7570"/>
          <a:stretch>
            <a:fillRect/>
          </a:stretch>
        </p:blipFill>
        <p:spPr>
          <a:xfrm>
            <a:off x="2728913" y="1205865"/>
            <a:ext cx="6129337" cy="30232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61963" y="442913"/>
            <a:ext cx="2033588" cy="561975"/>
          </a:xfrm>
          <a:prstGeom prst="roundRect">
            <a:avLst>
              <a:gd name="adj" fmla="val 26034"/>
            </a:avLst>
          </a:prstGeom>
          <a:solidFill>
            <a:srgbClr val="FFFFFF"/>
          </a:solidFill>
          <a:ln/>
        </p:spPr>
        <p:txBody>
          <a:bodyPr wrap="square" rtlCol="0" anchor="ctr"/>
          <a:lstStyle/>
          <a:p>
            <a:pPr marL="0" indent="0">
              <a:buNone/>
            </a:pPr>
            <a:endParaRPr lang="en-US" dirty="0"/>
          </a:p>
        </p:txBody>
      </p:sp>
      <p:sp>
        <p:nvSpPr>
          <p:cNvPr id="3" name="Shape 1"/>
          <p:cNvSpPr/>
          <p:nvPr/>
        </p:nvSpPr>
        <p:spPr>
          <a:xfrm>
            <a:off x="2190750" y="2266950"/>
            <a:ext cx="1600200" cy="657225"/>
          </a:xfrm>
          <a:prstGeom prst="rect">
            <a:avLst/>
          </a:prstGeom>
          <a:noFill/>
          <a:ln/>
        </p:spPr>
        <p:txBody>
          <a:bodyPr/>
          <a:lstStyle/>
          <a:p>
            <a:endParaRPr lang="en-IN"/>
          </a:p>
        </p:txBody>
      </p:sp>
      <p:sp>
        <p:nvSpPr>
          <p:cNvPr id="4" name="Text 2"/>
          <p:cNvSpPr/>
          <p:nvPr/>
        </p:nvSpPr>
        <p:spPr>
          <a:xfrm>
            <a:off x="2190750" y="2266950"/>
            <a:ext cx="1600200" cy="333375"/>
          </a:xfrm>
          <a:prstGeom prst="rect">
            <a:avLst/>
          </a:prstGeom>
          <a:noFill/>
          <a:ln/>
        </p:spPr>
        <p:txBody>
          <a:bodyPr wrap="square" lIns="0" tIns="0" rIns="0" bIns="0" rtlCol="0" anchor="ctr"/>
          <a:lstStyle/>
          <a:p>
            <a:r>
              <a:rPr lang="en-IN" sz="1000" b="1" dirty="0">
                <a:solidFill>
                  <a:schemeClr val="accent1"/>
                </a:solidFill>
              </a:rPr>
              <a:t>Real-Time Radar Integration</a:t>
            </a:r>
            <a:endParaRPr lang="en-US" sz="926" b="1" dirty="0">
              <a:solidFill>
                <a:schemeClr val="accent1"/>
              </a:solidFill>
            </a:endParaRPr>
          </a:p>
        </p:txBody>
      </p:sp>
      <p:pic>
        <p:nvPicPr>
          <p:cNvPr id="5" name="Image 0" descr="preencoded.png"/>
          <p:cNvPicPr>
            <a:picLocks noChangeAspect="1"/>
          </p:cNvPicPr>
          <p:nvPr/>
        </p:nvPicPr>
        <p:blipFill>
          <a:blip r:embed="rId3"/>
          <a:srcRect/>
          <a:stretch/>
        </p:blipFill>
        <p:spPr>
          <a:xfrm>
            <a:off x="2190750" y="2657475"/>
            <a:ext cx="9525" cy="276225"/>
          </a:xfrm>
          <a:prstGeom prst="rect">
            <a:avLst/>
          </a:prstGeom>
        </p:spPr>
      </p:pic>
      <p:sp>
        <p:nvSpPr>
          <p:cNvPr id="6" name="Shape 3"/>
          <p:cNvSpPr/>
          <p:nvPr/>
        </p:nvSpPr>
        <p:spPr>
          <a:xfrm>
            <a:off x="5353050" y="2266950"/>
            <a:ext cx="1600200" cy="657225"/>
          </a:xfrm>
          <a:prstGeom prst="rect">
            <a:avLst/>
          </a:prstGeom>
          <a:noFill/>
          <a:ln/>
        </p:spPr>
        <p:txBody>
          <a:bodyPr/>
          <a:lstStyle/>
          <a:p>
            <a:endParaRPr lang="en-IN"/>
          </a:p>
        </p:txBody>
      </p:sp>
      <p:sp>
        <p:nvSpPr>
          <p:cNvPr id="7" name="Text 4"/>
          <p:cNvSpPr/>
          <p:nvPr/>
        </p:nvSpPr>
        <p:spPr>
          <a:xfrm>
            <a:off x="5353050" y="2266950"/>
            <a:ext cx="1600200" cy="333375"/>
          </a:xfrm>
          <a:prstGeom prst="rect">
            <a:avLst/>
          </a:prstGeom>
          <a:noFill/>
          <a:ln/>
        </p:spPr>
        <p:txBody>
          <a:bodyPr wrap="square" lIns="0" tIns="0" rIns="0" bIns="0" rtlCol="0" anchor="ctr"/>
          <a:lstStyle/>
          <a:p>
            <a:r>
              <a:rPr lang="en-IN" sz="1000" b="1" dirty="0">
                <a:solidFill>
                  <a:schemeClr val="accent1"/>
                </a:solidFill>
              </a:rPr>
              <a:t>Advanced Transformer Models</a:t>
            </a:r>
            <a:endParaRPr lang="en-US" sz="926" b="1" dirty="0">
              <a:solidFill>
                <a:schemeClr val="accent1"/>
              </a:solidFill>
            </a:endParaRPr>
          </a:p>
        </p:txBody>
      </p:sp>
      <p:pic>
        <p:nvPicPr>
          <p:cNvPr id="8" name="Image 1" descr="preencoded.png"/>
          <p:cNvPicPr>
            <a:picLocks noChangeAspect="1"/>
          </p:cNvPicPr>
          <p:nvPr/>
        </p:nvPicPr>
        <p:blipFill>
          <a:blip r:embed="rId3"/>
          <a:srcRect/>
          <a:stretch/>
        </p:blipFill>
        <p:spPr>
          <a:xfrm>
            <a:off x="5353050" y="2657475"/>
            <a:ext cx="9525" cy="276225"/>
          </a:xfrm>
          <a:prstGeom prst="rect">
            <a:avLst/>
          </a:prstGeom>
        </p:spPr>
      </p:pic>
      <p:sp>
        <p:nvSpPr>
          <p:cNvPr id="9" name="Shape 5"/>
          <p:cNvSpPr/>
          <p:nvPr/>
        </p:nvSpPr>
        <p:spPr>
          <a:xfrm>
            <a:off x="3771900" y="2924175"/>
            <a:ext cx="1600200" cy="657225"/>
          </a:xfrm>
          <a:prstGeom prst="rect">
            <a:avLst/>
          </a:prstGeom>
          <a:noFill/>
          <a:ln/>
        </p:spPr>
        <p:txBody>
          <a:bodyPr/>
          <a:lstStyle/>
          <a:p>
            <a:endParaRPr lang="en-IN"/>
          </a:p>
        </p:txBody>
      </p:sp>
      <p:pic>
        <p:nvPicPr>
          <p:cNvPr id="10" name="Image 2" descr="preencoded.png"/>
          <p:cNvPicPr>
            <a:picLocks noChangeAspect="1"/>
          </p:cNvPicPr>
          <p:nvPr/>
        </p:nvPicPr>
        <p:blipFill>
          <a:blip r:embed="rId3"/>
          <a:srcRect/>
          <a:stretch/>
        </p:blipFill>
        <p:spPr>
          <a:xfrm>
            <a:off x="3771900" y="2924175"/>
            <a:ext cx="9525" cy="276225"/>
          </a:xfrm>
          <a:prstGeom prst="rect">
            <a:avLst/>
          </a:prstGeom>
        </p:spPr>
      </p:pic>
      <p:sp>
        <p:nvSpPr>
          <p:cNvPr id="11" name="Text 6"/>
          <p:cNvSpPr/>
          <p:nvPr/>
        </p:nvSpPr>
        <p:spPr>
          <a:xfrm>
            <a:off x="3771900" y="3248025"/>
            <a:ext cx="1600200" cy="333375"/>
          </a:xfrm>
          <a:prstGeom prst="rect">
            <a:avLst/>
          </a:prstGeom>
          <a:noFill/>
          <a:ln/>
        </p:spPr>
        <p:txBody>
          <a:bodyPr wrap="square" lIns="0" tIns="0" rIns="0" bIns="0" rtlCol="0" anchor="ctr"/>
          <a:lstStyle/>
          <a:p>
            <a:r>
              <a:rPr lang="en-IN" sz="1000" b="1" dirty="0">
                <a:solidFill>
                  <a:schemeClr val="accent1"/>
                </a:solidFill>
              </a:rPr>
              <a:t>Expanded Sensor Network</a:t>
            </a:r>
            <a:endParaRPr lang="en-US" sz="926" b="1" dirty="0">
              <a:solidFill>
                <a:schemeClr val="accent1"/>
              </a:solidFill>
            </a:endParaRPr>
          </a:p>
        </p:txBody>
      </p:sp>
      <p:sp>
        <p:nvSpPr>
          <p:cNvPr id="12" name="Shape 7"/>
          <p:cNvSpPr/>
          <p:nvPr/>
        </p:nvSpPr>
        <p:spPr>
          <a:xfrm>
            <a:off x="6934200" y="2924175"/>
            <a:ext cx="1600200" cy="490538"/>
          </a:xfrm>
          <a:prstGeom prst="rect">
            <a:avLst/>
          </a:prstGeom>
          <a:noFill/>
          <a:ln/>
        </p:spPr>
        <p:txBody>
          <a:bodyPr/>
          <a:lstStyle/>
          <a:p>
            <a:endParaRPr lang="en-IN"/>
          </a:p>
        </p:txBody>
      </p:sp>
      <p:pic>
        <p:nvPicPr>
          <p:cNvPr id="13" name="Image 3" descr="preencoded.png"/>
          <p:cNvPicPr>
            <a:picLocks noChangeAspect="1"/>
          </p:cNvPicPr>
          <p:nvPr/>
        </p:nvPicPr>
        <p:blipFill>
          <a:blip r:embed="rId3"/>
          <a:srcRect/>
          <a:stretch/>
        </p:blipFill>
        <p:spPr>
          <a:xfrm>
            <a:off x="6934200" y="2924175"/>
            <a:ext cx="9525" cy="276225"/>
          </a:xfrm>
          <a:prstGeom prst="rect">
            <a:avLst/>
          </a:prstGeom>
        </p:spPr>
      </p:pic>
      <p:sp>
        <p:nvSpPr>
          <p:cNvPr id="14" name="Text 8"/>
          <p:cNvSpPr/>
          <p:nvPr/>
        </p:nvSpPr>
        <p:spPr>
          <a:xfrm>
            <a:off x="6934200" y="3248025"/>
            <a:ext cx="1600200" cy="166688"/>
          </a:xfrm>
          <a:prstGeom prst="rect">
            <a:avLst/>
          </a:prstGeom>
          <a:noFill/>
          <a:ln/>
        </p:spPr>
        <p:txBody>
          <a:bodyPr wrap="square" lIns="0" tIns="0" rIns="0" bIns="0" rtlCol="0" anchor="ctr"/>
          <a:lstStyle/>
          <a:p>
            <a:r>
              <a:rPr lang="en-IN" sz="1000" b="1" dirty="0">
                <a:solidFill>
                  <a:schemeClr val="accent1"/>
                </a:solidFill>
              </a:rPr>
              <a:t>Adaptive Multi-Model Forecasting</a:t>
            </a:r>
            <a:endParaRPr lang="en-US" sz="926" b="1" dirty="0">
              <a:solidFill>
                <a:schemeClr val="accent1"/>
              </a:solidFill>
            </a:endParaRPr>
          </a:p>
        </p:txBody>
      </p:sp>
      <p:sp>
        <p:nvSpPr>
          <p:cNvPr id="15" name="Shape 9"/>
          <p:cNvSpPr/>
          <p:nvPr/>
        </p:nvSpPr>
        <p:spPr>
          <a:xfrm>
            <a:off x="609600" y="2924175"/>
            <a:ext cx="1600200" cy="657225"/>
          </a:xfrm>
          <a:prstGeom prst="rect">
            <a:avLst/>
          </a:prstGeom>
          <a:noFill/>
          <a:ln/>
        </p:spPr>
        <p:txBody>
          <a:bodyPr/>
          <a:lstStyle/>
          <a:p>
            <a:endParaRPr lang="en-IN"/>
          </a:p>
        </p:txBody>
      </p:sp>
      <p:pic>
        <p:nvPicPr>
          <p:cNvPr id="16" name="Image 4" descr="preencoded.png"/>
          <p:cNvPicPr>
            <a:picLocks noChangeAspect="1"/>
          </p:cNvPicPr>
          <p:nvPr/>
        </p:nvPicPr>
        <p:blipFill>
          <a:blip r:embed="rId3"/>
          <a:srcRect/>
          <a:stretch/>
        </p:blipFill>
        <p:spPr>
          <a:xfrm>
            <a:off x="609600" y="2924175"/>
            <a:ext cx="9525" cy="276225"/>
          </a:xfrm>
          <a:prstGeom prst="rect">
            <a:avLst/>
          </a:prstGeom>
        </p:spPr>
      </p:pic>
      <p:sp>
        <p:nvSpPr>
          <p:cNvPr id="17" name="Text 10"/>
          <p:cNvSpPr/>
          <p:nvPr/>
        </p:nvSpPr>
        <p:spPr>
          <a:xfrm>
            <a:off x="609600" y="3248025"/>
            <a:ext cx="1600200" cy="333375"/>
          </a:xfrm>
          <a:prstGeom prst="rect">
            <a:avLst/>
          </a:prstGeom>
          <a:noFill/>
          <a:ln/>
        </p:spPr>
        <p:txBody>
          <a:bodyPr wrap="square" lIns="0" tIns="0" rIns="0" bIns="0" rtlCol="0" anchor="ctr"/>
          <a:lstStyle/>
          <a:p>
            <a:r>
              <a:rPr lang="en-IN" sz="1000" b="1" dirty="0">
                <a:solidFill>
                  <a:schemeClr val="accent1"/>
                </a:solidFill>
              </a:rPr>
              <a:t>Automated Alert and Warning System</a:t>
            </a:r>
            <a:endParaRPr lang="en-US" sz="926" b="1" dirty="0">
              <a:solidFill>
                <a:schemeClr val="accent1"/>
              </a:solidFill>
            </a:endParaRPr>
          </a:p>
        </p:txBody>
      </p:sp>
      <p:sp>
        <p:nvSpPr>
          <p:cNvPr id="18" name="Text 11"/>
          <p:cNvSpPr/>
          <p:nvPr/>
        </p:nvSpPr>
        <p:spPr>
          <a:xfrm>
            <a:off x="609600" y="609600"/>
            <a:ext cx="7924800" cy="228600"/>
          </a:xfrm>
          <a:prstGeom prst="rect">
            <a:avLst/>
          </a:prstGeom>
          <a:noFill/>
          <a:ln/>
        </p:spPr>
        <p:txBody>
          <a:bodyPr wrap="square" lIns="0" tIns="0" rIns="0" bIns="0" rtlCol="0" anchor="ctr"/>
          <a:lstStyle/>
          <a:p>
            <a:pPr marL="0" indent="0" algn="l">
              <a:lnSpc>
                <a:spcPts val="1693"/>
              </a:lnSpc>
              <a:buNone/>
            </a:pPr>
            <a:r>
              <a:rPr lang="en-US" sz="1283" b="1" kern="0" spc="-26" dirty="0">
                <a:solidFill>
                  <a:srgbClr val="00457E">
                    <a:alpha val="99000"/>
                  </a:srgbClr>
                </a:solidFill>
                <a:latin typeface="Inter" pitchFamily="34" charset="0"/>
                <a:ea typeface="Inter" pitchFamily="34" charset="-122"/>
                <a:cs typeface="Inter" pitchFamily="34" charset="-120"/>
              </a:rPr>
              <a:t>Future Enhancements</a:t>
            </a:r>
            <a:endParaRPr lang="en-US" sz="1283" dirty="0"/>
          </a:p>
        </p:txBody>
      </p:sp>
      <p:pic>
        <p:nvPicPr>
          <p:cNvPr id="19" name="Image 5" descr="preencoded.png"/>
          <p:cNvPicPr>
            <a:picLocks noChangeAspect="1"/>
          </p:cNvPicPr>
          <p:nvPr/>
        </p:nvPicPr>
        <p:blipFill>
          <a:blip r:embed="rId4"/>
          <a:srcRect/>
          <a:stretch/>
        </p:blipFill>
        <p:spPr>
          <a:xfrm>
            <a:off x="614363" y="2924175"/>
            <a:ext cx="7939087" cy="19050"/>
          </a:xfrm>
          <a:prstGeom prst="rect">
            <a:avLst/>
          </a:prstGeom>
        </p:spPr>
      </p:pic>
      <p:sp>
        <p:nvSpPr>
          <p:cNvPr id="20" name="Text 12"/>
          <p:cNvSpPr/>
          <p:nvPr/>
        </p:nvSpPr>
        <p:spPr>
          <a:xfrm>
            <a:off x="609600" y="3771900"/>
            <a:ext cx="1600200" cy="833438"/>
          </a:xfrm>
          <a:prstGeom prst="rect">
            <a:avLst/>
          </a:prstGeom>
          <a:noFill/>
          <a:ln/>
        </p:spPr>
        <p:txBody>
          <a:bodyPr wrap="square" lIns="0" tIns="0" rIns="0" bIns="0" rtlCol="0" anchor="ctr"/>
          <a:lstStyle/>
          <a:p>
            <a:r>
              <a:rPr lang="en-IN" sz="1000" dirty="0">
                <a:latin typeface="Times New Roman" panose="02020603050405020304" pitchFamily="18" charset="0"/>
                <a:cs typeface="Times New Roman" panose="02020603050405020304" pitchFamily="18" charset="0"/>
              </a:rPr>
              <a:t>The platform could send location-based rainfall alerts through mobile notifications, SMS, or WhatsApp when heavy rainfall is predicted.</a:t>
            </a:r>
            <a:endParaRPr lang="en-US" sz="926" dirty="0">
              <a:latin typeface="Times New Roman" panose="02020603050405020304" pitchFamily="18" charset="0"/>
              <a:cs typeface="Times New Roman" panose="02020603050405020304" pitchFamily="18" charset="0"/>
            </a:endParaRPr>
          </a:p>
        </p:txBody>
      </p:sp>
      <p:sp>
        <p:nvSpPr>
          <p:cNvPr id="21" name="Text 13"/>
          <p:cNvSpPr/>
          <p:nvPr/>
        </p:nvSpPr>
        <p:spPr>
          <a:xfrm>
            <a:off x="2190750" y="1333500"/>
            <a:ext cx="1504950" cy="833438"/>
          </a:xfrm>
          <a:prstGeom prst="rect">
            <a:avLst/>
          </a:prstGeom>
          <a:noFill/>
          <a:ln/>
        </p:spPr>
        <p:txBody>
          <a:bodyPr wrap="square" lIns="0" tIns="0" rIns="0" bIns="0" rtlCol="0" anchor="ctr"/>
          <a:lstStyle/>
          <a:p>
            <a:r>
              <a:rPr lang="en-IN" sz="1000" dirty="0">
                <a:latin typeface="Times New Roman" panose="02020603050405020304" pitchFamily="18" charset="0"/>
                <a:cs typeface="Times New Roman" panose="02020603050405020304" pitchFamily="18" charset="0"/>
              </a:rPr>
              <a:t>The system could integrate live weather radar data to improve the detection and tracking of rapidly developing rainfall cells.</a:t>
            </a:r>
            <a:endParaRPr lang="en-US" sz="926" dirty="0">
              <a:latin typeface="Times New Roman" panose="02020603050405020304" pitchFamily="18" charset="0"/>
              <a:cs typeface="Times New Roman" panose="02020603050405020304" pitchFamily="18" charset="0"/>
            </a:endParaRPr>
          </a:p>
        </p:txBody>
      </p:sp>
      <p:sp>
        <p:nvSpPr>
          <p:cNvPr id="22" name="Text 14"/>
          <p:cNvSpPr/>
          <p:nvPr/>
        </p:nvSpPr>
        <p:spPr>
          <a:xfrm>
            <a:off x="3771900" y="3771900"/>
            <a:ext cx="1504950" cy="666750"/>
          </a:xfrm>
          <a:prstGeom prst="rect">
            <a:avLst/>
          </a:prstGeom>
          <a:noFill/>
          <a:ln/>
        </p:spPr>
        <p:txBody>
          <a:bodyPr wrap="square" lIns="0" tIns="0" rIns="0" bIns="0" rtlCol="0" anchor="ctr"/>
          <a:lstStyle/>
          <a:p>
            <a:r>
              <a:rPr lang="en-IN" sz="1000" dirty="0">
                <a:latin typeface="Times New Roman" panose="02020603050405020304" pitchFamily="18" charset="0"/>
                <a:cs typeface="Times New Roman" panose="02020603050405020304" pitchFamily="18" charset="0"/>
              </a:rPr>
              <a:t>More IMD AWS and community PWS stations could be integrated to increase observation density and improve hyperlocal prediction accuracy.</a:t>
            </a:r>
            <a:endParaRPr lang="en-US" sz="926" dirty="0">
              <a:latin typeface="Times New Roman" panose="02020603050405020304" pitchFamily="18" charset="0"/>
              <a:cs typeface="Times New Roman" panose="02020603050405020304" pitchFamily="18" charset="0"/>
            </a:endParaRPr>
          </a:p>
        </p:txBody>
      </p:sp>
      <p:sp>
        <p:nvSpPr>
          <p:cNvPr id="23" name="Text 15"/>
          <p:cNvSpPr/>
          <p:nvPr/>
        </p:nvSpPr>
        <p:spPr>
          <a:xfrm>
            <a:off x="5353050" y="1290638"/>
            <a:ext cx="1600200" cy="833438"/>
          </a:xfrm>
          <a:prstGeom prst="rect">
            <a:avLst/>
          </a:prstGeom>
          <a:noFill/>
          <a:ln/>
        </p:spPr>
        <p:txBody>
          <a:bodyPr wrap="square" lIns="0" tIns="0" rIns="0" bIns="0" rtlCol="0" anchor="ctr"/>
          <a:lstStyle/>
          <a:p>
            <a:r>
              <a:rPr lang="en-IN" sz="1000" dirty="0">
                <a:latin typeface="Times New Roman" panose="02020603050405020304" pitchFamily="18" charset="0"/>
                <a:cs typeface="Times New Roman" panose="02020603050405020304" pitchFamily="18" charset="0"/>
              </a:rPr>
              <a:t>Future versions could further improve the proposed </a:t>
            </a:r>
            <a:r>
              <a:rPr lang="en-IN" sz="1000" dirty="0" err="1">
                <a:latin typeface="Times New Roman" panose="02020603050405020304" pitchFamily="18" charset="0"/>
                <a:cs typeface="Times New Roman" panose="02020603050405020304" pitchFamily="18" charset="0"/>
              </a:rPr>
              <a:t>TransAtU</a:t>
            </a:r>
            <a:r>
              <a:rPr lang="en-IN" sz="1000" dirty="0">
                <a:latin typeface="Times New Roman" panose="02020603050405020304" pitchFamily="18" charset="0"/>
                <a:cs typeface="Times New Roman" panose="02020603050405020304" pitchFamily="18" charset="0"/>
              </a:rPr>
              <a:t>-Net using larger </a:t>
            </a:r>
            <a:r>
              <a:rPr lang="en-IN" sz="1000" dirty="0" err="1">
                <a:latin typeface="Times New Roman" panose="02020603050405020304" pitchFamily="18" charset="0"/>
                <a:cs typeface="Times New Roman" panose="02020603050405020304" pitchFamily="18" charset="0"/>
              </a:rPr>
              <a:t>spatio</a:t>
            </a:r>
            <a:r>
              <a:rPr lang="en-IN" sz="1000" dirty="0">
                <a:latin typeface="Times New Roman" panose="02020603050405020304" pitchFamily="18" charset="0"/>
                <a:cs typeface="Times New Roman" panose="02020603050405020304" pitchFamily="18" charset="0"/>
              </a:rPr>
              <a:t>-temporal Transformer architectures and advanced attention mechanisms.</a:t>
            </a:r>
            <a:endParaRPr lang="en-US" sz="926" dirty="0">
              <a:latin typeface="Times New Roman" panose="02020603050405020304" pitchFamily="18" charset="0"/>
              <a:cs typeface="Times New Roman" panose="02020603050405020304" pitchFamily="18" charset="0"/>
            </a:endParaRPr>
          </a:p>
        </p:txBody>
      </p:sp>
      <p:sp>
        <p:nvSpPr>
          <p:cNvPr id="24" name="Text 16"/>
          <p:cNvSpPr/>
          <p:nvPr/>
        </p:nvSpPr>
        <p:spPr>
          <a:xfrm>
            <a:off x="6934200" y="3771900"/>
            <a:ext cx="1624013" cy="833438"/>
          </a:xfrm>
          <a:prstGeom prst="rect">
            <a:avLst/>
          </a:prstGeom>
          <a:noFill/>
          <a:ln/>
        </p:spPr>
        <p:txBody>
          <a:bodyPr wrap="square" lIns="0" tIns="0" rIns="0" bIns="0" rtlCol="0" anchor="ctr"/>
          <a:lstStyle/>
          <a:p>
            <a:r>
              <a:rPr lang="en-IN" sz="1000" dirty="0">
                <a:latin typeface="Times New Roman" panose="02020603050405020304" pitchFamily="18" charset="0"/>
                <a:cs typeface="Times New Roman" panose="02020603050405020304" pitchFamily="18" charset="0"/>
              </a:rPr>
              <a:t>The system could dynamically adjust ECMWF, GFS, ICON, and AI model weights based on their recent prediction performance.</a:t>
            </a:r>
            <a:endParaRPr lang="en-US" sz="926"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04800" y="2152650"/>
            <a:ext cx="2209800" cy="838200"/>
          </a:xfrm>
          <a:prstGeom prst="roundRect">
            <a:avLst>
              <a:gd name="adj" fmla="val 17455"/>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2400300"/>
            <a:ext cx="3143250" cy="3429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457E">
                    <a:alpha val="99000"/>
                  </a:srgbClr>
                </a:solidFill>
                <a:latin typeface="Inter" pitchFamily="34" charset="0"/>
                <a:ea typeface="Inter" pitchFamily="34" charset="-122"/>
                <a:cs typeface="Inter" pitchFamily="34" charset="-120"/>
              </a:rPr>
              <a:t>Conclusion</a:t>
            </a:r>
            <a:endParaRPr lang="en-US" sz="2138" dirty="0"/>
          </a:p>
        </p:txBody>
      </p:sp>
      <p:sp>
        <p:nvSpPr>
          <p:cNvPr id="4" name="Text 2"/>
          <p:cNvSpPr/>
          <p:nvPr/>
        </p:nvSpPr>
        <p:spPr>
          <a:xfrm>
            <a:off x="3400425" y="1681162"/>
            <a:ext cx="5281613" cy="2212657"/>
          </a:xfrm>
          <a:prstGeom prst="rect">
            <a:avLst/>
          </a:prstGeom>
          <a:noFill/>
          <a:ln/>
        </p:spPr>
        <p:txBody>
          <a:bodyPr wrap="square" lIns="0" tIns="0" rIns="0" bIns="0" rtlCol="0" anchor="ctr"/>
          <a:lstStyle/>
          <a:p>
            <a:r>
              <a:rPr lang="en-IN" sz="1200" dirty="0">
                <a:latin typeface="Times New Roman" panose="02020603050405020304" pitchFamily="18" charset="0"/>
                <a:cs typeface="Times New Roman" panose="02020603050405020304" pitchFamily="18" charset="0"/>
              </a:rPr>
              <a:t>The </a:t>
            </a:r>
            <a:r>
              <a:rPr lang="en-IN" sz="1200" b="1" dirty="0">
                <a:latin typeface="Times New Roman" panose="02020603050405020304" pitchFamily="18" charset="0"/>
                <a:cs typeface="Times New Roman" panose="02020603050405020304" pitchFamily="18" charset="0"/>
              </a:rPr>
              <a:t>“Multi-Source AI for Hyperlocal Rainfall Nowcasting”</a:t>
            </a:r>
            <a:r>
              <a:rPr lang="en-IN" sz="1200" dirty="0">
                <a:latin typeface="Times New Roman" panose="02020603050405020304" pitchFamily="18" charset="0"/>
                <a:cs typeface="Times New Roman" panose="02020603050405020304" pitchFamily="18" charset="0"/>
              </a:rPr>
              <a:t> is a significant step toward improving short-term and localized rainfall prediction through AI and multi-source weather data fusion. By integrating real-time observations from weather stations and personal weather stations with deep learning models and numerical weather prediction outputs, the system provides a unified platform for monitoring and predicting rainfall at a hyperlocal level.</a:t>
            </a:r>
          </a:p>
          <a:p>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Ultimately, this technology can support early awareness of heavy rainfall, urban flooding, transportation disruptions, and other weather-related risks. The proposed platform provides a strong foundation for accurate, real-time, and scalable rainfall nowcasting across Puducherry and Tamil Nadu.</a:t>
            </a:r>
          </a:p>
        </p:txBody>
      </p:sp>
      <p:sp>
        <p:nvSpPr>
          <p:cNvPr id="5" name="Text 3"/>
          <p:cNvSpPr/>
          <p:nvPr/>
        </p:nvSpPr>
        <p:spPr>
          <a:xfrm>
            <a:off x="0" y="0"/>
            <a:ext cx="3281363"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81012" y="2043113"/>
            <a:ext cx="2562225" cy="1062038"/>
          </a:xfrm>
          <a:prstGeom prst="roundRect">
            <a:avLst>
              <a:gd name="adj" fmla="val 13776"/>
            </a:avLst>
          </a:prstGeom>
          <a:solidFill>
            <a:srgbClr val="FFFFFF"/>
          </a:solidFill>
          <a:ln/>
        </p:spPr>
        <p:txBody>
          <a:bodyPr wrap="square" rtlCol="0" anchor="ctr"/>
          <a:lstStyle/>
          <a:p>
            <a:pPr marL="0" indent="0">
              <a:buNone/>
            </a:pPr>
            <a:endParaRPr lang="en-US" dirty="0"/>
          </a:p>
        </p:txBody>
      </p:sp>
      <p:sp>
        <p:nvSpPr>
          <p:cNvPr id="3" name="Text 1"/>
          <p:cNvSpPr/>
          <p:nvPr/>
        </p:nvSpPr>
        <p:spPr>
          <a:xfrm>
            <a:off x="609600" y="2300288"/>
            <a:ext cx="5715000" cy="547688"/>
          </a:xfrm>
          <a:prstGeom prst="rect">
            <a:avLst/>
          </a:prstGeom>
          <a:noFill/>
          <a:ln/>
        </p:spPr>
        <p:txBody>
          <a:bodyPr wrap="square" lIns="0" tIns="0" rIns="0" bIns="0" rtlCol="0" anchor="ctr"/>
          <a:lstStyle/>
          <a:p>
            <a:pPr marL="0" indent="0" algn="l">
              <a:lnSpc>
                <a:spcPts val="4104"/>
              </a:lnSpc>
              <a:buNone/>
            </a:pPr>
            <a:r>
              <a:rPr lang="en-US" sz="3420" b="1" kern="0" spc="-68" dirty="0">
                <a:solidFill>
                  <a:srgbClr val="00457E">
                    <a:alpha val="99000"/>
                  </a:srgbClr>
                </a:solidFill>
                <a:latin typeface="Inter" pitchFamily="34" charset="0"/>
                <a:ea typeface="Inter" pitchFamily="34" charset="-122"/>
                <a:cs typeface="Inter" pitchFamily="34" charset="-120"/>
              </a:rPr>
              <a:t>Thank You</a:t>
            </a:r>
            <a:endParaRPr lang="en-US" sz="3420" dirty="0"/>
          </a:p>
        </p:txBody>
      </p:sp>
      <p:sp>
        <p:nvSpPr>
          <p:cNvPr id="4" name="Text 2"/>
          <p:cNvSpPr/>
          <p:nvPr/>
        </p:nvSpPr>
        <p:spPr>
          <a:xfrm>
            <a:off x="0" y="4763"/>
            <a:ext cx="3576638" cy="5143500"/>
          </a:xfrm>
          <a:prstGeom prst="rect">
            <a:avLst/>
          </a:prstGeom>
          <a:solidFill>
            <a:srgbClr val="009AE7">
              <a:alpha val="30000"/>
            </a:srgbClr>
          </a:solidFill>
          <a:ln/>
        </p:spPr>
        <p:txBody>
          <a:bodyPr wrap="square" rtlCol="0" anchor="ctr"/>
          <a:lstStyle/>
          <a:p>
            <a:pPr marL="0" indent="0">
              <a:buNone/>
            </a:pP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graphicFrame>
        <p:nvGraphicFramePr>
          <p:cNvPr id="18" name="Table 0"/>
          <p:cNvGraphicFramePr>
            <a:graphicFrameLocks noGrp="1"/>
          </p:cNvGraphicFramePr>
          <p:nvPr>
            <p:extLst>
              <p:ext uri="{D42A27DB-BD31-4B8C-83A1-F6EECF244321}">
                <p14:modId xmlns:p14="http://schemas.microsoft.com/office/powerpoint/2010/main" val="1841213585"/>
              </p:ext>
            </p:extLst>
          </p:nvPr>
        </p:nvGraphicFramePr>
        <p:xfrm>
          <a:off x="2319338" y="790575"/>
          <a:ext cx="6321426" cy="3985260"/>
        </p:xfrm>
        <a:graphic>
          <a:graphicData uri="http://schemas.openxmlformats.org/drawingml/2006/table">
            <a:tbl>
              <a:tblPr/>
              <a:tblGrid>
                <a:gridCol w="2478087">
                  <a:extLst>
                    <a:ext uri="{9D8B030D-6E8A-4147-A177-3AD203B41FA5}">
                      <a16:colId xmlns:a16="http://schemas.microsoft.com/office/drawing/2014/main" val="20000"/>
                    </a:ext>
                  </a:extLst>
                </a:gridCol>
                <a:gridCol w="1365252">
                  <a:extLst>
                    <a:ext uri="{9D8B030D-6E8A-4147-A177-3AD203B41FA5}">
                      <a16:colId xmlns:a16="http://schemas.microsoft.com/office/drawing/2014/main" val="20001"/>
                    </a:ext>
                  </a:extLst>
                </a:gridCol>
                <a:gridCol w="2478087">
                  <a:extLst>
                    <a:ext uri="{9D8B030D-6E8A-4147-A177-3AD203B41FA5}">
                      <a16:colId xmlns:a16="http://schemas.microsoft.com/office/drawing/2014/main" val="20002"/>
                    </a:ext>
                  </a:extLst>
                </a:gridCol>
              </a:tblGrid>
              <a:tr h="419100">
                <a:tc>
                  <a:txBody>
                    <a:bodyPr/>
                    <a:lstStyle/>
                    <a:p>
                      <a:pPr>
                        <a:buNone/>
                      </a:pPr>
                      <a:r>
                        <a:rPr lang="en-IN" sz="1100" b="1" dirty="0">
                          <a:latin typeface="Times New Roman" panose="02020603050405020304" pitchFamily="18" charset="0"/>
                          <a:cs typeface="Times New Roman" panose="02020603050405020304" pitchFamily="18" charset="0"/>
                        </a:rPr>
                        <a:t>Sub Domains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1" dirty="0">
                          <a:latin typeface="Times New Roman" panose="02020603050405020304" pitchFamily="18" charset="0"/>
                          <a:cs typeface="Times New Roman" panose="02020603050405020304" pitchFamily="18" charset="0"/>
                        </a:rPr>
                        <a:t>Papers Count</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1" dirty="0">
                          <a:latin typeface="Times New Roman" panose="02020603050405020304" pitchFamily="18" charset="0"/>
                          <a:cs typeface="Times New Roman" panose="02020603050405020304" pitchFamily="18" charset="0"/>
                        </a:rPr>
                        <a:t>Key Takeaway</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4825">
                <a:tc>
                  <a:txBody>
                    <a:bodyPr/>
                    <a:lstStyle/>
                    <a:p>
                      <a:pPr>
                        <a:buNone/>
                      </a:pPr>
                      <a:r>
                        <a:rPr lang="en-IN" sz="1100" b="0" dirty="0">
                          <a:latin typeface="Times New Roman" panose="02020603050405020304" pitchFamily="18" charset="0"/>
                          <a:cs typeface="Times New Roman" panose="02020603050405020304" pitchFamily="18" charset="0"/>
                        </a:rPr>
                        <a:t>Precipitation Nowcasting</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dirty="0">
                          <a:latin typeface="Times New Roman" panose="02020603050405020304" pitchFamily="18" charset="0"/>
                          <a:cs typeface="Times New Roman" panose="02020603050405020304" pitchFamily="18" charset="0"/>
                        </a:rPr>
                        <a:t>3</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dirty="0">
                          <a:latin typeface="Times New Roman" panose="02020603050405020304" pitchFamily="18" charset="0"/>
                          <a:cs typeface="Times New Roman" panose="02020603050405020304" pitchFamily="18" charset="0"/>
                        </a:rPr>
                        <a:t>Deep learning models can effectively capture spatial and temporal rainfall patterns for short-term prediction.</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4825">
                <a:tc>
                  <a:txBody>
                    <a:bodyPr/>
                    <a:lstStyle/>
                    <a:p>
                      <a:pPr>
                        <a:buNone/>
                      </a:pPr>
                      <a:r>
                        <a:rPr lang="en-IN" sz="1100" b="0" dirty="0" err="1">
                          <a:latin typeface="Times New Roman" panose="02020603050405020304" pitchFamily="18" charset="0"/>
                          <a:cs typeface="Times New Roman" panose="02020603050405020304" pitchFamily="18" charset="0"/>
                        </a:rPr>
                        <a:t>Spatio</a:t>
                      </a:r>
                      <a:r>
                        <a:rPr lang="en-IN" sz="1100" b="0" dirty="0">
                          <a:latin typeface="Times New Roman" panose="02020603050405020304" pitchFamily="18" charset="0"/>
                          <a:cs typeface="Times New Roman" panose="02020603050405020304" pitchFamily="18" charset="0"/>
                        </a:rPr>
                        <a:t>-Temporal Deep Learning</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a:latin typeface="Times New Roman" panose="02020603050405020304" pitchFamily="18" charset="0"/>
                          <a:cs typeface="Times New Roman" panose="02020603050405020304" pitchFamily="18" charset="0"/>
                        </a:rPr>
                        <a:t>4</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dirty="0" err="1">
                          <a:latin typeface="Times New Roman" panose="02020603050405020304" pitchFamily="18" charset="0"/>
                          <a:cs typeface="Times New Roman" panose="02020603050405020304" pitchFamily="18" charset="0"/>
                        </a:rPr>
                        <a:t>ConvLSTM</a:t>
                      </a:r>
                      <a:r>
                        <a:rPr lang="en-IN" sz="1100" b="0" dirty="0">
                          <a:latin typeface="Times New Roman" panose="02020603050405020304" pitchFamily="18" charset="0"/>
                          <a:cs typeface="Times New Roman" panose="02020603050405020304" pitchFamily="18" charset="0"/>
                        </a:rPr>
                        <a:t> and </a:t>
                      </a:r>
                      <a:r>
                        <a:rPr lang="en-IN" sz="1100" b="0" dirty="0" err="1">
                          <a:latin typeface="Times New Roman" panose="02020603050405020304" pitchFamily="18" charset="0"/>
                          <a:cs typeface="Times New Roman" panose="02020603050405020304" pitchFamily="18" charset="0"/>
                        </a:rPr>
                        <a:t>TrajGRU</a:t>
                      </a:r>
                      <a:r>
                        <a:rPr lang="en-IN" sz="1100" b="0" dirty="0">
                          <a:latin typeface="Times New Roman" panose="02020603050405020304" pitchFamily="18" charset="0"/>
                          <a:cs typeface="Times New Roman" panose="02020603050405020304" pitchFamily="18" charset="0"/>
                        </a:rPr>
                        <a:t> improve the modelling of rainfall movement and temporal changes.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4825">
                <a:tc>
                  <a:txBody>
                    <a:bodyPr/>
                    <a:lstStyle/>
                    <a:p>
                      <a:pPr>
                        <a:buNone/>
                      </a:pPr>
                      <a:r>
                        <a:rPr lang="en-IN" sz="1100" b="0">
                          <a:latin typeface="Times New Roman" panose="02020603050405020304" pitchFamily="18" charset="0"/>
                          <a:cs typeface="Times New Roman" panose="02020603050405020304" pitchFamily="18" charset="0"/>
                        </a:rPr>
                        <a:t>Attention-Based Rainfall Prediction</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a:latin typeface="Times New Roman" panose="02020603050405020304" pitchFamily="18" charset="0"/>
                          <a:cs typeface="Times New Roman" panose="02020603050405020304" pitchFamily="18" charset="0"/>
                        </a:rPr>
                        <a:t>2</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dirty="0">
                          <a:latin typeface="Times New Roman" panose="02020603050405020304" pitchFamily="18" charset="0"/>
                          <a:cs typeface="Times New Roman" panose="02020603050405020304" pitchFamily="18" charset="0"/>
                        </a:rPr>
                        <a:t>Attention mechanisms help the model focus on important spatial and meteorological features.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4825">
                <a:tc>
                  <a:txBody>
                    <a:bodyPr/>
                    <a:lstStyle/>
                    <a:p>
                      <a:pPr>
                        <a:buNone/>
                      </a:pPr>
                      <a:r>
                        <a:rPr lang="en-IN" sz="1100" b="0">
                          <a:latin typeface="Times New Roman" panose="02020603050405020304" pitchFamily="18" charset="0"/>
                          <a:cs typeface="Times New Roman" panose="02020603050405020304" pitchFamily="18" charset="0"/>
                        </a:rPr>
                        <a:t>Weather Data Acquisition &amp; Fusion</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a:latin typeface="Times New Roman" panose="02020603050405020304" pitchFamily="18" charset="0"/>
                          <a:cs typeface="Times New Roman" panose="02020603050405020304" pitchFamily="18" charset="0"/>
                        </a:rPr>
                        <a:t>3</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dirty="0">
                          <a:latin typeface="Times New Roman" panose="02020603050405020304" pitchFamily="18" charset="0"/>
                          <a:cs typeface="Times New Roman" panose="02020603050405020304" pitchFamily="18" charset="0"/>
                        </a:rPr>
                        <a:t>Combining multiple weather sources provides richer and more localized atmospheric information.</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4825">
                <a:tc>
                  <a:txBody>
                    <a:bodyPr/>
                    <a:lstStyle/>
                    <a:p>
                      <a:pPr>
                        <a:buNone/>
                      </a:pPr>
                      <a:r>
                        <a:rPr lang="en-IN" sz="1100" b="0">
                          <a:latin typeface="Times New Roman" panose="02020603050405020304" pitchFamily="18" charset="0"/>
                          <a:cs typeface="Times New Roman" panose="02020603050405020304" pitchFamily="18" charset="0"/>
                        </a:rPr>
                        <a:t>Numerical Weather Prediction (NWP)</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a:latin typeface="Times New Roman" panose="02020603050405020304" pitchFamily="18" charset="0"/>
                          <a:cs typeface="Times New Roman" panose="02020603050405020304" pitchFamily="18" charset="0"/>
                        </a:rPr>
                        <a:t>4</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dirty="0">
                          <a:latin typeface="Times New Roman" panose="02020603050405020304" pitchFamily="18" charset="0"/>
                          <a:cs typeface="Times New Roman" panose="02020603050405020304" pitchFamily="18" charset="0"/>
                        </a:rPr>
                        <a:t>ECMWF, GFS, and other NWP models provide useful large-scale guidance but have limitations for hyperlocal rainfall.</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4825">
                <a:tc>
                  <a:txBody>
                    <a:bodyPr/>
                    <a:lstStyle/>
                    <a:p>
                      <a:pPr>
                        <a:buNone/>
                      </a:pPr>
                      <a:r>
                        <a:rPr lang="en-IN" sz="1100" b="0">
                          <a:latin typeface="Times New Roman" panose="02020603050405020304" pitchFamily="18" charset="0"/>
                          <a:cs typeface="Times New Roman" panose="02020603050405020304" pitchFamily="18" charset="0"/>
                        </a:rPr>
                        <a:t>Machine Learning Weather Forecasting</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a:latin typeface="Times New Roman" panose="02020603050405020304" pitchFamily="18" charset="0"/>
                          <a:cs typeface="Times New Roman" panose="02020603050405020304" pitchFamily="18" charset="0"/>
                        </a:rPr>
                        <a:t>2</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tc>
                  <a:txBody>
                    <a:bodyPr/>
                    <a:lstStyle/>
                    <a:p>
                      <a:pPr>
                        <a:buNone/>
                      </a:pPr>
                      <a:r>
                        <a:rPr lang="en-IN" sz="1100" b="0" dirty="0">
                          <a:latin typeface="Times New Roman" panose="02020603050405020304" pitchFamily="18" charset="0"/>
                          <a:cs typeface="Times New Roman" panose="02020603050405020304" pitchFamily="18" charset="0"/>
                        </a:rPr>
                        <a:t>RF and </a:t>
                      </a:r>
                      <a:r>
                        <a:rPr lang="en-IN" sz="1100" b="0" dirty="0" err="1">
                          <a:latin typeface="Times New Roman" panose="02020603050405020304" pitchFamily="18" charset="0"/>
                          <a:cs typeface="Times New Roman" panose="02020603050405020304" pitchFamily="18" charset="0"/>
                        </a:rPr>
                        <a:t>XGBoost</a:t>
                      </a:r>
                      <a:r>
                        <a:rPr lang="en-IN" sz="1100" b="0" dirty="0">
                          <a:latin typeface="Times New Roman" panose="02020603050405020304" pitchFamily="18" charset="0"/>
                          <a:cs typeface="Times New Roman" panose="02020603050405020304" pitchFamily="18" charset="0"/>
                        </a:rPr>
                        <a:t> provide fast and useful baseline predictions from station-level weather features.</a:t>
                      </a:r>
                    </a:p>
                  </a:txBody>
                  <a:tcPr anchor="ctr">
                    <a:lnL w="12700" cap="flat" cmpd="sng" algn="ctr">
                      <a:solidFill>
                        <a:srgbClr val="737373"/>
                      </a:solidFill>
                      <a:prstDash val="solid"/>
                      <a:round/>
                      <a:headEnd type="none" w="med" len="med"/>
                      <a:tailEnd type="none" w="med" len="med"/>
                    </a:lnL>
                    <a:lnR w="12700" cap="flat" cmpd="sng" algn="ctr">
                      <a:solidFill>
                        <a:srgbClr val="737373"/>
                      </a:solidFill>
                      <a:prstDash val="solid"/>
                      <a:round/>
                      <a:headEnd type="none" w="med" len="med"/>
                      <a:tailEnd type="none" w="med" len="med"/>
                    </a:lnR>
                    <a:lnT w="12700" cap="flat" cmpd="sng" algn="ctr">
                      <a:solidFill>
                        <a:srgbClr val="737373"/>
                      </a:solidFill>
                      <a:prstDash val="solid"/>
                      <a:round/>
                      <a:headEnd type="none" w="med" len="med"/>
                      <a:tailEnd type="none" w="med" len="med"/>
                    </a:lnT>
                    <a:lnB w="12700" cap="flat" cmpd="sng" algn="ctr">
                      <a:solidFill>
                        <a:srgbClr val="73737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3" name="Text 0"/>
          <p:cNvSpPr/>
          <p:nvPr/>
        </p:nvSpPr>
        <p:spPr>
          <a:xfrm>
            <a:off x="466725" y="2171700"/>
            <a:ext cx="2405063" cy="685800"/>
          </a:xfrm>
          <a:prstGeom prst="rect">
            <a:avLst/>
          </a:prstGeom>
          <a:noFill/>
          <a:ln/>
        </p:spPr>
        <p:txBody>
          <a:bodyPr wrap="square" lIns="0" tIns="0" rIns="0" bIns="0" rtlCol="0" anchor="ctr"/>
          <a:lstStyle/>
          <a:p>
            <a:pPr marL="0" indent="0" algn="l">
              <a:lnSpc>
                <a:spcPts val="2565"/>
              </a:lnSpc>
              <a:buNone/>
            </a:pPr>
            <a:r>
              <a:rPr lang="en-US" sz="2138" b="1" kern="0" spc="-47" dirty="0">
                <a:solidFill>
                  <a:srgbClr val="0057A0">
                    <a:alpha val="99000"/>
                  </a:srgbClr>
                </a:solidFill>
                <a:latin typeface="Inter" pitchFamily="34" charset="0"/>
                <a:ea typeface="Inter" pitchFamily="34" charset="-122"/>
                <a:cs typeface="Inter" pitchFamily="34" charset="-120"/>
              </a:rPr>
              <a:t>Literature</a:t>
            </a:r>
            <a:endParaRPr lang="en-US" sz="2138" dirty="0"/>
          </a:p>
          <a:p>
            <a:pPr marL="0" indent="0" algn="l">
              <a:lnSpc>
                <a:spcPts val="2565"/>
              </a:lnSpc>
              <a:buNone/>
            </a:pPr>
            <a:r>
              <a:rPr lang="en-US" sz="2138" b="1" kern="0" spc="-47" dirty="0">
                <a:solidFill>
                  <a:srgbClr val="0057A0">
                    <a:alpha val="99000"/>
                  </a:srgbClr>
                </a:solidFill>
                <a:latin typeface="Inter" pitchFamily="34" charset="0"/>
                <a:ea typeface="Inter" pitchFamily="34" charset="-122"/>
                <a:cs typeface="Inter" pitchFamily="34" charset="-120"/>
              </a:rPr>
              <a:t>Survey</a:t>
            </a:r>
            <a:endParaRPr lang="en-US" sz="2138"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1857</Words>
  <Application>Microsoft Office PowerPoint</Application>
  <PresentationFormat>On-screen Show (16:9)</PresentationFormat>
  <Paragraphs>183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Times New Roman</vt:lpstr>
      <vt:lpstr>Calibri</vt:lpstr>
      <vt:lpstr>Arial</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Bharath B</cp:lastModifiedBy>
  <cp:revision>10</cp:revision>
  <dcterms:created xsi:type="dcterms:W3CDTF">2026-03-30T17:33:26Z</dcterms:created>
  <dcterms:modified xsi:type="dcterms:W3CDTF">2026-10-08T04:42:11Z</dcterms:modified>
</cp:coreProperties>
</file>