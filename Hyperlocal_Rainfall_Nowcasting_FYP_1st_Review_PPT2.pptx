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680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first review presentation. We move from the domain discussed in the 0th review to the actual proposed system, architecture, modules, literature survey, objectives and technology stack.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system combines three complementary sources of information: live local observations, machine-learning nowcasts and broader NWP forecasts. The goal is not to replace NWP, but to provide a unified hyperlocal view for the immediate 0–3 hour decision window.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central problem is not simply predicting rain. It is integrating fragmented local observations and producing useful short-horizon information while keeping broader NWP guidance available for context.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systems provide valuable weather information, but they emphasize different layers: official services, NWP visualization, radar, regional analysis or personal observations. Our proposed contribution is the integration of these information types around a specific 0–3 hour hyperlocal nowcasting workflow.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proposed system has three layers. The first captures observations, the second learns short-term rainfall behavior, and the third provides NWP context. All three are delivered through one dashboard so the user can compare present conditions with immediate prediction and broader forecast guidance.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pipeline moves from data sources through ingestion, storage, processing and APIs into the web application. ECMWF follows a parallel geospatial branch: GRIB2 is decoded with cfgrib/xarray, converted to GeoTIFF and rendered as Leaflet layers.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establishes reliable data collection. The scheduler, provider adapters, deduplication and backfill logic are important because the machine-learning stage is only as reliable as the time series entering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engineering converts raw weather readings into signals that a model can learn from. We start with pressure change, humidity change, dew-point spread and spatial neighbor information, then create time-aligned sequences for model training.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ML engine will progress from interpretable tree-based baselines to temporal and spatiotemporal neural models. The comparison is important because a more complex model should only be selected if it provides meaningful improvement on unseen time periods.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NWP module does not replace the ML nowcast. It adds a spatially continuous forecast layer from ECMWF, allowing users to see the broader atmospheric pattern while the ML model focuses on the immediate local horizon.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dashboard is the delivery layer of the project. Phase 1 already establishes the homepage, live station dashboard, trend chart, search and filtering, while forecast, authentication and blog features are planned for the next phase.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1 focuses on deep learning approaches for precipitation nowcasting. A common trend is the move from purely temporal models toward architectures that represent spatial motion and atmospheric structure.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 2 motivates our planned architecture. Tree models provide strong baselines, while GNN and hybrid NWP-learning approaches offer ways to represent spatial relationships. Our project evaluates these ideas within a practical multi-station regional pipeline.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scope is intentionally regional and focused on the immediate 0–3 hour horizon. The objectives move from reliable data engineering through modeling and geospatial delivery, so that the final system is an end-to-end engineering project rather than only a model.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stack separates the system into clear responsibilities. Next.js provides the interface, FastAPI exposes services, SQLAlchemy handles persistence, Python libraries support ML and NWP processing, and Docker plus cloud deployment tools support productionization.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1 establishes the engineering foundation: live data ingestion, storage, APIs and dashboard. Phase 2 concentrates on the scientific contribution—model training and evaluation—while also completing NWP visualization and the production web experience.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references provide the foundation for both the scientific and engineering parts of the project. The literature will be expanded and cited in the final report as the Phase 2 model experiments are completed.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24840" y="1719072"/>
            <a:ext cx="10972800" cy="1015663"/>
          </a:xfrm>
          <a:prstGeom prst="rect">
            <a:avLst/>
          </a:prstGeom>
          <a:noFill/>
        </p:spPr>
        <p:txBody>
          <a:bodyPr wrap="square" anchor="t">
            <a:spAutoFit/>
          </a:bodyPr>
          <a:lstStyle/>
          <a:p>
            <a:pPr algn="ctr"/>
            <a:r>
              <a:rPr lang="en-US" sz="3000" b="1" dirty="0"/>
              <a:t>MULTI-SOURCE AI FOR </a:t>
            </a:r>
          </a:p>
          <a:p>
            <a:pPr algn="ctr"/>
            <a:r>
              <a:rPr lang="en-US" sz="3000" b="1" dirty="0"/>
              <a:t>HYPERLOCAL RAINFALL NOWCASTING</a:t>
            </a:r>
            <a:endParaRPr lang="en-IN" sz="3000" dirty="0"/>
          </a:p>
        </p:txBody>
      </p:sp>
      <p:sp>
        <p:nvSpPr>
          <p:cNvPr id="7" name="Rounded Rectangle 6"/>
          <p:cNvSpPr/>
          <p:nvPr/>
        </p:nvSpPr>
        <p:spPr>
          <a:xfrm>
            <a:off x="1920240" y="3794760"/>
            <a:ext cx="8421624" cy="2185416"/>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40" y="4041648"/>
            <a:ext cx="8122920" cy="1631216"/>
          </a:xfrm>
          <a:prstGeom prst="rect">
            <a:avLst/>
          </a:prstGeom>
          <a:noFill/>
        </p:spPr>
        <p:txBody>
          <a:bodyPr wrap="square" anchor="t">
            <a:spAutoFit/>
          </a:bodyPr>
          <a:lstStyle/>
          <a:p>
            <a:pPr algn="ctr"/>
            <a:r>
              <a:rPr sz="2000" b="0" dirty="0">
                <a:solidFill>
                  <a:srgbClr val="141414"/>
                </a:solidFill>
                <a:latin typeface="Times New Roman" panose="02020603050405020304" pitchFamily="18" charset="0"/>
                <a:cs typeface="Times New Roman" panose="02020603050405020304" pitchFamily="18" charset="0"/>
              </a:rPr>
              <a:t>Bharath B (23UCS025) · Ariyan M (23UCS015) · </a:t>
            </a:r>
            <a:r>
              <a:rPr sz="2000" b="0" dirty="0" err="1">
                <a:solidFill>
                  <a:srgbClr val="141414"/>
                </a:solidFill>
                <a:latin typeface="Times New Roman" panose="02020603050405020304" pitchFamily="18" charset="0"/>
                <a:cs typeface="Times New Roman" panose="02020603050405020304" pitchFamily="18" charset="0"/>
              </a:rPr>
              <a:t>Hemnnath</a:t>
            </a:r>
            <a:r>
              <a:rPr sz="2000" b="0" dirty="0">
                <a:solidFill>
                  <a:srgbClr val="141414"/>
                </a:solidFill>
                <a:latin typeface="Times New Roman" panose="02020603050405020304" pitchFamily="18" charset="0"/>
                <a:cs typeface="Times New Roman" panose="02020603050405020304" pitchFamily="18" charset="0"/>
              </a:rPr>
              <a:t> G (23UCS066)</a:t>
            </a:r>
            <a:endParaRPr lang="en-US" sz="2000" b="0" dirty="0">
              <a:solidFill>
                <a:srgbClr val="141414"/>
              </a:solidFill>
              <a:latin typeface="Times New Roman" panose="02020603050405020304" pitchFamily="18" charset="0"/>
              <a:cs typeface="Times New Roman" panose="02020603050405020304" pitchFamily="18" charset="0"/>
            </a:endParaRPr>
          </a:p>
          <a:p>
            <a:pPr algn="ctr"/>
            <a:r>
              <a:rPr lang="en-IN" sz="2000" dirty="0">
                <a:solidFill>
                  <a:srgbClr val="141414"/>
                </a:solidFill>
                <a:latin typeface="Times New Roman" panose="02020603050405020304" pitchFamily="18" charset="0"/>
                <a:cs typeface="Times New Roman" panose="02020603050405020304" pitchFamily="18" charset="0"/>
              </a:rPr>
              <a:t>IV Year CSE A section</a:t>
            </a:r>
            <a:endParaRPr lang="en-US" sz="2000" b="0" dirty="0">
              <a:solidFill>
                <a:srgbClr val="141414"/>
              </a:solidFill>
              <a:latin typeface="Times New Roman" panose="02020603050405020304" pitchFamily="18" charset="0"/>
              <a:cs typeface="Times New Roman" panose="02020603050405020304" pitchFamily="18" charset="0"/>
            </a:endParaRPr>
          </a:p>
          <a:p>
            <a:pPr algn="ctr"/>
            <a:r>
              <a:rPr sz="2000" b="0" dirty="0">
                <a:solidFill>
                  <a:srgbClr val="141414"/>
                </a:solidFill>
                <a:latin typeface="Times New Roman" panose="02020603050405020304" pitchFamily="18" charset="0"/>
                <a:cs typeface="Times New Roman" panose="02020603050405020304" pitchFamily="18" charset="0"/>
              </a:rPr>
              <a:t>
Guide: Mrs. N. </a:t>
            </a:r>
            <a:r>
              <a:rPr sz="2000" b="0" dirty="0" err="1">
                <a:solidFill>
                  <a:srgbClr val="141414"/>
                </a:solidFill>
                <a:latin typeface="Times New Roman" panose="02020603050405020304" pitchFamily="18" charset="0"/>
                <a:cs typeface="Times New Roman" panose="02020603050405020304" pitchFamily="18" charset="0"/>
              </a:rPr>
              <a:t>Danapaquiame</a:t>
            </a:r>
            <a:r>
              <a:rPr sz="2000" b="0" dirty="0">
                <a:solidFill>
                  <a:srgbClr val="141414"/>
                </a:solidFill>
                <a:latin typeface="Times New Roman" panose="02020603050405020304" pitchFamily="18" charset="0"/>
                <a:cs typeface="Times New Roman" panose="02020603050405020304" pitchFamily="18" charset="0"/>
              </a:rPr>
              <a:t>, Professor &amp; HOD, CSE
Sri Manakula Vinayagar Engineering College</a:t>
            </a:r>
          </a:p>
        </p:txBody>
      </p:sp>
      <p:pic>
        <p:nvPicPr>
          <p:cNvPr id="4" name="Picture 3">
            <a:extLst>
              <a:ext uri="{FF2B5EF4-FFF2-40B4-BE49-F238E27FC236}">
                <a16:creationId xmlns:a16="http://schemas.microsoft.com/office/drawing/2014/main" id="{3FF353D3-6992-02E5-12E4-188CA4E87C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759" y="118873"/>
            <a:ext cx="8830849" cy="7680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31520" y="636955"/>
            <a:ext cx="10972800" cy="477054"/>
          </a:xfrm>
          <a:prstGeom prst="rect">
            <a:avLst/>
          </a:prstGeom>
          <a:noFill/>
        </p:spPr>
        <p:txBody>
          <a:bodyPr wrap="square" anchor="t">
            <a:spAutoFit/>
          </a:bodyPr>
          <a:lstStyle/>
          <a:p>
            <a:pPr algn="l"/>
            <a:r>
              <a:rPr sz="2500" b="1" dirty="0">
                <a:solidFill>
                  <a:srgbClr val="141414"/>
                </a:solidFill>
                <a:latin typeface="Aptos"/>
              </a:rPr>
              <a:t>Abstract</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 name="Rounded Rectangle 4"/>
          <p:cNvSpPr/>
          <p:nvPr/>
        </p:nvSpPr>
        <p:spPr>
          <a:xfrm>
            <a:off x="731520" y="1371600"/>
            <a:ext cx="10698480" cy="4526280"/>
          </a:xfrm>
          <a:prstGeom prst="round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6" name="TextBox 5"/>
          <p:cNvSpPr txBox="1"/>
          <p:nvPr/>
        </p:nvSpPr>
        <p:spPr>
          <a:xfrm>
            <a:off x="960120" y="1627632"/>
            <a:ext cx="10195560" cy="784830"/>
          </a:xfrm>
          <a:prstGeom prst="rect">
            <a:avLst/>
          </a:prstGeom>
          <a:noFill/>
        </p:spPr>
        <p:txBody>
          <a:bodyPr wrap="square" anchor="t">
            <a:spAutoFit/>
          </a:bodyPr>
          <a:lstStyle/>
          <a:p>
            <a:pPr algn="l"/>
            <a:r>
              <a:rPr sz="1500" b="0" dirty="0">
                <a:solidFill>
                  <a:srgbClr val="141414"/>
                </a:solidFill>
                <a:latin typeface="Aptos"/>
              </a:rPr>
              <a:t>The proposed project develops a hyperlocal rainfall nowcasting platform for Puducherry and the surrounding Tamil Nadu region, targeting rainfall conditions 0–3 hours ahead. The system addresses the short-term gap between live observations and conventional numerical weather forecasts.</a:t>
            </a:r>
          </a:p>
        </p:txBody>
      </p:sp>
      <p:sp>
        <p:nvSpPr>
          <p:cNvPr id="7" name="TextBox 6"/>
          <p:cNvSpPr txBox="1"/>
          <p:nvPr/>
        </p:nvSpPr>
        <p:spPr>
          <a:xfrm>
            <a:off x="960120" y="2450592"/>
            <a:ext cx="10195560" cy="784830"/>
          </a:xfrm>
          <a:prstGeom prst="rect">
            <a:avLst/>
          </a:prstGeom>
          <a:noFill/>
        </p:spPr>
        <p:txBody>
          <a:bodyPr wrap="square" anchor="t">
            <a:spAutoFit/>
          </a:bodyPr>
          <a:lstStyle/>
          <a:p>
            <a:pPr algn="l"/>
            <a:r>
              <a:rPr sz="1500" b="0" dirty="0">
                <a:solidFill>
                  <a:srgbClr val="141414"/>
                </a:solidFill>
                <a:latin typeface="Aptos"/>
              </a:rPr>
              <a:t>At the observation layer, IMD Automatic Weather Stations and Personal Weather Stations provide temperature, humidity, pressure, wind and rainfall-related measurements. Personal-station observations are collected through supported APIs and aligned into a common time-series representation.</a:t>
            </a:r>
          </a:p>
        </p:txBody>
      </p:sp>
      <p:sp>
        <p:nvSpPr>
          <p:cNvPr id="8" name="TextBox 7"/>
          <p:cNvSpPr txBox="1"/>
          <p:nvPr/>
        </p:nvSpPr>
        <p:spPr>
          <a:xfrm>
            <a:off x="960120" y="3273552"/>
            <a:ext cx="10195560" cy="784830"/>
          </a:xfrm>
          <a:prstGeom prst="rect">
            <a:avLst/>
          </a:prstGeom>
          <a:noFill/>
        </p:spPr>
        <p:txBody>
          <a:bodyPr wrap="square" anchor="t">
            <a:spAutoFit/>
          </a:bodyPr>
          <a:lstStyle/>
          <a:p>
            <a:pPr algn="l"/>
            <a:r>
              <a:rPr sz="1500" b="0" dirty="0">
                <a:solidFill>
                  <a:srgbClr val="141414"/>
                </a:solidFill>
                <a:latin typeface="Aptos"/>
              </a:rPr>
              <a:t>The machine-learning layer performs data cleaning, feature engineering and short-horizon prediction. Baseline models such as Random Forest and </a:t>
            </a:r>
            <a:r>
              <a:rPr sz="1500" b="0" dirty="0" err="1">
                <a:solidFill>
                  <a:srgbClr val="141414"/>
                </a:solidFill>
                <a:latin typeface="Aptos"/>
              </a:rPr>
              <a:t>XGBoost</a:t>
            </a:r>
            <a:r>
              <a:rPr sz="1500" b="0" dirty="0">
                <a:solidFill>
                  <a:srgbClr val="141414"/>
                </a:solidFill>
                <a:latin typeface="Aptos"/>
              </a:rPr>
              <a:t> will be compared with temporal and spatiotemporal models including LSTM and a planned CNN/GNN-LSTM hybrid.</a:t>
            </a:r>
          </a:p>
        </p:txBody>
      </p:sp>
      <p:sp>
        <p:nvSpPr>
          <p:cNvPr id="9" name="TextBox 8"/>
          <p:cNvSpPr txBox="1"/>
          <p:nvPr/>
        </p:nvSpPr>
        <p:spPr>
          <a:xfrm>
            <a:off x="960120" y="4096512"/>
            <a:ext cx="10195560" cy="784830"/>
          </a:xfrm>
          <a:prstGeom prst="rect">
            <a:avLst/>
          </a:prstGeom>
          <a:noFill/>
        </p:spPr>
        <p:txBody>
          <a:bodyPr wrap="square" anchor="t">
            <a:spAutoFit/>
          </a:bodyPr>
          <a:lstStyle/>
          <a:p>
            <a:pPr algn="l"/>
            <a:r>
              <a:rPr sz="1500" b="0" dirty="0">
                <a:solidFill>
                  <a:srgbClr val="141414"/>
                </a:solidFill>
                <a:latin typeface="Aptos"/>
              </a:rPr>
              <a:t>In parallel, ECMWF numerical weather prediction products are processed from GRIB2 using </a:t>
            </a:r>
            <a:r>
              <a:rPr sz="1500" b="0" dirty="0" err="1">
                <a:solidFill>
                  <a:srgbClr val="141414"/>
                </a:solidFill>
                <a:latin typeface="Aptos"/>
              </a:rPr>
              <a:t>cfgrib</a:t>
            </a:r>
            <a:r>
              <a:rPr sz="1500" b="0" dirty="0">
                <a:solidFill>
                  <a:srgbClr val="141414"/>
                </a:solidFill>
                <a:latin typeface="Aptos"/>
              </a:rPr>
              <a:t>/</a:t>
            </a:r>
            <a:r>
              <a:rPr sz="1500" b="0" dirty="0" err="1">
                <a:solidFill>
                  <a:srgbClr val="141414"/>
                </a:solidFill>
                <a:latin typeface="Aptos"/>
              </a:rPr>
              <a:t>xarray</a:t>
            </a:r>
            <a:r>
              <a:rPr sz="1500" b="0" dirty="0">
                <a:solidFill>
                  <a:srgbClr val="141414"/>
                </a:solidFill>
                <a:latin typeface="Aptos"/>
              </a:rPr>
              <a:t>, converted into geospatial raster layers and displayed alongside station observations. This provides broader atmospheric context beyond the local 0–3 hour ML prediction.</a:t>
            </a:r>
          </a:p>
        </p:txBody>
      </p:sp>
      <p:sp>
        <p:nvSpPr>
          <p:cNvPr id="10" name="TextBox 9"/>
          <p:cNvSpPr txBox="1"/>
          <p:nvPr/>
        </p:nvSpPr>
        <p:spPr>
          <a:xfrm>
            <a:off x="960120" y="4919472"/>
            <a:ext cx="10195560" cy="553998"/>
          </a:xfrm>
          <a:prstGeom prst="rect">
            <a:avLst/>
          </a:prstGeom>
          <a:noFill/>
        </p:spPr>
        <p:txBody>
          <a:bodyPr wrap="square" anchor="t">
            <a:spAutoFit/>
          </a:bodyPr>
          <a:lstStyle/>
          <a:p>
            <a:pPr algn="l"/>
            <a:r>
              <a:rPr sz="1500" b="0" dirty="0">
                <a:solidFill>
                  <a:srgbClr val="141414"/>
                </a:solidFill>
                <a:latin typeface="Aptos"/>
              </a:rPr>
              <a:t>The final full-stack application combines FastAPI services, </a:t>
            </a:r>
            <a:r>
              <a:rPr sz="1500" b="0" dirty="0" err="1">
                <a:solidFill>
                  <a:srgbClr val="141414"/>
                </a:solidFill>
                <a:latin typeface="Aptos"/>
              </a:rPr>
              <a:t>SQLAlchemy</a:t>
            </a:r>
            <a:r>
              <a:rPr sz="1500" b="0" dirty="0">
                <a:solidFill>
                  <a:srgbClr val="141414"/>
                </a:solidFill>
                <a:latin typeface="Aptos"/>
              </a:rPr>
              <a:t> storage and a Next.js/React dashboard. Users can inspect live stations, trends, predictions and interactive rainfall maps through one unified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dirty="0">
                <a:solidFill>
                  <a:srgbClr val="141414"/>
                </a:solidFill>
                <a:latin typeface="Aptos"/>
              </a:rPr>
              <a:t>Problem Statement</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77240" y="1508760"/>
            <a:ext cx="5074920" cy="16459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78408" y="1709928"/>
            <a:ext cx="457200" cy="320040"/>
          </a:xfrm>
          <a:prstGeom prst="rect">
            <a:avLst/>
          </a:prstGeom>
          <a:noFill/>
        </p:spPr>
        <p:txBody>
          <a:bodyPr wrap="square" anchor="t">
            <a:spAutoFit/>
          </a:bodyPr>
          <a:lstStyle/>
          <a:p>
            <a:pPr algn="l"/>
            <a:r>
              <a:rPr sz="1500" b="1">
                <a:solidFill>
                  <a:srgbClr val="5A5A5A"/>
                </a:solidFill>
                <a:latin typeface="Aptos"/>
              </a:rPr>
              <a:t>01</a:t>
            </a:r>
          </a:p>
        </p:txBody>
      </p:sp>
      <p:sp>
        <p:nvSpPr>
          <p:cNvPr id="7" name="TextBox 6"/>
          <p:cNvSpPr txBox="1"/>
          <p:nvPr/>
        </p:nvSpPr>
        <p:spPr>
          <a:xfrm>
            <a:off x="1554480" y="1691639"/>
            <a:ext cx="3931920" cy="320040"/>
          </a:xfrm>
          <a:prstGeom prst="rect">
            <a:avLst/>
          </a:prstGeom>
          <a:noFill/>
        </p:spPr>
        <p:txBody>
          <a:bodyPr wrap="square" anchor="t">
            <a:spAutoFit/>
          </a:bodyPr>
          <a:lstStyle/>
          <a:p>
            <a:pPr algn="l"/>
            <a:r>
              <a:rPr sz="1700" b="1">
                <a:solidFill>
                  <a:srgbClr val="141414"/>
                </a:solidFill>
                <a:latin typeface="Aptos"/>
              </a:rPr>
              <a:t>Fragmented observations</a:t>
            </a:r>
          </a:p>
        </p:txBody>
      </p:sp>
      <p:sp>
        <p:nvSpPr>
          <p:cNvPr id="8" name="TextBox 7"/>
          <p:cNvSpPr txBox="1"/>
          <p:nvPr/>
        </p:nvSpPr>
        <p:spPr>
          <a:xfrm>
            <a:off x="1554480" y="2130552"/>
            <a:ext cx="3977639" cy="658368"/>
          </a:xfrm>
          <a:prstGeom prst="rect">
            <a:avLst/>
          </a:prstGeom>
          <a:noFill/>
        </p:spPr>
        <p:txBody>
          <a:bodyPr wrap="square" anchor="t">
            <a:spAutoFit/>
          </a:bodyPr>
          <a:lstStyle/>
          <a:p>
            <a:pPr algn="l"/>
            <a:r>
              <a:rPr sz="1200" b="0">
                <a:solidFill>
                  <a:srgbClr val="141414"/>
                </a:solidFill>
                <a:latin typeface="Aptos"/>
              </a:rPr>
              <a:t>AWS and personal weather stations exist in separate networks, making it difficult to obtain one consistent regional view.</a:t>
            </a:r>
          </a:p>
        </p:txBody>
      </p:sp>
      <p:sp>
        <p:nvSpPr>
          <p:cNvPr id="9" name="Rounded Rectangle 8"/>
          <p:cNvSpPr/>
          <p:nvPr/>
        </p:nvSpPr>
        <p:spPr>
          <a:xfrm>
            <a:off x="6263640" y="1508760"/>
            <a:ext cx="5074920" cy="16459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7" y="1709928"/>
            <a:ext cx="457200" cy="320040"/>
          </a:xfrm>
          <a:prstGeom prst="rect">
            <a:avLst/>
          </a:prstGeom>
          <a:noFill/>
        </p:spPr>
        <p:txBody>
          <a:bodyPr wrap="square" anchor="t">
            <a:spAutoFit/>
          </a:bodyPr>
          <a:lstStyle/>
          <a:p>
            <a:pPr algn="l"/>
            <a:r>
              <a:rPr sz="1500" b="1">
                <a:solidFill>
                  <a:srgbClr val="5A5A5A"/>
                </a:solidFill>
                <a:latin typeface="Aptos"/>
              </a:rPr>
              <a:t>02</a:t>
            </a:r>
          </a:p>
        </p:txBody>
      </p:sp>
      <p:sp>
        <p:nvSpPr>
          <p:cNvPr id="11" name="TextBox 10"/>
          <p:cNvSpPr txBox="1"/>
          <p:nvPr/>
        </p:nvSpPr>
        <p:spPr>
          <a:xfrm>
            <a:off x="7040879" y="1691639"/>
            <a:ext cx="3931920" cy="320040"/>
          </a:xfrm>
          <a:prstGeom prst="rect">
            <a:avLst/>
          </a:prstGeom>
          <a:noFill/>
        </p:spPr>
        <p:txBody>
          <a:bodyPr wrap="square" anchor="t">
            <a:spAutoFit/>
          </a:bodyPr>
          <a:lstStyle/>
          <a:p>
            <a:pPr algn="l"/>
            <a:r>
              <a:rPr sz="1700" b="1">
                <a:solidFill>
                  <a:srgbClr val="141414"/>
                </a:solidFill>
                <a:latin typeface="Aptos"/>
              </a:rPr>
              <a:t>0–3 hour prediction gap</a:t>
            </a:r>
          </a:p>
        </p:txBody>
      </p:sp>
      <p:sp>
        <p:nvSpPr>
          <p:cNvPr id="12" name="TextBox 11"/>
          <p:cNvSpPr txBox="1"/>
          <p:nvPr/>
        </p:nvSpPr>
        <p:spPr>
          <a:xfrm>
            <a:off x="7040879" y="2130552"/>
            <a:ext cx="3977639" cy="658368"/>
          </a:xfrm>
          <a:prstGeom prst="rect">
            <a:avLst/>
          </a:prstGeom>
          <a:noFill/>
        </p:spPr>
        <p:txBody>
          <a:bodyPr wrap="square" anchor="t">
            <a:spAutoFit/>
          </a:bodyPr>
          <a:lstStyle/>
          <a:p>
            <a:pPr algn="l"/>
            <a:r>
              <a:rPr sz="1200" b="0">
                <a:solidFill>
                  <a:srgbClr val="141414"/>
                </a:solidFill>
                <a:latin typeface="Aptos"/>
              </a:rPr>
              <a:t>Observation platforms show what is happening now, while many forecast products emphasize longer horizons or broader spatial scales.</a:t>
            </a:r>
          </a:p>
        </p:txBody>
      </p:sp>
      <p:sp>
        <p:nvSpPr>
          <p:cNvPr id="13" name="Rounded Rectangle 12"/>
          <p:cNvSpPr/>
          <p:nvPr/>
        </p:nvSpPr>
        <p:spPr>
          <a:xfrm>
            <a:off x="777240" y="3566160"/>
            <a:ext cx="5074920" cy="16459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3767328"/>
            <a:ext cx="457200" cy="320040"/>
          </a:xfrm>
          <a:prstGeom prst="rect">
            <a:avLst/>
          </a:prstGeom>
          <a:noFill/>
        </p:spPr>
        <p:txBody>
          <a:bodyPr wrap="square" anchor="t">
            <a:spAutoFit/>
          </a:bodyPr>
          <a:lstStyle/>
          <a:p>
            <a:pPr algn="l"/>
            <a:r>
              <a:rPr sz="1500" b="1">
                <a:solidFill>
                  <a:srgbClr val="5A5A5A"/>
                </a:solidFill>
                <a:latin typeface="Aptos"/>
              </a:rPr>
              <a:t>03</a:t>
            </a:r>
          </a:p>
        </p:txBody>
      </p:sp>
      <p:sp>
        <p:nvSpPr>
          <p:cNvPr id="15" name="TextBox 14"/>
          <p:cNvSpPr txBox="1"/>
          <p:nvPr/>
        </p:nvSpPr>
        <p:spPr>
          <a:xfrm>
            <a:off x="1554480" y="3749039"/>
            <a:ext cx="3931920" cy="320040"/>
          </a:xfrm>
          <a:prstGeom prst="rect">
            <a:avLst/>
          </a:prstGeom>
          <a:noFill/>
        </p:spPr>
        <p:txBody>
          <a:bodyPr wrap="square" anchor="t">
            <a:spAutoFit/>
          </a:bodyPr>
          <a:lstStyle/>
          <a:p>
            <a:pPr algn="l"/>
            <a:r>
              <a:rPr sz="1700" b="1">
                <a:solidFill>
                  <a:srgbClr val="141414"/>
                </a:solidFill>
                <a:latin typeface="Aptos"/>
              </a:rPr>
              <a:t>Heterogeneous data quality</a:t>
            </a:r>
          </a:p>
        </p:txBody>
      </p:sp>
      <p:sp>
        <p:nvSpPr>
          <p:cNvPr id="16" name="TextBox 15"/>
          <p:cNvSpPr txBox="1"/>
          <p:nvPr/>
        </p:nvSpPr>
        <p:spPr>
          <a:xfrm>
            <a:off x="1554480" y="4187952"/>
            <a:ext cx="3977639" cy="658368"/>
          </a:xfrm>
          <a:prstGeom prst="rect">
            <a:avLst/>
          </a:prstGeom>
          <a:noFill/>
        </p:spPr>
        <p:txBody>
          <a:bodyPr wrap="square" anchor="t">
            <a:spAutoFit/>
          </a:bodyPr>
          <a:lstStyle/>
          <a:p>
            <a:pPr algn="l"/>
            <a:r>
              <a:rPr sz="1200" b="0">
                <a:solidFill>
                  <a:srgbClr val="141414"/>
                </a:solidFill>
                <a:latin typeface="Aptos"/>
              </a:rPr>
              <a:t>Sources differ in timestamps, sampling frequency, accuracy, missing values and station metadata.</a:t>
            </a:r>
          </a:p>
        </p:txBody>
      </p:sp>
      <p:sp>
        <p:nvSpPr>
          <p:cNvPr id="17" name="Rounded Rectangle 16"/>
          <p:cNvSpPr/>
          <p:nvPr/>
        </p:nvSpPr>
        <p:spPr>
          <a:xfrm>
            <a:off x="6263640" y="3566160"/>
            <a:ext cx="5074920" cy="16459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64807" y="3767328"/>
            <a:ext cx="457200" cy="320040"/>
          </a:xfrm>
          <a:prstGeom prst="rect">
            <a:avLst/>
          </a:prstGeom>
          <a:noFill/>
        </p:spPr>
        <p:txBody>
          <a:bodyPr wrap="square" anchor="t">
            <a:spAutoFit/>
          </a:bodyPr>
          <a:lstStyle/>
          <a:p>
            <a:pPr algn="l"/>
            <a:r>
              <a:rPr sz="1500" b="1">
                <a:solidFill>
                  <a:srgbClr val="5A5A5A"/>
                </a:solidFill>
                <a:latin typeface="Aptos"/>
              </a:rPr>
              <a:t>04</a:t>
            </a:r>
          </a:p>
        </p:txBody>
      </p:sp>
      <p:sp>
        <p:nvSpPr>
          <p:cNvPr id="19" name="TextBox 18"/>
          <p:cNvSpPr txBox="1"/>
          <p:nvPr/>
        </p:nvSpPr>
        <p:spPr>
          <a:xfrm>
            <a:off x="7040879" y="3749039"/>
            <a:ext cx="3931920" cy="320040"/>
          </a:xfrm>
          <a:prstGeom prst="rect">
            <a:avLst/>
          </a:prstGeom>
          <a:noFill/>
        </p:spPr>
        <p:txBody>
          <a:bodyPr wrap="square" anchor="t">
            <a:spAutoFit/>
          </a:bodyPr>
          <a:lstStyle/>
          <a:p>
            <a:pPr algn="l"/>
            <a:r>
              <a:rPr sz="1700" b="1">
                <a:solidFill>
                  <a:srgbClr val="141414"/>
                </a:solidFill>
                <a:latin typeface="Aptos"/>
              </a:rPr>
              <a:t>No unified decision interface</a:t>
            </a:r>
          </a:p>
        </p:txBody>
      </p:sp>
      <p:sp>
        <p:nvSpPr>
          <p:cNvPr id="20" name="TextBox 19"/>
          <p:cNvSpPr txBox="1"/>
          <p:nvPr/>
        </p:nvSpPr>
        <p:spPr>
          <a:xfrm>
            <a:off x="7040879" y="4187952"/>
            <a:ext cx="3977639" cy="658368"/>
          </a:xfrm>
          <a:prstGeom prst="rect">
            <a:avLst/>
          </a:prstGeom>
          <a:noFill/>
        </p:spPr>
        <p:txBody>
          <a:bodyPr wrap="square" anchor="t">
            <a:spAutoFit/>
          </a:bodyPr>
          <a:lstStyle/>
          <a:p>
            <a:pPr algn="l"/>
            <a:r>
              <a:rPr sz="1200" b="0">
                <a:solidFill>
                  <a:srgbClr val="141414"/>
                </a:solidFill>
                <a:latin typeface="Aptos"/>
              </a:rPr>
              <a:t>Users need live stations, short-term prediction and NWP context together rather than switching between separate tools.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477054"/>
          </a:xfrm>
          <a:prstGeom prst="rect">
            <a:avLst/>
          </a:prstGeom>
          <a:noFill/>
        </p:spPr>
        <p:txBody>
          <a:bodyPr wrap="square" anchor="t">
            <a:spAutoFit/>
          </a:bodyPr>
          <a:lstStyle/>
          <a:p>
            <a:pPr algn="l"/>
            <a:r>
              <a:rPr sz="2500" b="1" dirty="0">
                <a:solidFill>
                  <a:srgbClr val="141414"/>
                </a:solidFill>
                <a:latin typeface="Aptos"/>
              </a:rPr>
              <a:t>Existing Systems &amp; Limitations</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5" name="Rectangle 4"/>
          <p:cNvSpPr/>
          <p:nvPr/>
        </p:nvSpPr>
        <p:spPr>
          <a:xfrm>
            <a:off x="594360" y="1353312"/>
            <a:ext cx="1828800" cy="768096"/>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6" name="TextBox 5"/>
          <p:cNvSpPr txBox="1"/>
          <p:nvPr/>
        </p:nvSpPr>
        <p:spPr>
          <a:xfrm>
            <a:off x="640080" y="1426464"/>
            <a:ext cx="1737360" cy="323165"/>
          </a:xfrm>
          <a:prstGeom prst="rect">
            <a:avLst/>
          </a:prstGeom>
          <a:noFill/>
        </p:spPr>
        <p:txBody>
          <a:bodyPr wrap="square" anchor="t">
            <a:spAutoFit/>
          </a:bodyPr>
          <a:lstStyle/>
          <a:p>
            <a:pPr algn="l"/>
            <a:r>
              <a:rPr sz="1500" b="1" dirty="0">
                <a:solidFill>
                  <a:srgbClr val="141414"/>
                </a:solidFill>
                <a:latin typeface="Aptos"/>
              </a:rPr>
              <a:t>System</a:t>
            </a:r>
          </a:p>
        </p:txBody>
      </p:sp>
      <p:sp>
        <p:nvSpPr>
          <p:cNvPr id="7" name="Rectangle 6"/>
          <p:cNvSpPr/>
          <p:nvPr/>
        </p:nvSpPr>
        <p:spPr>
          <a:xfrm>
            <a:off x="2423160" y="1353312"/>
            <a:ext cx="4160520" cy="768096"/>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8" name="TextBox 7"/>
          <p:cNvSpPr txBox="1"/>
          <p:nvPr/>
        </p:nvSpPr>
        <p:spPr>
          <a:xfrm>
            <a:off x="2468879" y="1426464"/>
            <a:ext cx="4069080" cy="323165"/>
          </a:xfrm>
          <a:prstGeom prst="rect">
            <a:avLst/>
          </a:prstGeom>
          <a:noFill/>
        </p:spPr>
        <p:txBody>
          <a:bodyPr wrap="square" anchor="t">
            <a:spAutoFit/>
          </a:bodyPr>
          <a:lstStyle/>
          <a:p>
            <a:pPr algn="l"/>
            <a:r>
              <a:rPr sz="1500" b="1">
                <a:solidFill>
                  <a:srgbClr val="141414"/>
                </a:solidFill>
                <a:latin typeface="Aptos"/>
              </a:rPr>
              <a:t>What it offers</a:t>
            </a:r>
          </a:p>
        </p:txBody>
      </p:sp>
      <p:sp>
        <p:nvSpPr>
          <p:cNvPr id="9" name="Rectangle 8"/>
          <p:cNvSpPr/>
          <p:nvPr/>
        </p:nvSpPr>
        <p:spPr>
          <a:xfrm>
            <a:off x="6583679" y="1353312"/>
            <a:ext cx="5029200" cy="768096"/>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0" name="TextBox 9"/>
          <p:cNvSpPr txBox="1"/>
          <p:nvPr/>
        </p:nvSpPr>
        <p:spPr>
          <a:xfrm>
            <a:off x="6629399" y="1426464"/>
            <a:ext cx="4937760" cy="323165"/>
          </a:xfrm>
          <a:prstGeom prst="rect">
            <a:avLst/>
          </a:prstGeom>
          <a:noFill/>
        </p:spPr>
        <p:txBody>
          <a:bodyPr wrap="square" anchor="t">
            <a:spAutoFit/>
          </a:bodyPr>
          <a:lstStyle/>
          <a:p>
            <a:pPr algn="l"/>
            <a:r>
              <a:rPr sz="1500" b="1">
                <a:solidFill>
                  <a:srgbClr val="141414"/>
                </a:solidFill>
                <a:latin typeface="Aptos"/>
              </a:rPr>
              <a:t>Limitation</a:t>
            </a:r>
          </a:p>
        </p:txBody>
      </p:sp>
      <p:sp>
        <p:nvSpPr>
          <p:cNvPr id="11" name="Rectangle 10"/>
          <p:cNvSpPr/>
          <p:nvPr/>
        </p:nvSpPr>
        <p:spPr>
          <a:xfrm>
            <a:off x="594360" y="2121408"/>
            <a:ext cx="18288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2" name="TextBox 11"/>
          <p:cNvSpPr txBox="1"/>
          <p:nvPr/>
        </p:nvSpPr>
        <p:spPr>
          <a:xfrm>
            <a:off x="640080" y="2176272"/>
            <a:ext cx="1737360" cy="323165"/>
          </a:xfrm>
          <a:prstGeom prst="rect">
            <a:avLst/>
          </a:prstGeom>
          <a:noFill/>
        </p:spPr>
        <p:txBody>
          <a:bodyPr wrap="square" anchor="t">
            <a:spAutoFit/>
          </a:bodyPr>
          <a:lstStyle/>
          <a:p>
            <a:pPr algn="l"/>
            <a:r>
              <a:rPr sz="1500" b="0" dirty="0">
                <a:solidFill>
                  <a:srgbClr val="141414"/>
                </a:solidFill>
                <a:latin typeface="Aptos"/>
              </a:rPr>
              <a:t>IMD Mausam</a:t>
            </a:r>
          </a:p>
        </p:txBody>
      </p:sp>
      <p:sp>
        <p:nvSpPr>
          <p:cNvPr id="13" name="Rectangle 12"/>
          <p:cNvSpPr/>
          <p:nvPr/>
        </p:nvSpPr>
        <p:spPr>
          <a:xfrm>
            <a:off x="2423160" y="2121408"/>
            <a:ext cx="416052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4" name="TextBox 13"/>
          <p:cNvSpPr txBox="1"/>
          <p:nvPr/>
        </p:nvSpPr>
        <p:spPr>
          <a:xfrm>
            <a:off x="2468879" y="2176272"/>
            <a:ext cx="4069080" cy="553998"/>
          </a:xfrm>
          <a:prstGeom prst="rect">
            <a:avLst/>
          </a:prstGeom>
          <a:noFill/>
        </p:spPr>
        <p:txBody>
          <a:bodyPr wrap="square" anchor="t">
            <a:spAutoFit/>
          </a:bodyPr>
          <a:lstStyle/>
          <a:p>
            <a:pPr algn="l"/>
            <a:r>
              <a:rPr sz="1500" b="0">
                <a:solidFill>
                  <a:srgbClr val="141414"/>
                </a:solidFill>
                <a:latin typeface="Aptos"/>
              </a:rPr>
              <a:t>Official weather observations, forecasts, warnings and services</a:t>
            </a:r>
          </a:p>
        </p:txBody>
      </p:sp>
      <p:sp>
        <p:nvSpPr>
          <p:cNvPr id="15" name="Rectangle 14"/>
          <p:cNvSpPr/>
          <p:nvPr/>
        </p:nvSpPr>
        <p:spPr>
          <a:xfrm>
            <a:off x="6583679" y="2121408"/>
            <a:ext cx="50292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6" name="TextBox 15"/>
          <p:cNvSpPr txBox="1"/>
          <p:nvPr/>
        </p:nvSpPr>
        <p:spPr>
          <a:xfrm>
            <a:off x="6629399" y="2176272"/>
            <a:ext cx="4937760" cy="553998"/>
          </a:xfrm>
          <a:prstGeom prst="rect">
            <a:avLst/>
          </a:prstGeom>
          <a:noFill/>
        </p:spPr>
        <p:txBody>
          <a:bodyPr wrap="square" anchor="t">
            <a:spAutoFit/>
          </a:bodyPr>
          <a:lstStyle/>
          <a:p>
            <a:pPr algn="l"/>
            <a:r>
              <a:rPr sz="1500" b="0">
                <a:solidFill>
                  <a:srgbClr val="141414"/>
                </a:solidFill>
                <a:latin typeface="Aptos"/>
              </a:rPr>
              <a:t>General-purpose; hyperlocal 0–3h ML fusion is not its primary focus</a:t>
            </a:r>
          </a:p>
        </p:txBody>
      </p:sp>
      <p:sp>
        <p:nvSpPr>
          <p:cNvPr id="17" name="Rectangle 16"/>
          <p:cNvSpPr/>
          <p:nvPr/>
        </p:nvSpPr>
        <p:spPr>
          <a:xfrm>
            <a:off x="594360" y="2889504"/>
            <a:ext cx="18288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18" name="TextBox 17"/>
          <p:cNvSpPr txBox="1"/>
          <p:nvPr/>
        </p:nvSpPr>
        <p:spPr>
          <a:xfrm>
            <a:off x="640080" y="2944368"/>
            <a:ext cx="1737360" cy="323165"/>
          </a:xfrm>
          <a:prstGeom prst="rect">
            <a:avLst/>
          </a:prstGeom>
          <a:noFill/>
        </p:spPr>
        <p:txBody>
          <a:bodyPr wrap="square" anchor="t">
            <a:spAutoFit/>
          </a:bodyPr>
          <a:lstStyle/>
          <a:p>
            <a:pPr algn="l"/>
            <a:r>
              <a:rPr sz="1500" b="0">
                <a:solidFill>
                  <a:srgbClr val="141414"/>
                </a:solidFill>
                <a:latin typeface="Aptos"/>
              </a:rPr>
              <a:t>Windy</a:t>
            </a:r>
          </a:p>
        </p:txBody>
      </p:sp>
      <p:sp>
        <p:nvSpPr>
          <p:cNvPr id="19" name="Rectangle 18"/>
          <p:cNvSpPr/>
          <p:nvPr/>
        </p:nvSpPr>
        <p:spPr>
          <a:xfrm>
            <a:off x="2423160" y="2889504"/>
            <a:ext cx="416052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0" name="TextBox 19"/>
          <p:cNvSpPr txBox="1"/>
          <p:nvPr/>
        </p:nvSpPr>
        <p:spPr>
          <a:xfrm>
            <a:off x="2468879" y="2944368"/>
            <a:ext cx="4069080" cy="553998"/>
          </a:xfrm>
          <a:prstGeom prst="rect">
            <a:avLst/>
          </a:prstGeom>
          <a:noFill/>
        </p:spPr>
        <p:txBody>
          <a:bodyPr wrap="square" anchor="t">
            <a:spAutoFit/>
          </a:bodyPr>
          <a:lstStyle/>
          <a:p>
            <a:pPr algn="l"/>
            <a:r>
              <a:rPr sz="1500" b="0">
                <a:solidFill>
                  <a:srgbClr val="141414"/>
                </a:solidFill>
                <a:latin typeface="Aptos"/>
              </a:rPr>
              <a:t>Interactive global weather maps using multiple forecast models</a:t>
            </a:r>
          </a:p>
        </p:txBody>
      </p:sp>
      <p:sp>
        <p:nvSpPr>
          <p:cNvPr id="21" name="Rectangle 20"/>
          <p:cNvSpPr/>
          <p:nvPr/>
        </p:nvSpPr>
        <p:spPr>
          <a:xfrm>
            <a:off x="6583679" y="2889504"/>
            <a:ext cx="50292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2" name="TextBox 21"/>
          <p:cNvSpPr txBox="1"/>
          <p:nvPr/>
        </p:nvSpPr>
        <p:spPr>
          <a:xfrm>
            <a:off x="6629399" y="2944368"/>
            <a:ext cx="4937760" cy="553998"/>
          </a:xfrm>
          <a:prstGeom prst="rect">
            <a:avLst/>
          </a:prstGeom>
          <a:noFill/>
        </p:spPr>
        <p:txBody>
          <a:bodyPr wrap="square" anchor="t">
            <a:spAutoFit/>
          </a:bodyPr>
          <a:lstStyle/>
          <a:p>
            <a:pPr algn="l"/>
            <a:r>
              <a:rPr sz="1500" b="0">
                <a:solidFill>
                  <a:srgbClr val="141414"/>
                </a:solidFill>
                <a:latin typeface="Aptos"/>
              </a:rPr>
              <a:t>Model-centric; local station fusion and custom regional nowcast workflow are limited</a:t>
            </a:r>
          </a:p>
        </p:txBody>
      </p:sp>
      <p:sp>
        <p:nvSpPr>
          <p:cNvPr id="23" name="Rectangle 22"/>
          <p:cNvSpPr/>
          <p:nvPr/>
        </p:nvSpPr>
        <p:spPr>
          <a:xfrm>
            <a:off x="594360" y="3657600"/>
            <a:ext cx="18288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4" name="TextBox 23"/>
          <p:cNvSpPr txBox="1"/>
          <p:nvPr/>
        </p:nvSpPr>
        <p:spPr>
          <a:xfrm>
            <a:off x="640080" y="3712463"/>
            <a:ext cx="1737360" cy="323165"/>
          </a:xfrm>
          <a:prstGeom prst="rect">
            <a:avLst/>
          </a:prstGeom>
          <a:noFill/>
        </p:spPr>
        <p:txBody>
          <a:bodyPr wrap="square" anchor="t">
            <a:spAutoFit/>
          </a:bodyPr>
          <a:lstStyle/>
          <a:p>
            <a:pPr algn="l"/>
            <a:r>
              <a:rPr sz="1500" b="0">
                <a:solidFill>
                  <a:srgbClr val="141414"/>
                </a:solidFill>
                <a:latin typeface="Aptos"/>
              </a:rPr>
              <a:t>RainViewer</a:t>
            </a:r>
          </a:p>
        </p:txBody>
      </p:sp>
      <p:sp>
        <p:nvSpPr>
          <p:cNvPr id="25" name="Rectangle 24"/>
          <p:cNvSpPr/>
          <p:nvPr/>
        </p:nvSpPr>
        <p:spPr>
          <a:xfrm>
            <a:off x="2423160" y="3657600"/>
            <a:ext cx="416052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6" name="TextBox 25"/>
          <p:cNvSpPr txBox="1"/>
          <p:nvPr/>
        </p:nvSpPr>
        <p:spPr>
          <a:xfrm>
            <a:off x="2468879" y="3712463"/>
            <a:ext cx="4069080" cy="553998"/>
          </a:xfrm>
          <a:prstGeom prst="rect">
            <a:avLst/>
          </a:prstGeom>
          <a:noFill/>
        </p:spPr>
        <p:txBody>
          <a:bodyPr wrap="square" anchor="t">
            <a:spAutoFit/>
          </a:bodyPr>
          <a:lstStyle/>
          <a:p>
            <a:pPr algn="l"/>
            <a:r>
              <a:rPr sz="1500" b="0">
                <a:solidFill>
                  <a:srgbClr val="141414"/>
                </a:solidFill>
                <a:latin typeface="Aptos"/>
              </a:rPr>
              <a:t>Radar-based precipitation visualization and short-term movement</a:t>
            </a:r>
          </a:p>
        </p:txBody>
      </p:sp>
      <p:sp>
        <p:nvSpPr>
          <p:cNvPr id="27" name="Rectangle 26"/>
          <p:cNvSpPr/>
          <p:nvPr/>
        </p:nvSpPr>
        <p:spPr>
          <a:xfrm>
            <a:off x="6583679" y="3657600"/>
            <a:ext cx="50292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28" name="TextBox 27"/>
          <p:cNvSpPr txBox="1"/>
          <p:nvPr/>
        </p:nvSpPr>
        <p:spPr>
          <a:xfrm>
            <a:off x="6629399" y="3712463"/>
            <a:ext cx="4937760" cy="553998"/>
          </a:xfrm>
          <a:prstGeom prst="rect">
            <a:avLst/>
          </a:prstGeom>
          <a:noFill/>
        </p:spPr>
        <p:txBody>
          <a:bodyPr wrap="square" anchor="t">
            <a:spAutoFit/>
          </a:bodyPr>
          <a:lstStyle/>
          <a:p>
            <a:pPr algn="l"/>
            <a:r>
              <a:rPr sz="1500" b="0">
                <a:solidFill>
                  <a:srgbClr val="141414"/>
                </a:solidFill>
                <a:latin typeface="Aptos"/>
              </a:rPr>
              <a:t>Coverage depends on radar availability; does not provide our planned multi-source station + ML pipeline</a:t>
            </a:r>
          </a:p>
        </p:txBody>
      </p:sp>
      <p:sp>
        <p:nvSpPr>
          <p:cNvPr id="30" name="TextBox 29"/>
          <p:cNvSpPr txBox="1"/>
          <p:nvPr/>
        </p:nvSpPr>
        <p:spPr>
          <a:xfrm>
            <a:off x="640080" y="4526278"/>
            <a:ext cx="1737360" cy="323165"/>
          </a:xfrm>
          <a:prstGeom prst="rect">
            <a:avLst/>
          </a:prstGeom>
          <a:noFill/>
        </p:spPr>
        <p:txBody>
          <a:bodyPr wrap="square" anchor="t">
            <a:spAutoFit/>
          </a:bodyPr>
          <a:lstStyle/>
          <a:p>
            <a:pPr algn="l"/>
            <a:endParaRPr sz="1500" b="0" dirty="0">
              <a:solidFill>
                <a:srgbClr val="141414"/>
              </a:solidFill>
              <a:latin typeface="Aptos"/>
            </a:endParaRPr>
          </a:p>
        </p:txBody>
      </p:sp>
      <p:sp>
        <p:nvSpPr>
          <p:cNvPr id="35" name="Rectangle 34"/>
          <p:cNvSpPr/>
          <p:nvPr/>
        </p:nvSpPr>
        <p:spPr>
          <a:xfrm>
            <a:off x="594360" y="4460271"/>
            <a:ext cx="18288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6" name="TextBox 35"/>
          <p:cNvSpPr txBox="1"/>
          <p:nvPr/>
        </p:nvSpPr>
        <p:spPr>
          <a:xfrm>
            <a:off x="640080" y="4515134"/>
            <a:ext cx="1737360" cy="553998"/>
          </a:xfrm>
          <a:prstGeom prst="rect">
            <a:avLst/>
          </a:prstGeom>
          <a:noFill/>
        </p:spPr>
        <p:txBody>
          <a:bodyPr wrap="square" anchor="t">
            <a:spAutoFit/>
          </a:bodyPr>
          <a:lstStyle/>
          <a:p>
            <a:pPr algn="l"/>
            <a:r>
              <a:rPr sz="1500" b="0" dirty="0">
                <a:solidFill>
                  <a:srgbClr val="141414"/>
                </a:solidFill>
                <a:latin typeface="Aptos"/>
              </a:rPr>
              <a:t>Ambient Weather Network</a:t>
            </a:r>
          </a:p>
        </p:txBody>
      </p:sp>
      <p:sp>
        <p:nvSpPr>
          <p:cNvPr id="37" name="Rectangle 36"/>
          <p:cNvSpPr/>
          <p:nvPr/>
        </p:nvSpPr>
        <p:spPr>
          <a:xfrm>
            <a:off x="2423160" y="4460271"/>
            <a:ext cx="416052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38" name="TextBox 37"/>
          <p:cNvSpPr txBox="1"/>
          <p:nvPr/>
        </p:nvSpPr>
        <p:spPr>
          <a:xfrm>
            <a:off x="2468879" y="4515134"/>
            <a:ext cx="4069080" cy="553998"/>
          </a:xfrm>
          <a:prstGeom prst="rect">
            <a:avLst/>
          </a:prstGeom>
          <a:noFill/>
        </p:spPr>
        <p:txBody>
          <a:bodyPr wrap="square" anchor="t">
            <a:spAutoFit/>
          </a:bodyPr>
          <a:lstStyle/>
          <a:p>
            <a:pPr algn="l"/>
            <a:r>
              <a:rPr sz="1500" b="0">
                <a:solidFill>
                  <a:srgbClr val="141414"/>
                </a:solidFill>
                <a:latin typeface="Aptos"/>
              </a:rPr>
              <a:t>Personal weather-station observations and community network</a:t>
            </a:r>
          </a:p>
        </p:txBody>
      </p:sp>
      <p:sp>
        <p:nvSpPr>
          <p:cNvPr id="39" name="Rectangle 38"/>
          <p:cNvSpPr/>
          <p:nvPr/>
        </p:nvSpPr>
        <p:spPr>
          <a:xfrm>
            <a:off x="6583679" y="4460271"/>
            <a:ext cx="5029200" cy="768096"/>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p>
        </p:txBody>
      </p:sp>
      <p:sp>
        <p:nvSpPr>
          <p:cNvPr id="40" name="TextBox 39"/>
          <p:cNvSpPr txBox="1"/>
          <p:nvPr/>
        </p:nvSpPr>
        <p:spPr>
          <a:xfrm>
            <a:off x="6629399" y="4515134"/>
            <a:ext cx="4937760" cy="553998"/>
          </a:xfrm>
          <a:prstGeom prst="rect">
            <a:avLst/>
          </a:prstGeom>
          <a:noFill/>
        </p:spPr>
        <p:txBody>
          <a:bodyPr wrap="square" anchor="t">
            <a:spAutoFit/>
          </a:bodyPr>
          <a:lstStyle/>
          <a:p>
            <a:pPr algn="l"/>
            <a:r>
              <a:rPr sz="1500" b="0" dirty="0">
                <a:solidFill>
                  <a:srgbClr val="141414"/>
                </a:solidFill>
                <a:latin typeface="Aptos"/>
              </a:rPr>
              <a:t>Observation-focused; does not itself provide the proposed 0–3h ML nowcasting workflow</a:t>
            </a:r>
          </a:p>
        </p:txBody>
      </p:sp>
      <p:sp>
        <p:nvSpPr>
          <p:cNvPr id="42" name="TextBox 41">
            <a:extLst>
              <a:ext uri="{FF2B5EF4-FFF2-40B4-BE49-F238E27FC236}">
                <a16:creationId xmlns:a16="http://schemas.microsoft.com/office/drawing/2014/main" id="{9BDE895C-F1E7-92F7-C3B2-B00A9C8C55D9}"/>
              </a:ext>
            </a:extLst>
          </p:cNvPr>
          <p:cNvSpPr txBox="1"/>
          <p:nvPr/>
        </p:nvSpPr>
        <p:spPr>
          <a:xfrm>
            <a:off x="493776" y="4855463"/>
            <a:ext cx="184731" cy="369332"/>
          </a:xfrm>
          <a:prstGeom prst="rect">
            <a:avLst/>
          </a:prstGeom>
          <a:noFill/>
        </p:spPr>
        <p:txBody>
          <a:bodyPr wrap="none" rtlCol="0">
            <a:spAutoFit/>
          </a:bodyPr>
          <a:lstStyle/>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Proposed System Overview</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463040"/>
            <a:ext cx="3429000" cy="20574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91640"/>
            <a:ext cx="3063240" cy="274320"/>
          </a:xfrm>
          <a:prstGeom prst="rect">
            <a:avLst/>
          </a:prstGeom>
          <a:noFill/>
        </p:spPr>
        <p:txBody>
          <a:bodyPr wrap="square" anchor="t">
            <a:spAutoFit/>
          </a:bodyPr>
          <a:lstStyle/>
          <a:p>
            <a:pPr algn="ctr"/>
            <a:r>
              <a:rPr sz="1300" b="1">
                <a:solidFill>
                  <a:srgbClr val="234869"/>
                </a:solidFill>
                <a:latin typeface="Aptos"/>
              </a:rPr>
              <a:t>LAYER 1 · OBSERVATION</a:t>
            </a:r>
          </a:p>
        </p:txBody>
      </p:sp>
      <p:sp>
        <p:nvSpPr>
          <p:cNvPr id="7" name="TextBox 6"/>
          <p:cNvSpPr txBox="1"/>
          <p:nvPr/>
        </p:nvSpPr>
        <p:spPr>
          <a:xfrm>
            <a:off x="960120" y="2148840"/>
            <a:ext cx="2880360" cy="640080"/>
          </a:xfrm>
          <a:prstGeom prst="rect">
            <a:avLst/>
          </a:prstGeom>
          <a:noFill/>
        </p:spPr>
        <p:txBody>
          <a:bodyPr wrap="square" anchor="t">
            <a:spAutoFit/>
          </a:bodyPr>
          <a:lstStyle/>
          <a:p>
            <a:pPr algn="ctr"/>
            <a:r>
              <a:rPr sz="1600" b="1">
                <a:solidFill>
                  <a:srgbClr val="141414"/>
                </a:solidFill>
                <a:latin typeface="Aptos"/>
              </a:rPr>
              <a:t>IMD AWS + PWS
Weather Underground / Ambient Weather</a:t>
            </a:r>
          </a:p>
        </p:txBody>
      </p:sp>
      <p:sp>
        <p:nvSpPr>
          <p:cNvPr id="8" name="TextBox 7"/>
          <p:cNvSpPr txBox="1"/>
          <p:nvPr/>
        </p:nvSpPr>
        <p:spPr>
          <a:xfrm>
            <a:off x="960120" y="2880360"/>
            <a:ext cx="2880360" cy="411480"/>
          </a:xfrm>
          <a:prstGeom prst="rect">
            <a:avLst/>
          </a:prstGeom>
          <a:noFill/>
        </p:spPr>
        <p:txBody>
          <a:bodyPr wrap="square" anchor="t">
            <a:spAutoFit/>
          </a:bodyPr>
          <a:lstStyle/>
          <a:p>
            <a:pPr algn="ctr"/>
            <a:r>
              <a:rPr sz="1100" b="0">
                <a:solidFill>
                  <a:srgbClr val="5A5A5A"/>
                </a:solidFill>
                <a:latin typeface="Aptos"/>
              </a:rPr>
              <a:t>Live station data
Quality control · alignment</a:t>
            </a:r>
          </a:p>
        </p:txBody>
      </p:sp>
      <p:cxnSp>
        <p:nvCxnSpPr>
          <p:cNvPr id="9" name="Connector 8"/>
          <p:cNvCxnSpPr/>
          <p:nvPr/>
        </p:nvCxnSpPr>
        <p:spPr>
          <a:xfrm>
            <a:off x="4142231" y="2468880"/>
            <a:ext cx="292609"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80560" y="1463040"/>
            <a:ext cx="3429000" cy="20574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691640"/>
            <a:ext cx="3063240" cy="274320"/>
          </a:xfrm>
          <a:prstGeom prst="rect">
            <a:avLst/>
          </a:prstGeom>
          <a:noFill/>
        </p:spPr>
        <p:txBody>
          <a:bodyPr wrap="square" anchor="t">
            <a:spAutoFit/>
          </a:bodyPr>
          <a:lstStyle/>
          <a:p>
            <a:pPr algn="ctr"/>
            <a:r>
              <a:rPr sz="1300" b="1">
                <a:solidFill>
                  <a:srgbClr val="234869"/>
                </a:solidFill>
                <a:latin typeface="Aptos"/>
              </a:rPr>
              <a:t>LAYER 2 · ML NOWCAST</a:t>
            </a:r>
          </a:p>
        </p:txBody>
      </p:sp>
      <p:sp>
        <p:nvSpPr>
          <p:cNvPr id="12" name="TextBox 11"/>
          <p:cNvSpPr txBox="1"/>
          <p:nvPr/>
        </p:nvSpPr>
        <p:spPr>
          <a:xfrm>
            <a:off x="4754880" y="2148840"/>
            <a:ext cx="2880360" cy="640080"/>
          </a:xfrm>
          <a:prstGeom prst="rect">
            <a:avLst/>
          </a:prstGeom>
          <a:noFill/>
        </p:spPr>
        <p:txBody>
          <a:bodyPr wrap="square" anchor="t">
            <a:spAutoFit/>
          </a:bodyPr>
          <a:lstStyle/>
          <a:p>
            <a:pPr algn="ctr"/>
            <a:r>
              <a:rPr sz="1600" b="1">
                <a:solidFill>
                  <a:srgbClr val="141414"/>
                </a:solidFill>
                <a:latin typeface="Aptos"/>
              </a:rPr>
              <a:t>RF / XGBoost baseline
LSTM → CNN/GNN-LSTM</a:t>
            </a:r>
          </a:p>
        </p:txBody>
      </p:sp>
      <p:sp>
        <p:nvSpPr>
          <p:cNvPr id="13" name="TextBox 12"/>
          <p:cNvSpPr txBox="1"/>
          <p:nvPr/>
        </p:nvSpPr>
        <p:spPr>
          <a:xfrm>
            <a:off x="4754880" y="2880360"/>
            <a:ext cx="2880360" cy="411480"/>
          </a:xfrm>
          <a:prstGeom prst="rect">
            <a:avLst/>
          </a:prstGeom>
          <a:noFill/>
        </p:spPr>
        <p:txBody>
          <a:bodyPr wrap="square" anchor="t">
            <a:spAutoFit/>
          </a:bodyPr>
          <a:lstStyle/>
          <a:p>
            <a:pPr algn="ctr"/>
            <a:r>
              <a:rPr sz="1100" b="0">
                <a:solidFill>
                  <a:srgbClr val="5A5A5A"/>
                </a:solidFill>
                <a:latin typeface="Aptos"/>
              </a:rPr>
              <a:t>0–3h rainfall
Prediction + confidence</a:t>
            </a:r>
          </a:p>
        </p:txBody>
      </p:sp>
      <p:cxnSp>
        <p:nvCxnSpPr>
          <p:cNvPr id="14" name="Connector 13"/>
          <p:cNvCxnSpPr/>
          <p:nvPr/>
        </p:nvCxnSpPr>
        <p:spPr>
          <a:xfrm>
            <a:off x="7936992" y="2468880"/>
            <a:ext cx="292608"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75320" y="1463040"/>
            <a:ext cx="3429000" cy="20574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58200" y="1691640"/>
            <a:ext cx="3063240" cy="274320"/>
          </a:xfrm>
          <a:prstGeom prst="rect">
            <a:avLst/>
          </a:prstGeom>
          <a:noFill/>
        </p:spPr>
        <p:txBody>
          <a:bodyPr wrap="square" anchor="t">
            <a:spAutoFit/>
          </a:bodyPr>
          <a:lstStyle/>
          <a:p>
            <a:pPr algn="ctr"/>
            <a:r>
              <a:rPr sz="1300" b="1">
                <a:solidFill>
                  <a:srgbClr val="234869"/>
                </a:solidFill>
                <a:latin typeface="Aptos"/>
              </a:rPr>
              <a:t>LAYER 3 · NWP VISUALIZATION</a:t>
            </a:r>
          </a:p>
        </p:txBody>
      </p:sp>
      <p:sp>
        <p:nvSpPr>
          <p:cNvPr id="17" name="TextBox 16"/>
          <p:cNvSpPr txBox="1"/>
          <p:nvPr/>
        </p:nvSpPr>
        <p:spPr>
          <a:xfrm>
            <a:off x="8549640" y="2148840"/>
            <a:ext cx="2880360" cy="640080"/>
          </a:xfrm>
          <a:prstGeom prst="rect">
            <a:avLst/>
          </a:prstGeom>
          <a:noFill/>
        </p:spPr>
        <p:txBody>
          <a:bodyPr wrap="square" anchor="t">
            <a:spAutoFit/>
          </a:bodyPr>
          <a:lstStyle/>
          <a:p>
            <a:pPr algn="ctr"/>
            <a:r>
              <a:rPr sz="1600" b="1">
                <a:solidFill>
                  <a:srgbClr val="141414"/>
                </a:solidFill>
                <a:latin typeface="Aptos"/>
              </a:rPr>
              <a:t>ECMWF GRIB2
cfgrib/xarray → GeoTIFF</a:t>
            </a:r>
          </a:p>
        </p:txBody>
      </p:sp>
      <p:sp>
        <p:nvSpPr>
          <p:cNvPr id="18" name="TextBox 17"/>
          <p:cNvSpPr txBox="1"/>
          <p:nvPr/>
        </p:nvSpPr>
        <p:spPr>
          <a:xfrm>
            <a:off x="8549640" y="2880360"/>
            <a:ext cx="2880360" cy="411480"/>
          </a:xfrm>
          <a:prstGeom prst="rect">
            <a:avLst/>
          </a:prstGeom>
          <a:noFill/>
        </p:spPr>
        <p:txBody>
          <a:bodyPr wrap="square" anchor="t">
            <a:spAutoFit/>
          </a:bodyPr>
          <a:lstStyle/>
          <a:p>
            <a:pPr algn="ctr"/>
            <a:r>
              <a:rPr sz="1100" b="0">
                <a:solidFill>
                  <a:srgbClr val="5A5A5A"/>
                </a:solidFill>
                <a:latin typeface="Aptos"/>
              </a:rPr>
              <a:t>Broader forecast context
Interactive map</a:t>
            </a:r>
          </a:p>
        </p:txBody>
      </p:sp>
      <p:sp>
        <p:nvSpPr>
          <p:cNvPr id="19" name="Rounded Rectangle 18"/>
          <p:cNvSpPr/>
          <p:nvPr/>
        </p:nvSpPr>
        <p:spPr>
          <a:xfrm>
            <a:off x="1005840" y="4069080"/>
            <a:ext cx="10149840" cy="1188720"/>
          </a:xfrm>
          <a:prstGeom prst="roundRect">
            <a:avLst/>
          </a:prstGeom>
          <a:solidFill>
            <a:srgbClr val="E8EE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34440" y="4297680"/>
            <a:ext cx="2194560" cy="274320"/>
          </a:xfrm>
          <a:prstGeom prst="rect">
            <a:avLst/>
          </a:prstGeom>
          <a:noFill/>
        </p:spPr>
        <p:txBody>
          <a:bodyPr wrap="square" anchor="t">
            <a:spAutoFit/>
          </a:bodyPr>
          <a:lstStyle/>
          <a:p>
            <a:pPr algn="l"/>
            <a:r>
              <a:rPr sz="1500" b="1">
                <a:solidFill>
                  <a:srgbClr val="141414"/>
                </a:solidFill>
                <a:latin typeface="Aptos"/>
              </a:rPr>
              <a:t>DASHBOARD</a:t>
            </a:r>
          </a:p>
        </p:txBody>
      </p:sp>
      <p:sp>
        <p:nvSpPr>
          <p:cNvPr id="21" name="TextBox 20"/>
          <p:cNvSpPr txBox="1"/>
          <p:nvPr/>
        </p:nvSpPr>
        <p:spPr>
          <a:xfrm>
            <a:off x="3246120" y="4279392"/>
            <a:ext cx="7406640" cy="594360"/>
          </a:xfrm>
          <a:prstGeom prst="rect">
            <a:avLst/>
          </a:prstGeom>
          <a:noFill/>
        </p:spPr>
        <p:txBody>
          <a:bodyPr wrap="square" anchor="t">
            <a:spAutoFit/>
          </a:bodyPr>
          <a:lstStyle/>
          <a:p>
            <a:pPr algn="l"/>
            <a:r>
              <a:rPr sz="1300" b="0">
                <a:solidFill>
                  <a:srgbClr val="141414"/>
                </a:solidFill>
                <a:latin typeface="Aptos"/>
              </a:rPr>
              <a:t>Live station cards · 30s auto-refresh · TrendChart · search/filter · nowcast display · NWP layers · blog · authentication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System Architecture</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14400" y="5532120"/>
            <a:ext cx="9966960" cy="365760"/>
          </a:xfrm>
          <a:prstGeom prst="rect">
            <a:avLst/>
          </a:prstGeom>
          <a:noFill/>
        </p:spPr>
        <p:txBody>
          <a:bodyPr wrap="square" anchor="t">
            <a:spAutoFit/>
          </a:bodyPr>
          <a:lstStyle/>
          <a:p>
            <a:pPr algn="ctr"/>
            <a:r>
              <a:rPr sz="1200" b="1">
                <a:solidFill>
                  <a:srgbClr val="234869"/>
                </a:solidFill>
                <a:latin typeface="Aptos"/>
              </a:rPr>
              <a:t>Parallel NWP branch joins the web map while the ML branch serves the 0–3h prediction.</a:t>
            </a:r>
          </a:p>
        </p:txBody>
      </p:sp>
      <p:pic>
        <p:nvPicPr>
          <p:cNvPr id="44" name="Picture 43">
            <a:extLst>
              <a:ext uri="{FF2B5EF4-FFF2-40B4-BE49-F238E27FC236}">
                <a16:creationId xmlns:a16="http://schemas.microsoft.com/office/drawing/2014/main" id="{7AD28202-DCA1-86D3-E08F-21F8D7DC3546}"/>
              </a:ext>
            </a:extLst>
          </p:cNvPr>
          <p:cNvPicPr>
            <a:picLocks noChangeAspect="1"/>
          </p:cNvPicPr>
          <p:nvPr/>
        </p:nvPicPr>
        <p:blipFill>
          <a:blip r:embed="rId3"/>
          <a:srcRect t="6262" b="7570"/>
          <a:stretch>
            <a:fillRect/>
          </a:stretch>
        </p:blipFill>
        <p:spPr>
          <a:xfrm>
            <a:off x="914400" y="1239012"/>
            <a:ext cx="10287000" cy="46588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Module 1: Data Acquisition &amp; Storage</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17320"/>
            <a:ext cx="5074920" cy="4480560"/>
          </a:xfrm>
          <a:prstGeom prst="rect">
            <a:avLst/>
          </a:prstGeom>
          <a:noFill/>
        </p:spPr>
        <p:txBody>
          <a:bodyPr wrap="square">
            <a:spAutoFit/>
          </a:bodyPr>
          <a:lstStyle/>
          <a:p>
            <a:pPr>
              <a:spcAft>
                <a:spcPts val="600"/>
              </a:spcAft>
              <a:defRPr sz="1400">
                <a:solidFill>
                  <a:srgbClr val="141414"/>
                </a:solidFill>
                <a:latin typeface="Aptos"/>
              </a:defRPr>
            </a:pPr>
            <a:r>
              <a:t>• APScheduler triggers the ingestion workflow at a 60-second interval.</a:t>
            </a:r>
          </a:p>
          <a:p>
            <a:pPr>
              <a:spcAft>
                <a:spcPts val="600"/>
              </a:spcAft>
              <a:defRPr sz="1400">
                <a:solidFill>
                  <a:srgbClr val="141414"/>
                </a:solidFill>
                <a:latin typeface="Aptos"/>
              </a:defRPr>
            </a:pPr>
            <a:r>
              <a:t>• Three adapter concepts normalize station-provider responses into one internal schema.</a:t>
            </a:r>
          </a:p>
          <a:p>
            <a:pPr>
              <a:spcAft>
                <a:spcPts val="600"/>
              </a:spcAft>
              <a:defRPr sz="1400">
                <a:solidFill>
                  <a:srgbClr val="141414"/>
                </a:solidFill>
                <a:latin typeface="Aptos"/>
              </a:defRPr>
            </a:pPr>
            <a:r>
              <a:t>• Current Phase 1 includes six live PWS stations in Puducherry/Auroville through Weather Underground API.</a:t>
            </a:r>
          </a:p>
          <a:p>
            <a:pPr>
              <a:spcAft>
                <a:spcPts val="600"/>
              </a:spcAft>
              <a:defRPr sz="1400">
                <a:solidFill>
                  <a:srgbClr val="141414"/>
                </a:solidFill>
                <a:latin typeface="Aptos"/>
              </a:defRPr>
            </a:pPr>
            <a:r>
              <a:t>• Deduplication prevents repeated readings from producing duplicate database records.</a:t>
            </a:r>
          </a:p>
          <a:p>
            <a:pPr>
              <a:spcAft>
                <a:spcPts val="600"/>
              </a:spcAft>
              <a:defRPr sz="1400">
                <a:solidFill>
                  <a:srgbClr val="141414"/>
                </a:solidFill>
                <a:latin typeface="Aptos"/>
              </a:defRPr>
            </a:pPr>
            <a:r>
              <a:t>• A 48-hour backfill mechanism supports recovery after service interruption or deployment restart.</a:t>
            </a:r>
          </a:p>
          <a:p>
            <a:pPr>
              <a:spcAft>
                <a:spcPts val="600"/>
              </a:spcAft>
              <a:defRPr sz="1400">
                <a:solidFill>
                  <a:srgbClr val="141414"/>
                </a:solidFill>
                <a:latin typeface="Aptos"/>
              </a:defRPr>
            </a:pPr>
            <a:r>
              <a:t>• SQLAlchemy async ORM supports the development SQLite database and production PostgreSQL path.</a:t>
            </a:r>
          </a:p>
        </p:txBody>
      </p:sp>
      <p:sp>
        <p:nvSpPr>
          <p:cNvPr id="6" name="Rounded Rectangle 5"/>
          <p:cNvSpPr/>
          <p:nvPr/>
        </p:nvSpPr>
        <p:spPr>
          <a:xfrm>
            <a:off x="6080760" y="1417320"/>
            <a:ext cx="5257800" cy="43891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645920"/>
            <a:ext cx="4754880" cy="274320"/>
          </a:xfrm>
          <a:prstGeom prst="rect">
            <a:avLst/>
          </a:prstGeom>
          <a:noFill/>
        </p:spPr>
        <p:txBody>
          <a:bodyPr wrap="square" anchor="t">
            <a:spAutoFit/>
          </a:bodyPr>
          <a:lstStyle/>
          <a:p>
            <a:pPr algn="ctr"/>
            <a:r>
              <a:rPr sz="1500" b="1">
                <a:solidFill>
                  <a:srgbClr val="234869"/>
                </a:solidFill>
                <a:latin typeface="Aptos"/>
              </a:rPr>
              <a:t>DATABASE TABLES</a:t>
            </a:r>
          </a:p>
        </p:txBody>
      </p:sp>
      <p:sp>
        <p:nvSpPr>
          <p:cNvPr id="8" name="Rounded Rectangle 7"/>
          <p:cNvSpPr/>
          <p:nvPr/>
        </p:nvSpPr>
        <p:spPr>
          <a:xfrm>
            <a:off x="6400800" y="2148840"/>
            <a:ext cx="1645920" cy="50292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276856"/>
            <a:ext cx="1645920" cy="228600"/>
          </a:xfrm>
          <a:prstGeom prst="rect">
            <a:avLst/>
          </a:prstGeom>
          <a:noFill/>
        </p:spPr>
        <p:txBody>
          <a:bodyPr wrap="square" anchor="t">
            <a:spAutoFit/>
          </a:bodyPr>
          <a:lstStyle/>
          <a:p>
            <a:pPr algn="ctr"/>
            <a:r>
              <a:rPr sz="1000" b="1">
                <a:solidFill>
                  <a:srgbClr val="141414"/>
                </a:solidFill>
                <a:latin typeface="Aptos"/>
              </a:rPr>
              <a:t>Station</a:t>
            </a:r>
          </a:p>
        </p:txBody>
      </p:sp>
      <p:cxnSp>
        <p:nvCxnSpPr>
          <p:cNvPr id="10" name="Connector 9"/>
          <p:cNvCxnSpPr/>
          <p:nvPr/>
        </p:nvCxnSpPr>
        <p:spPr>
          <a:xfrm>
            <a:off x="8046720" y="2404872"/>
            <a:ext cx="41148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549640" y="2240280"/>
            <a:ext cx="2240280" cy="365760"/>
          </a:xfrm>
          <a:prstGeom prst="rect">
            <a:avLst/>
          </a:prstGeom>
          <a:noFill/>
        </p:spPr>
        <p:txBody>
          <a:bodyPr wrap="square" anchor="t">
            <a:spAutoFit/>
          </a:bodyPr>
          <a:lstStyle/>
          <a:p>
            <a:pPr algn="l"/>
            <a:r>
              <a:rPr sz="1000" b="0">
                <a:solidFill>
                  <a:srgbClr val="141414"/>
                </a:solidFill>
                <a:latin typeface="Aptos"/>
              </a:rPr>
              <a:t>metadata + coordinates</a:t>
            </a:r>
          </a:p>
        </p:txBody>
      </p:sp>
      <p:sp>
        <p:nvSpPr>
          <p:cNvPr id="12" name="Rounded Rectangle 11"/>
          <p:cNvSpPr/>
          <p:nvPr/>
        </p:nvSpPr>
        <p:spPr>
          <a:xfrm>
            <a:off x="6400800" y="2862072"/>
            <a:ext cx="1645920" cy="50292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990088"/>
            <a:ext cx="1645920" cy="228600"/>
          </a:xfrm>
          <a:prstGeom prst="rect">
            <a:avLst/>
          </a:prstGeom>
          <a:noFill/>
        </p:spPr>
        <p:txBody>
          <a:bodyPr wrap="square" anchor="t">
            <a:spAutoFit/>
          </a:bodyPr>
          <a:lstStyle/>
          <a:p>
            <a:pPr algn="ctr"/>
            <a:r>
              <a:rPr sz="1000" b="1">
                <a:solidFill>
                  <a:srgbClr val="141414"/>
                </a:solidFill>
                <a:latin typeface="Aptos"/>
              </a:rPr>
              <a:t>WeatherReading</a:t>
            </a:r>
          </a:p>
        </p:txBody>
      </p:sp>
      <p:cxnSp>
        <p:nvCxnSpPr>
          <p:cNvPr id="14" name="Connector 13"/>
          <p:cNvCxnSpPr/>
          <p:nvPr/>
        </p:nvCxnSpPr>
        <p:spPr>
          <a:xfrm>
            <a:off x="8046720" y="3118104"/>
            <a:ext cx="41148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549640" y="2953512"/>
            <a:ext cx="2240280" cy="365760"/>
          </a:xfrm>
          <a:prstGeom prst="rect">
            <a:avLst/>
          </a:prstGeom>
          <a:noFill/>
        </p:spPr>
        <p:txBody>
          <a:bodyPr wrap="square" anchor="t">
            <a:spAutoFit/>
          </a:bodyPr>
          <a:lstStyle/>
          <a:p>
            <a:pPr algn="l"/>
            <a:r>
              <a:rPr sz="1000" b="0">
                <a:solidFill>
                  <a:srgbClr val="141414"/>
                </a:solidFill>
                <a:latin typeface="Aptos"/>
              </a:rPr>
              <a:t>timestamped observations</a:t>
            </a:r>
          </a:p>
        </p:txBody>
      </p:sp>
      <p:sp>
        <p:nvSpPr>
          <p:cNvPr id="16" name="Rounded Rectangle 15"/>
          <p:cNvSpPr/>
          <p:nvPr/>
        </p:nvSpPr>
        <p:spPr>
          <a:xfrm>
            <a:off x="6400800" y="3575304"/>
            <a:ext cx="1645920" cy="50292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3703320"/>
            <a:ext cx="1645920" cy="228600"/>
          </a:xfrm>
          <a:prstGeom prst="rect">
            <a:avLst/>
          </a:prstGeom>
          <a:noFill/>
        </p:spPr>
        <p:txBody>
          <a:bodyPr wrap="square" anchor="t">
            <a:spAutoFit/>
          </a:bodyPr>
          <a:lstStyle/>
          <a:p>
            <a:pPr algn="ctr"/>
            <a:r>
              <a:rPr sz="1000" b="1">
                <a:solidFill>
                  <a:srgbClr val="141414"/>
                </a:solidFill>
                <a:latin typeface="Aptos"/>
              </a:rPr>
              <a:t>NowcastPrediction</a:t>
            </a:r>
          </a:p>
        </p:txBody>
      </p:sp>
      <p:cxnSp>
        <p:nvCxnSpPr>
          <p:cNvPr id="18" name="Connector 17"/>
          <p:cNvCxnSpPr/>
          <p:nvPr/>
        </p:nvCxnSpPr>
        <p:spPr>
          <a:xfrm>
            <a:off x="8046720" y="3831336"/>
            <a:ext cx="41148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549640" y="3666744"/>
            <a:ext cx="2240280" cy="365760"/>
          </a:xfrm>
          <a:prstGeom prst="rect">
            <a:avLst/>
          </a:prstGeom>
          <a:noFill/>
        </p:spPr>
        <p:txBody>
          <a:bodyPr wrap="square" anchor="t">
            <a:spAutoFit/>
          </a:bodyPr>
          <a:lstStyle/>
          <a:p>
            <a:pPr algn="l"/>
            <a:r>
              <a:rPr sz="1000" b="0">
                <a:solidFill>
                  <a:srgbClr val="141414"/>
                </a:solidFill>
                <a:latin typeface="Aptos"/>
              </a:rPr>
              <a:t>future rainfall predictions</a:t>
            </a:r>
          </a:p>
        </p:txBody>
      </p:sp>
      <p:sp>
        <p:nvSpPr>
          <p:cNvPr id="20" name="Rounded Rectangle 19"/>
          <p:cNvSpPr/>
          <p:nvPr/>
        </p:nvSpPr>
        <p:spPr>
          <a:xfrm>
            <a:off x="6400800" y="4288536"/>
            <a:ext cx="1645920" cy="50292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4416551"/>
            <a:ext cx="1645920" cy="228600"/>
          </a:xfrm>
          <a:prstGeom prst="rect">
            <a:avLst/>
          </a:prstGeom>
          <a:noFill/>
        </p:spPr>
        <p:txBody>
          <a:bodyPr wrap="square" anchor="t">
            <a:spAutoFit/>
          </a:bodyPr>
          <a:lstStyle/>
          <a:p>
            <a:pPr algn="ctr"/>
            <a:r>
              <a:rPr sz="1000" b="1">
                <a:solidFill>
                  <a:srgbClr val="141414"/>
                </a:solidFill>
                <a:latin typeface="Aptos"/>
              </a:rPr>
              <a:t>BlogPost</a:t>
            </a:r>
          </a:p>
        </p:txBody>
      </p:sp>
      <p:cxnSp>
        <p:nvCxnSpPr>
          <p:cNvPr id="22" name="Connector 21"/>
          <p:cNvCxnSpPr/>
          <p:nvPr/>
        </p:nvCxnSpPr>
        <p:spPr>
          <a:xfrm>
            <a:off x="8046720" y="4544568"/>
            <a:ext cx="41148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49640" y="4379975"/>
            <a:ext cx="2240280" cy="365760"/>
          </a:xfrm>
          <a:prstGeom prst="rect">
            <a:avLst/>
          </a:prstGeom>
          <a:noFill/>
        </p:spPr>
        <p:txBody>
          <a:bodyPr wrap="square" anchor="t">
            <a:spAutoFit/>
          </a:bodyPr>
          <a:lstStyle/>
          <a:p>
            <a:pPr algn="l"/>
            <a:r>
              <a:rPr sz="1000" b="0">
                <a:solidFill>
                  <a:srgbClr val="141414"/>
                </a:solidFill>
                <a:latin typeface="Aptos"/>
              </a:rPr>
              <a:t>content / publishing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Module 2: Data Processing &amp; Feature Engineering</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074920" cy="15087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600200"/>
            <a:ext cx="2286000" cy="274320"/>
          </a:xfrm>
          <a:prstGeom prst="rect">
            <a:avLst/>
          </a:prstGeom>
          <a:noFill/>
        </p:spPr>
        <p:txBody>
          <a:bodyPr wrap="square" anchor="t">
            <a:spAutoFit/>
          </a:bodyPr>
          <a:lstStyle/>
          <a:p>
            <a:pPr algn="l"/>
            <a:r>
              <a:rPr sz="1500" b="1">
                <a:solidFill>
                  <a:srgbClr val="234869"/>
                </a:solidFill>
                <a:latin typeface="Aptos"/>
              </a:rPr>
              <a:t>pressure_drop_rate</a:t>
            </a:r>
          </a:p>
        </p:txBody>
      </p:sp>
      <p:sp>
        <p:nvSpPr>
          <p:cNvPr id="7" name="TextBox 6"/>
          <p:cNvSpPr txBox="1"/>
          <p:nvPr/>
        </p:nvSpPr>
        <p:spPr>
          <a:xfrm>
            <a:off x="932688" y="2011680"/>
            <a:ext cx="4572000" cy="658368"/>
          </a:xfrm>
          <a:prstGeom prst="rect">
            <a:avLst/>
          </a:prstGeom>
          <a:noFill/>
        </p:spPr>
        <p:txBody>
          <a:bodyPr wrap="square" anchor="t">
            <a:spAutoFit/>
          </a:bodyPr>
          <a:lstStyle/>
          <a:p>
            <a:pPr algn="l"/>
            <a:r>
              <a:rPr sz="1150" b="0">
                <a:solidFill>
                  <a:srgbClr val="141414"/>
                </a:solidFill>
                <a:latin typeface="Aptos"/>
              </a:rPr>
              <a:t>Rate of pressure change over time; can capture rapidly evolving atmospheric conditions.</a:t>
            </a:r>
          </a:p>
        </p:txBody>
      </p:sp>
      <p:sp>
        <p:nvSpPr>
          <p:cNvPr id="8" name="Rounded Rectangle 7"/>
          <p:cNvSpPr/>
          <p:nvPr/>
        </p:nvSpPr>
        <p:spPr>
          <a:xfrm>
            <a:off x="6217920" y="1417320"/>
            <a:ext cx="5074920" cy="15087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9088" y="1600200"/>
            <a:ext cx="2286000" cy="274320"/>
          </a:xfrm>
          <a:prstGeom prst="rect">
            <a:avLst/>
          </a:prstGeom>
          <a:noFill/>
        </p:spPr>
        <p:txBody>
          <a:bodyPr wrap="square" anchor="t">
            <a:spAutoFit/>
          </a:bodyPr>
          <a:lstStyle/>
          <a:p>
            <a:pPr algn="l"/>
            <a:r>
              <a:rPr sz="1500" b="1">
                <a:solidFill>
                  <a:srgbClr val="234869"/>
                </a:solidFill>
                <a:latin typeface="Aptos"/>
              </a:rPr>
              <a:t>humidity_delta</a:t>
            </a:r>
          </a:p>
        </p:txBody>
      </p:sp>
      <p:sp>
        <p:nvSpPr>
          <p:cNvPr id="10" name="TextBox 9"/>
          <p:cNvSpPr txBox="1"/>
          <p:nvPr/>
        </p:nvSpPr>
        <p:spPr>
          <a:xfrm>
            <a:off x="6419088" y="2011680"/>
            <a:ext cx="4572000" cy="658368"/>
          </a:xfrm>
          <a:prstGeom prst="rect">
            <a:avLst/>
          </a:prstGeom>
          <a:noFill/>
        </p:spPr>
        <p:txBody>
          <a:bodyPr wrap="square" anchor="t">
            <a:spAutoFit/>
          </a:bodyPr>
          <a:lstStyle/>
          <a:p>
            <a:pPr algn="l"/>
            <a:r>
              <a:rPr sz="1150" b="0">
                <a:solidFill>
                  <a:srgbClr val="141414"/>
                </a:solidFill>
                <a:latin typeface="Aptos"/>
              </a:rPr>
              <a:t>Short-term humidity change used as a signal of evolving moisture conditions.</a:t>
            </a:r>
          </a:p>
        </p:txBody>
      </p:sp>
      <p:sp>
        <p:nvSpPr>
          <p:cNvPr id="11" name="Rounded Rectangle 10"/>
          <p:cNvSpPr/>
          <p:nvPr/>
        </p:nvSpPr>
        <p:spPr>
          <a:xfrm>
            <a:off x="731520" y="3337560"/>
            <a:ext cx="5074920" cy="15087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520440"/>
            <a:ext cx="2286000" cy="274320"/>
          </a:xfrm>
          <a:prstGeom prst="rect">
            <a:avLst/>
          </a:prstGeom>
          <a:noFill/>
        </p:spPr>
        <p:txBody>
          <a:bodyPr wrap="square" anchor="t">
            <a:spAutoFit/>
          </a:bodyPr>
          <a:lstStyle/>
          <a:p>
            <a:pPr algn="l"/>
            <a:r>
              <a:rPr sz="1500" b="1">
                <a:solidFill>
                  <a:srgbClr val="234869"/>
                </a:solidFill>
                <a:latin typeface="Aptos"/>
              </a:rPr>
              <a:t>dew_point_spread</a:t>
            </a:r>
          </a:p>
        </p:txBody>
      </p:sp>
      <p:sp>
        <p:nvSpPr>
          <p:cNvPr id="13" name="TextBox 12"/>
          <p:cNvSpPr txBox="1"/>
          <p:nvPr/>
        </p:nvSpPr>
        <p:spPr>
          <a:xfrm>
            <a:off x="932688" y="3931920"/>
            <a:ext cx="4572000" cy="658368"/>
          </a:xfrm>
          <a:prstGeom prst="rect">
            <a:avLst/>
          </a:prstGeom>
          <a:noFill/>
        </p:spPr>
        <p:txBody>
          <a:bodyPr wrap="square" anchor="t">
            <a:spAutoFit/>
          </a:bodyPr>
          <a:lstStyle/>
          <a:p>
            <a:pPr algn="l"/>
            <a:r>
              <a:rPr sz="1150" b="0">
                <a:solidFill>
                  <a:srgbClr val="141414"/>
                </a:solidFill>
                <a:latin typeface="Aptos"/>
              </a:rPr>
              <a:t>Difference between temperature and dew point, representing near-surface moisture state.</a:t>
            </a:r>
          </a:p>
        </p:txBody>
      </p:sp>
      <p:sp>
        <p:nvSpPr>
          <p:cNvPr id="14" name="Rounded Rectangle 13"/>
          <p:cNvSpPr/>
          <p:nvPr/>
        </p:nvSpPr>
        <p:spPr>
          <a:xfrm>
            <a:off x="6217920" y="3337560"/>
            <a:ext cx="5074920" cy="15087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19088" y="3520440"/>
            <a:ext cx="2286000" cy="274320"/>
          </a:xfrm>
          <a:prstGeom prst="rect">
            <a:avLst/>
          </a:prstGeom>
          <a:noFill/>
        </p:spPr>
        <p:txBody>
          <a:bodyPr wrap="square" anchor="t">
            <a:spAutoFit/>
          </a:bodyPr>
          <a:lstStyle/>
          <a:p>
            <a:pPr algn="l"/>
            <a:r>
              <a:rPr sz="1500" b="1">
                <a:solidFill>
                  <a:srgbClr val="234869"/>
                </a:solidFill>
                <a:latin typeface="Aptos"/>
              </a:rPr>
              <a:t>spatial neighbor features</a:t>
            </a:r>
          </a:p>
        </p:txBody>
      </p:sp>
      <p:sp>
        <p:nvSpPr>
          <p:cNvPr id="16" name="TextBox 15"/>
          <p:cNvSpPr txBox="1"/>
          <p:nvPr/>
        </p:nvSpPr>
        <p:spPr>
          <a:xfrm>
            <a:off x="6419088" y="3931920"/>
            <a:ext cx="4572000" cy="658368"/>
          </a:xfrm>
          <a:prstGeom prst="rect">
            <a:avLst/>
          </a:prstGeom>
          <a:noFill/>
        </p:spPr>
        <p:txBody>
          <a:bodyPr wrap="square" anchor="t">
            <a:spAutoFit/>
          </a:bodyPr>
          <a:lstStyle/>
          <a:p>
            <a:pPr algn="l"/>
            <a:r>
              <a:rPr sz="1150" b="0">
                <a:solidFill>
                  <a:srgbClr val="141414"/>
                </a:solidFill>
                <a:latin typeface="Aptos"/>
              </a:rPr>
              <a:t>Nearby-station rainfall / weather context helps represent spatial structure around a target station.</a:t>
            </a:r>
          </a:p>
        </p:txBody>
      </p:sp>
      <p:sp>
        <p:nvSpPr>
          <p:cNvPr id="17" name="Rounded Rectangle 16"/>
          <p:cNvSpPr/>
          <p:nvPr/>
        </p:nvSpPr>
        <p:spPr>
          <a:xfrm>
            <a:off x="1280160" y="5440680"/>
            <a:ext cx="9418320" cy="45720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80160" y="5559552"/>
            <a:ext cx="9418320" cy="182880"/>
          </a:xfrm>
          <a:prstGeom prst="rect">
            <a:avLst/>
          </a:prstGeom>
          <a:noFill/>
        </p:spPr>
        <p:txBody>
          <a:bodyPr wrap="square" anchor="t">
            <a:spAutoFit/>
          </a:bodyPr>
          <a:lstStyle/>
          <a:p>
            <a:pPr algn="ctr"/>
            <a:r>
              <a:rPr sz="1050" b="1">
                <a:solidFill>
                  <a:srgbClr val="141414"/>
                </a:solidFill>
                <a:latin typeface="Aptos"/>
              </a:rPr>
              <a:t>Raw readings → cleaning → timestamp alignment → missing-value handling → engineered features → model-ready sequences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Module 3: AI/ML Nowcasting Engine (Phase 2)</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554480"/>
            <a:ext cx="2377440" cy="11430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764792"/>
            <a:ext cx="2377440" cy="228600"/>
          </a:xfrm>
          <a:prstGeom prst="rect">
            <a:avLst/>
          </a:prstGeom>
          <a:noFill/>
        </p:spPr>
        <p:txBody>
          <a:bodyPr wrap="square" anchor="t">
            <a:spAutoFit/>
          </a:bodyPr>
          <a:lstStyle/>
          <a:p>
            <a:pPr algn="ctr"/>
            <a:r>
              <a:rPr sz="1200" b="1">
                <a:solidFill>
                  <a:srgbClr val="234869"/>
                </a:solidFill>
                <a:latin typeface="Aptos"/>
              </a:rPr>
              <a:t>BASELINE</a:t>
            </a:r>
          </a:p>
        </p:txBody>
      </p:sp>
      <p:sp>
        <p:nvSpPr>
          <p:cNvPr id="7" name="TextBox 6"/>
          <p:cNvSpPr txBox="1"/>
          <p:nvPr/>
        </p:nvSpPr>
        <p:spPr>
          <a:xfrm>
            <a:off x="685800" y="2084831"/>
            <a:ext cx="2377440" cy="384048"/>
          </a:xfrm>
          <a:prstGeom prst="rect">
            <a:avLst/>
          </a:prstGeom>
          <a:noFill/>
        </p:spPr>
        <p:txBody>
          <a:bodyPr wrap="square" anchor="t">
            <a:spAutoFit/>
          </a:bodyPr>
          <a:lstStyle/>
          <a:p>
            <a:pPr algn="ctr"/>
            <a:r>
              <a:rPr sz="1400" b="1">
                <a:solidFill>
                  <a:srgbClr val="141414"/>
                </a:solidFill>
                <a:latin typeface="Aptos"/>
              </a:rPr>
              <a:t>Random Forest
XGBoost</a:t>
            </a:r>
          </a:p>
        </p:txBody>
      </p:sp>
      <p:cxnSp>
        <p:nvCxnSpPr>
          <p:cNvPr id="8" name="Connector 7"/>
          <p:cNvCxnSpPr/>
          <p:nvPr/>
        </p:nvCxnSpPr>
        <p:spPr>
          <a:xfrm>
            <a:off x="3081528" y="2121408"/>
            <a:ext cx="36576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474720" y="1554480"/>
            <a:ext cx="2377440" cy="11430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1764792"/>
            <a:ext cx="2377440" cy="228600"/>
          </a:xfrm>
          <a:prstGeom prst="rect">
            <a:avLst/>
          </a:prstGeom>
          <a:noFill/>
        </p:spPr>
        <p:txBody>
          <a:bodyPr wrap="square" anchor="t">
            <a:spAutoFit/>
          </a:bodyPr>
          <a:lstStyle/>
          <a:p>
            <a:pPr algn="ctr"/>
            <a:r>
              <a:rPr sz="1200" b="1">
                <a:solidFill>
                  <a:srgbClr val="234869"/>
                </a:solidFill>
                <a:latin typeface="Aptos"/>
              </a:rPr>
              <a:t>TEMPORAL</a:t>
            </a:r>
          </a:p>
        </p:txBody>
      </p:sp>
      <p:sp>
        <p:nvSpPr>
          <p:cNvPr id="11" name="TextBox 10"/>
          <p:cNvSpPr txBox="1"/>
          <p:nvPr/>
        </p:nvSpPr>
        <p:spPr>
          <a:xfrm>
            <a:off x="3474720" y="2084831"/>
            <a:ext cx="2377440" cy="384048"/>
          </a:xfrm>
          <a:prstGeom prst="rect">
            <a:avLst/>
          </a:prstGeom>
          <a:noFill/>
        </p:spPr>
        <p:txBody>
          <a:bodyPr wrap="square" anchor="t">
            <a:spAutoFit/>
          </a:bodyPr>
          <a:lstStyle/>
          <a:p>
            <a:pPr algn="ctr"/>
            <a:r>
              <a:rPr sz="1400" b="1">
                <a:solidFill>
                  <a:srgbClr val="141414"/>
                </a:solidFill>
                <a:latin typeface="Aptos"/>
              </a:rPr>
              <a:t>LSTM</a:t>
            </a:r>
          </a:p>
        </p:txBody>
      </p:sp>
      <p:cxnSp>
        <p:nvCxnSpPr>
          <p:cNvPr id="12" name="Connector 11"/>
          <p:cNvCxnSpPr/>
          <p:nvPr/>
        </p:nvCxnSpPr>
        <p:spPr>
          <a:xfrm>
            <a:off x="5870448" y="2121408"/>
            <a:ext cx="365760"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63640" y="1554480"/>
            <a:ext cx="2377440" cy="11430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764792"/>
            <a:ext cx="2377440" cy="228600"/>
          </a:xfrm>
          <a:prstGeom prst="rect">
            <a:avLst/>
          </a:prstGeom>
          <a:noFill/>
        </p:spPr>
        <p:txBody>
          <a:bodyPr wrap="square" anchor="t">
            <a:spAutoFit/>
          </a:bodyPr>
          <a:lstStyle/>
          <a:p>
            <a:pPr algn="ctr"/>
            <a:r>
              <a:rPr sz="1200" b="1">
                <a:solidFill>
                  <a:srgbClr val="234869"/>
                </a:solidFill>
                <a:latin typeface="Aptos"/>
              </a:rPr>
              <a:t>SPATIOTEMPORAL</a:t>
            </a:r>
          </a:p>
        </p:txBody>
      </p:sp>
      <p:sp>
        <p:nvSpPr>
          <p:cNvPr id="15" name="TextBox 14"/>
          <p:cNvSpPr txBox="1"/>
          <p:nvPr/>
        </p:nvSpPr>
        <p:spPr>
          <a:xfrm>
            <a:off x="6263640" y="2084831"/>
            <a:ext cx="2377440" cy="384048"/>
          </a:xfrm>
          <a:prstGeom prst="rect">
            <a:avLst/>
          </a:prstGeom>
          <a:noFill/>
        </p:spPr>
        <p:txBody>
          <a:bodyPr wrap="square" anchor="t">
            <a:spAutoFit/>
          </a:bodyPr>
          <a:lstStyle/>
          <a:p>
            <a:pPr algn="ctr"/>
            <a:r>
              <a:rPr sz="1400" b="1">
                <a:solidFill>
                  <a:srgbClr val="141414"/>
                </a:solidFill>
                <a:latin typeface="Aptos"/>
              </a:rPr>
              <a:t>CNN / GNN-LSTM</a:t>
            </a:r>
          </a:p>
        </p:txBody>
      </p:sp>
      <p:cxnSp>
        <p:nvCxnSpPr>
          <p:cNvPr id="16" name="Connector 15"/>
          <p:cNvCxnSpPr/>
          <p:nvPr/>
        </p:nvCxnSpPr>
        <p:spPr>
          <a:xfrm>
            <a:off x="8659367" y="2121408"/>
            <a:ext cx="365761"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52559" y="1554480"/>
            <a:ext cx="2377440" cy="114300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52559" y="1764792"/>
            <a:ext cx="2377440" cy="228600"/>
          </a:xfrm>
          <a:prstGeom prst="rect">
            <a:avLst/>
          </a:prstGeom>
          <a:noFill/>
        </p:spPr>
        <p:txBody>
          <a:bodyPr wrap="square" anchor="t">
            <a:spAutoFit/>
          </a:bodyPr>
          <a:lstStyle/>
          <a:p>
            <a:pPr algn="ctr"/>
            <a:r>
              <a:rPr sz="1200" b="1">
                <a:solidFill>
                  <a:srgbClr val="234869"/>
                </a:solidFill>
                <a:latin typeface="Aptos"/>
              </a:rPr>
              <a:t>OUTPUT</a:t>
            </a:r>
          </a:p>
        </p:txBody>
      </p:sp>
      <p:sp>
        <p:nvSpPr>
          <p:cNvPr id="19" name="TextBox 18"/>
          <p:cNvSpPr txBox="1"/>
          <p:nvPr/>
        </p:nvSpPr>
        <p:spPr>
          <a:xfrm>
            <a:off x="9052559" y="2084831"/>
            <a:ext cx="2377440" cy="384048"/>
          </a:xfrm>
          <a:prstGeom prst="rect">
            <a:avLst/>
          </a:prstGeom>
          <a:noFill/>
        </p:spPr>
        <p:txBody>
          <a:bodyPr wrap="square" anchor="t">
            <a:spAutoFit/>
          </a:bodyPr>
          <a:lstStyle/>
          <a:p>
            <a:pPr algn="ctr"/>
            <a:r>
              <a:rPr sz="1400" b="1">
                <a:solidFill>
                  <a:srgbClr val="141414"/>
                </a:solidFill>
                <a:latin typeface="Aptos"/>
              </a:rPr>
              <a:t>0–3h rainfall</a:t>
            </a:r>
          </a:p>
        </p:txBody>
      </p:sp>
      <p:sp>
        <p:nvSpPr>
          <p:cNvPr id="20" name="TextBox 19"/>
          <p:cNvSpPr txBox="1"/>
          <p:nvPr/>
        </p:nvSpPr>
        <p:spPr>
          <a:xfrm>
            <a:off x="914400" y="3246120"/>
            <a:ext cx="10058400" cy="1965960"/>
          </a:xfrm>
          <a:prstGeom prst="rect">
            <a:avLst/>
          </a:prstGeom>
          <a:noFill/>
        </p:spPr>
        <p:txBody>
          <a:bodyPr wrap="square">
            <a:spAutoFit/>
          </a:bodyPr>
          <a:lstStyle/>
          <a:p>
            <a:pPr>
              <a:spcAft>
                <a:spcPts val="600"/>
              </a:spcAft>
              <a:defRPr sz="1300">
                <a:solidFill>
                  <a:srgbClr val="141414"/>
                </a:solidFill>
                <a:latin typeface="Aptos"/>
              </a:defRPr>
            </a:pPr>
            <a:r>
              <a:t>• Training data: historical, time-aligned station observations with rainfall targets.</a:t>
            </a:r>
          </a:p>
          <a:p>
            <a:pPr>
              <a:spcAft>
                <a:spcPts val="600"/>
              </a:spcAft>
              <a:defRPr sz="1300">
                <a:solidFill>
                  <a:srgbClr val="141414"/>
                </a:solidFill>
                <a:latin typeface="Aptos"/>
              </a:defRPr>
            </a:pPr>
            <a:r>
              <a:t>• Split chronologically into training, validation and test periods to reduce temporal leakage.</a:t>
            </a:r>
          </a:p>
          <a:p>
            <a:pPr>
              <a:spcAft>
                <a:spcPts val="600"/>
              </a:spcAft>
              <a:defRPr sz="1300">
                <a:solidFill>
                  <a:srgbClr val="141414"/>
                </a:solidFill>
                <a:latin typeface="Aptos"/>
              </a:defRPr>
            </a:pPr>
            <a:r>
              <a:t>• Compare models using rainfall-appropriate metrics such as MAE/RMSE and event metrics such as precision, recall and F1 where thresholds are defined.</a:t>
            </a:r>
          </a:p>
          <a:p>
            <a:pPr>
              <a:spcAft>
                <a:spcPts val="600"/>
              </a:spcAft>
              <a:defRPr sz="1300">
                <a:solidFill>
                  <a:srgbClr val="141414"/>
                </a:solidFill>
                <a:latin typeface="Aptos"/>
              </a:defRPr>
            </a:pPr>
            <a:r>
              <a:t>• Final model consumes recent multi-station sequences and produces rainfall estimates across the next 0–3 hours.</a:t>
            </a:r>
          </a:p>
        </p:txBody>
      </p:sp>
      <p:sp>
        <p:nvSpPr>
          <p:cNvPr id="21" name="Rounded Rectangle 20"/>
          <p:cNvSpPr/>
          <p:nvPr/>
        </p:nvSpPr>
        <p:spPr>
          <a:xfrm>
            <a:off x="2926080" y="5440680"/>
            <a:ext cx="6309360" cy="438912"/>
          </a:xfrm>
          <a:prstGeom prst="roundRect">
            <a:avLst/>
          </a:prstGeom>
          <a:solidFill>
            <a:srgbClr val="E8EE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26080" y="5550408"/>
            <a:ext cx="6309360" cy="182880"/>
          </a:xfrm>
          <a:prstGeom prst="rect">
            <a:avLst/>
          </a:prstGeom>
          <a:noFill/>
        </p:spPr>
        <p:txBody>
          <a:bodyPr wrap="square" anchor="t">
            <a:spAutoFit/>
          </a:bodyPr>
          <a:lstStyle/>
          <a:p>
            <a:pPr algn="ctr"/>
            <a:r>
              <a:rPr sz="1050" b="1">
                <a:solidFill>
                  <a:srgbClr val="141414"/>
                </a:solidFill>
                <a:latin typeface="Aptos"/>
              </a:rPr>
              <a:t>Phase 2 objective: select the model based on validation performance and operational usefulness.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Module 4: NWP Visualization (Phase 2)</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719072"/>
            <a:ext cx="1691640" cy="228600"/>
          </a:xfrm>
          <a:prstGeom prst="rect">
            <a:avLst/>
          </a:prstGeom>
          <a:noFill/>
        </p:spPr>
        <p:txBody>
          <a:bodyPr wrap="square" anchor="t">
            <a:spAutoFit/>
          </a:bodyPr>
          <a:lstStyle/>
          <a:p>
            <a:pPr algn="ctr"/>
            <a:r>
              <a:rPr sz="1150" b="1">
                <a:solidFill>
                  <a:srgbClr val="234869"/>
                </a:solidFill>
                <a:latin typeface="Aptos"/>
              </a:rPr>
              <a:t>ECMWF</a:t>
            </a:r>
          </a:p>
        </p:txBody>
      </p:sp>
      <p:sp>
        <p:nvSpPr>
          <p:cNvPr id="7" name="TextBox 6"/>
          <p:cNvSpPr txBox="1"/>
          <p:nvPr/>
        </p:nvSpPr>
        <p:spPr>
          <a:xfrm>
            <a:off x="594360" y="2057400"/>
            <a:ext cx="1508760" cy="411480"/>
          </a:xfrm>
          <a:prstGeom prst="rect">
            <a:avLst/>
          </a:prstGeom>
          <a:noFill/>
        </p:spPr>
        <p:txBody>
          <a:bodyPr wrap="square" anchor="t">
            <a:spAutoFit/>
          </a:bodyPr>
          <a:lstStyle/>
          <a:p>
            <a:pPr algn="ctr"/>
            <a:r>
              <a:rPr sz="950" b="0">
                <a:solidFill>
                  <a:srgbClr val="141414"/>
                </a:solidFill>
                <a:latin typeface="Aptos"/>
              </a:rPr>
              <a:t>Open forecast data</a:t>
            </a:r>
          </a:p>
        </p:txBody>
      </p:sp>
      <p:cxnSp>
        <p:nvCxnSpPr>
          <p:cNvPr id="8" name="Connector 7"/>
          <p:cNvCxnSpPr/>
          <p:nvPr/>
        </p:nvCxnSpPr>
        <p:spPr>
          <a:xfrm>
            <a:off x="2212848" y="2121408"/>
            <a:ext cx="192024"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0" y="1719072"/>
            <a:ext cx="1691640" cy="228600"/>
          </a:xfrm>
          <a:prstGeom prst="rect">
            <a:avLst/>
          </a:prstGeom>
          <a:noFill/>
        </p:spPr>
        <p:txBody>
          <a:bodyPr wrap="square" anchor="t">
            <a:spAutoFit/>
          </a:bodyPr>
          <a:lstStyle/>
          <a:p>
            <a:pPr algn="ctr"/>
            <a:r>
              <a:rPr sz="1150" b="1">
                <a:solidFill>
                  <a:srgbClr val="234869"/>
                </a:solidFill>
                <a:latin typeface="Aptos"/>
              </a:rPr>
              <a:t>GRIB2</a:t>
            </a:r>
          </a:p>
        </p:txBody>
      </p:sp>
      <p:sp>
        <p:nvSpPr>
          <p:cNvPr id="11" name="TextBox 10"/>
          <p:cNvSpPr txBox="1"/>
          <p:nvPr/>
        </p:nvSpPr>
        <p:spPr>
          <a:xfrm>
            <a:off x="2514600" y="2057400"/>
            <a:ext cx="1508760" cy="411480"/>
          </a:xfrm>
          <a:prstGeom prst="rect">
            <a:avLst/>
          </a:prstGeom>
          <a:noFill/>
        </p:spPr>
        <p:txBody>
          <a:bodyPr wrap="square" anchor="t">
            <a:spAutoFit/>
          </a:bodyPr>
          <a:lstStyle/>
          <a:p>
            <a:pPr algn="ctr"/>
            <a:r>
              <a:rPr sz="950" b="0">
                <a:solidFill>
                  <a:srgbClr val="141414"/>
                </a:solidFill>
                <a:latin typeface="Aptos"/>
              </a:rPr>
              <a:t>Gridded fields</a:t>
            </a:r>
          </a:p>
        </p:txBody>
      </p:sp>
      <p:cxnSp>
        <p:nvCxnSpPr>
          <p:cNvPr id="12" name="Connector 11"/>
          <p:cNvCxnSpPr/>
          <p:nvPr/>
        </p:nvCxnSpPr>
        <p:spPr>
          <a:xfrm>
            <a:off x="4133088" y="2121408"/>
            <a:ext cx="192024"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4340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1719072"/>
            <a:ext cx="1691640" cy="228600"/>
          </a:xfrm>
          <a:prstGeom prst="rect">
            <a:avLst/>
          </a:prstGeom>
          <a:noFill/>
        </p:spPr>
        <p:txBody>
          <a:bodyPr wrap="square" anchor="t">
            <a:spAutoFit/>
          </a:bodyPr>
          <a:lstStyle/>
          <a:p>
            <a:pPr algn="ctr"/>
            <a:r>
              <a:rPr sz="1150" b="1">
                <a:solidFill>
                  <a:srgbClr val="234869"/>
                </a:solidFill>
                <a:latin typeface="Aptos"/>
              </a:rPr>
              <a:t>cfgrib + xarray</a:t>
            </a:r>
          </a:p>
        </p:txBody>
      </p:sp>
      <p:sp>
        <p:nvSpPr>
          <p:cNvPr id="15" name="TextBox 14"/>
          <p:cNvSpPr txBox="1"/>
          <p:nvPr/>
        </p:nvSpPr>
        <p:spPr>
          <a:xfrm>
            <a:off x="4434840" y="2057400"/>
            <a:ext cx="1508760" cy="411480"/>
          </a:xfrm>
          <a:prstGeom prst="rect">
            <a:avLst/>
          </a:prstGeom>
          <a:noFill/>
        </p:spPr>
        <p:txBody>
          <a:bodyPr wrap="square" anchor="t">
            <a:spAutoFit/>
          </a:bodyPr>
          <a:lstStyle/>
          <a:p>
            <a:pPr algn="ctr"/>
            <a:r>
              <a:rPr sz="950" b="0">
                <a:solidFill>
                  <a:srgbClr val="141414"/>
                </a:solidFill>
                <a:latin typeface="Aptos"/>
              </a:rPr>
              <a:t>Decode / subset</a:t>
            </a:r>
          </a:p>
        </p:txBody>
      </p:sp>
      <p:cxnSp>
        <p:nvCxnSpPr>
          <p:cNvPr id="16" name="Connector 15"/>
          <p:cNvCxnSpPr/>
          <p:nvPr/>
        </p:nvCxnSpPr>
        <p:spPr>
          <a:xfrm>
            <a:off x="6053328" y="2121408"/>
            <a:ext cx="192024"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6364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1719072"/>
            <a:ext cx="1691640" cy="228600"/>
          </a:xfrm>
          <a:prstGeom prst="rect">
            <a:avLst/>
          </a:prstGeom>
          <a:noFill/>
        </p:spPr>
        <p:txBody>
          <a:bodyPr wrap="square" anchor="t">
            <a:spAutoFit/>
          </a:bodyPr>
          <a:lstStyle/>
          <a:p>
            <a:pPr algn="ctr"/>
            <a:r>
              <a:rPr sz="1150" b="1">
                <a:solidFill>
                  <a:srgbClr val="234869"/>
                </a:solidFill>
                <a:latin typeface="Aptos"/>
              </a:rPr>
              <a:t>rasterio</a:t>
            </a:r>
          </a:p>
        </p:txBody>
      </p:sp>
      <p:sp>
        <p:nvSpPr>
          <p:cNvPr id="19" name="TextBox 18"/>
          <p:cNvSpPr txBox="1"/>
          <p:nvPr/>
        </p:nvSpPr>
        <p:spPr>
          <a:xfrm>
            <a:off x="6355080" y="2057400"/>
            <a:ext cx="1508760" cy="411480"/>
          </a:xfrm>
          <a:prstGeom prst="rect">
            <a:avLst/>
          </a:prstGeom>
          <a:noFill/>
        </p:spPr>
        <p:txBody>
          <a:bodyPr wrap="square" anchor="t">
            <a:spAutoFit/>
          </a:bodyPr>
          <a:lstStyle/>
          <a:p>
            <a:pPr algn="ctr"/>
            <a:r>
              <a:rPr sz="950" b="0">
                <a:solidFill>
                  <a:srgbClr val="141414"/>
                </a:solidFill>
                <a:latin typeface="Aptos"/>
              </a:rPr>
              <a:t>Raster conversion</a:t>
            </a:r>
          </a:p>
        </p:txBody>
      </p:sp>
      <p:cxnSp>
        <p:nvCxnSpPr>
          <p:cNvPr id="20" name="Connector 19"/>
          <p:cNvCxnSpPr/>
          <p:nvPr/>
        </p:nvCxnSpPr>
        <p:spPr>
          <a:xfrm>
            <a:off x="7973568" y="2121408"/>
            <a:ext cx="192024"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8388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80" y="1719072"/>
            <a:ext cx="1691640" cy="228600"/>
          </a:xfrm>
          <a:prstGeom prst="rect">
            <a:avLst/>
          </a:prstGeom>
          <a:noFill/>
        </p:spPr>
        <p:txBody>
          <a:bodyPr wrap="square" anchor="t">
            <a:spAutoFit/>
          </a:bodyPr>
          <a:lstStyle/>
          <a:p>
            <a:pPr algn="ctr"/>
            <a:r>
              <a:rPr sz="1150" b="1">
                <a:solidFill>
                  <a:srgbClr val="234869"/>
                </a:solidFill>
                <a:latin typeface="Aptos"/>
              </a:rPr>
              <a:t>GeoTIFF</a:t>
            </a:r>
          </a:p>
        </p:txBody>
      </p:sp>
      <p:sp>
        <p:nvSpPr>
          <p:cNvPr id="23" name="TextBox 22"/>
          <p:cNvSpPr txBox="1"/>
          <p:nvPr/>
        </p:nvSpPr>
        <p:spPr>
          <a:xfrm>
            <a:off x="8275320" y="2057400"/>
            <a:ext cx="1508760" cy="411480"/>
          </a:xfrm>
          <a:prstGeom prst="rect">
            <a:avLst/>
          </a:prstGeom>
          <a:noFill/>
        </p:spPr>
        <p:txBody>
          <a:bodyPr wrap="square" anchor="t">
            <a:spAutoFit/>
          </a:bodyPr>
          <a:lstStyle/>
          <a:p>
            <a:pPr algn="ctr"/>
            <a:r>
              <a:rPr sz="950" b="0">
                <a:solidFill>
                  <a:srgbClr val="141414"/>
                </a:solidFill>
                <a:latin typeface="Aptos"/>
              </a:rPr>
              <a:t>Web-ready layer</a:t>
            </a:r>
          </a:p>
        </p:txBody>
      </p:sp>
      <p:cxnSp>
        <p:nvCxnSpPr>
          <p:cNvPr id="24" name="Connector 23"/>
          <p:cNvCxnSpPr/>
          <p:nvPr/>
        </p:nvCxnSpPr>
        <p:spPr>
          <a:xfrm>
            <a:off x="9893808" y="2121408"/>
            <a:ext cx="192024" cy="0"/>
          </a:xfrm>
          <a:prstGeom prst="line">
            <a:avLst/>
          </a:prstGeom>
          <a:ln w="19050">
            <a:solidFill>
              <a:srgbClr val="141414"/>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104120" y="1508760"/>
            <a:ext cx="1691640" cy="123444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04120" y="1719072"/>
            <a:ext cx="1691640" cy="228600"/>
          </a:xfrm>
          <a:prstGeom prst="rect">
            <a:avLst/>
          </a:prstGeom>
          <a:noFill/>
        </p:spPr>
        <p:txBody>
          <a:bodyPr wrap="square" anchor="t">
            <a:spAutoFit/>
          </a:bodyPr>
          <a:lstStyle/>
          <a:p>
            <a:pPr algn="ctr"/>
            <a:r>
              <a:rPr sz="1150" b="1">
                <a:solidFill>
                  <a:srgbClr val="234869"/>
                </a:solidFill>
                <a:latin typeface="Aptos"/>
              </a:rPr>
              <a:t>Leaflet</a:t>
            </a:r>
          </a:p>
        </p:txBody>
      </p:sp>
      <p:sp>
        <p:nvSpPr>
          <p:cNvPr id="27" name="TextBox 26"/>
          <p:cNvSpPr txBox="1"/>
          <p:nvPr/>
        </p:nvSpPr>
        <p:spPr>
          <a:xfrm>
            <a:off x="10195560" y="2057400"/>
            <a:ext cx="1508760" cy="411480"/>
          </a:xfrm>
          <a:prstGeom prst="rect">
            <a:avLst/>
          </a:prstGeom>
          <a:noFill/>
        </p:spPr>
        <p:txBody>
          <a:bodyPr wrap="square" anchor="t">
            <a:spAutoFit/>
          </a:bodyPr>
          <a:lstStyle/>
          <a:p>
            <a:pPr algn="ctr"/>
            <a:r>
              <a:rPr sz="950" b="0">
                <a:solidFill>
                  <a:srgbClr val="141414"/>
                </a:solidFill>
                <a:latin typeface="Aptos"/>
              </a:rPr>
              <a:t>Interactive map</a:t>
            </a:r>
          </a:p>
        </p:txBody>
      </p:sp>
      <p:sp>
        <p:nvSpPr>
          <p:cNvPr id="28" name="TextBox 27"/>
          <p:cNvSpPr txBox="1"/>
          <p:nvPr/>
        </p:nvSpPr>
        <p:spPr>
          <a:xfrm>
            <a:off x="914400" y="3337560"/>
            <a:ext cx="10241280" cy="1691640"/>
          </a:xfrm>
          <a:prstGeom prst="rect">
            <a:avLst/>
          </a:prstGeom>
          <a:noFill/>
        </p:spPr>
        <p:txBody>
          <a:bodyPr wrap="square">
            <a:spAutoFit/>
          </a:bodyPr>
          <a:lstStyle/>
          <a:p>
            <a:pPr>
              <a:spcAft>
                <a:spcPts val="600"/>
              </a:spcAft>
              <a:defRPr sz="1300">
                <a:solidFill>
                  <a:srgbClr val="141414"/>
                </a:solidFill>
                <a:latin typeface="Aptos"/>
              </a:defRPr>
            </a:pPr>
            <a:r>
              <a:t>• Read forecast variables and geographic bounds relevant to Puducherry and Tamil Nadu.</a:t>
            </a:r>
          </a:p>
          <a:p>
            <a:pPr>
              <a:spcAft>
                <a:spcPts val="600"/>
              </a:spcAft>
              <a:defRPr sz="1300">
                <a:solidFill>
                  <a:srgbClr val="141414"/>
                </a:solidFill>
                <a:latin typeface="Aptos"/>
              </a:defRPr>
            </a:pPr>
            <a:r>
              <a:t>• Convert model fields into raster layers that can be overlaid with station markers.</a:t>
            </a:r>
          </a:p>
          <a:p>
            <a:pPr>
              <a:spcAft>
                <a:spcPts val="600"/>
              </a:spcAft>
              <a:defRPr sz="1300">
                <a:solidFill>
                  <a:srgbClr val="141414"/>
                </a:solidFill>
                <a:latin typeface="Aptos"/>
              </a:defRPr>
            </a:pPr>
            <a:r>
              <a:t>• Support multi-model / multi-run comparison or blending where compatible forecast fields are available.</a:t>
            </a:r>
          </a:p>
          <a:p>
            <a:pPr>
              <a:spcAft>
                <a:spcPts val="600"/>
              </a:spcAft>
              <a:defRPr sz="1300">
                <a:solidFill>
                  <a:srgbClr val="141414"/>
                </a:solidFill>
                <a:latin typeface="Aptos"/>
              </a:defRPr>
            </a:pPr>
            <a:r>
              <a:t>• Display NWP as broader atmospheric context alongside the hyperlocal 0–3h ML nowcast.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Module 5: Web Application &amp; Dashboard</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71600"/>
            <a:ext cx="3657600" cy="44805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3200400" cy="274320"/>
          </a:xfrm>
          <a:prstGeom prst="rect">
            <a:avLst/>
          </a:prstGeom>
          <a:noFill/>
        </p:spPr>
        <p:txBody>
          <a:bodyPr wrap="square" anchor="t">
            <a:spAutoFit/>
          </a:bodyPr>
          <a:lstStyle/>
          <a:p>
            <a:pPr algn="ctr"/>
            <a:r>
              <a:rPr sz="1500" b="1">
                <a:solidFill>
                  <a:srgbClr val="234869"/>
                </a:solidFill>
                <a:latin typeface="Aptos"/>
              </a:rPr>
              <a:t>NEXT.JS DASHBOARD</a:t>
            </a:r>
          </a:p>
        </p:txBody>
      </p:sp>
      <p:sp>
        <p:nvSpPr>
          <p:cNvPr id="7" name="Rounded Rectangle 6"/>
          <p:cNvSpPr/>
          <p:nvPr/>
        </p:nvSpPr>
        <p:spPr>
          <a:xfrm>
            <a:off x="1051560" y="2148840"/>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231136"/>
            <a:ext cx="2926080" cy="182880"/>
          </a:xfrm>
          <a:prstGeom prst="rect">
            <a:avLst/>
          </a:prstGeom>
          <a:noFill/>
        </p:spPr>
        <p:txBody>
          <a:bodyPr wrap="square" anchor="t">
            <a:spAutoFit/>
          </a:bodyPr>
          <a:lstStyle/>
          <a:p>
            <a:pPr algn="ctr"/>
            <a:r>
              <a:rPr sz="1050" b="1">
                <a:solidFill>
                  <a:srgbClr val="141414"/>
                </a:solidFill>
                <a:latin typeface="Aptos"/>
              </a:rPr>
              <a:t>Homepage</a:t>
            </a:r>
          </a:p>
        </p:txBody>
      </p:sp>
      <p:sp>
        <p:nvSpPr>
          <p:cNvPr id="9" name="Rounded Rectangle 8"/>
          <p:cNvSpPr/>
          <p:nvPr/>
        </p:nvSpPr>
        <p:spPr>
          <a:xfrm>
            <a:off x="1051560" y="2670048"/>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2752344"/>
            <a:ext cx="2926080" cy="182880"/>
          </a:xfrm>
          <a:prstGeom prst="rect">
            <a:avLst/>
          </a:prstGeom>
          <a:noFill/>
        </p:spPr>
        <p:txBody>
          <a:bodyPr wrap="square" anchor="t">
            <a:spAutoFit/>
          </a:bodyPr>
          <a:lstStyle/>
          <a:p>
            <a:pPr algn="ctr"/>
            <a:r>
              <a:rPr sz="1050" b="1">
                <a:solidFill>
                  <a:srgbClr val="141414"/>
                </a:solidFill>
                <a:latin typeface="Aptos"/>
              </a:rPr>
              <a:t>Station Dashboard</a:t>
            </a:r>
          </a:p>
        </p:txBody>
      </p:sp>
      <p:sp>
        <p:nvSpPr>
          <p:cNvPr id="11" name="Rounded Rectangle 10"/>
          <p:cNvSpPr/>
          <p:nvPr/>
        </p:nvSpPr>
        <p:spPr>
          <a:xfrm>
            <a:off x="1051560" y="3191256"/>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273552"/>
            <a:ext cx="2926080" cy="182880"/>
          </a:xfrm>
          <a:prstGeom prst="rect">
            <a:avLst/>
          </a:prstGeom>
          <a:noFill/>
        </p:spPr>
        <p:txBody>
          <a:bodyPr wrap="square" anchor="t">
            <a:spAutoFit/>
          </a:bodyPr>
          <a:lstStyle/>
          <a:p>
            <a:pPr algn="ctr"/>
            <a:r>
              <a:rPr sz="1050" b="1">
                <a:solidFill>
                  <a:srgbClr val="141414"/>
                </a:solidFill>
                <a:latin typeface="Aptos"/>
              </a:rPr>
              <a:t>TrendChart</a:t>
            </a:r>
          </a:p>
        </p:txBody>
      </p:sp>
      <p:sp>
        <p:nvSpPr>
          <p:cNvPr id="13" name="Rounded Rectangle 12"/>
          <p:cNvSpPr/>
          <p:nvPr/>
        </p:nvSpPr>
        <p:spPr>
          <a:xfrm>
            <a:off x="1051560" y="3712464"/>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794760"/>
            <a:ext cx="2926080" cy="182880"/>
          </a:xfrm>
          <a:prstGeom prst="rect">
            <a:avLst/>
          </a:prstGeom>
          <a:noFill/>
        </p:spPr>
        <p:txBody>
          <a:bodyPr wrap="square" anchor="t">
            <a:spAutoFit/>
          </a:bodyPr>
          <a:lstStyle/>
          <a:p>
            <a:pPr algn="ctr"/>
            <a:r>
              <a:rPr sz="1050" b="1">
                <a:solidFill>
                  <a:srgbClr val="141414"/>
                </a:solidFill>
                <a:latin typeface="Aptos"/>
              </a:rPr>
              <a:t>Search / Filter</a:t>
            </a:r>
          </a:p>
        </p:txBody>
      </p:sp>
      <p:sp>
        <p:nvSpPr>
          <p:cNvPr id="15" name="Rounded Rectangle 14"/>
          <p:cNvSpPr/>
          <p:nvPr/>
        </p:nvSpPr>
        <p:spPr>
          <a:xfrm>
            <a:off x="1051560" y="4233672"/>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51560" y="4315968"/>
            <a:ext cx="2926080" cy="182880"/>
          </a:xfrm>
          <a:prstGeom prst="rect">
            <a:avLst/>
          </a:prstGeom>
          <a:noFill/>
        </p:spPr>
        <p:txBody>
          <a:bodyPr wrap="square" anchor="t">
            <a:spAutoFit/>
          </a:bodyPr>
          <a:lstStyle/>
          <a:p>
            <a:pPr algn="ctr"/>
            <a:r>
              <a:rPr sz="1050" b="1">
                <a:solidFill>
                  <a:srgbClr val="141414"/>
                </a:solidFill>
                <a:latin typeface="Aptos"/>
              </a:rPr>
              <a:t>Forecast Scaffold</a:t>
            </a:r>
          </a:p>
        </p:txBody>
      </p:sp>
      <p:sp>
        <p:nvSpPr>
          <p:cNvPr id="17" name="Rounded Rectangle 16"/>
          <p:cNvSpPr/>
          <p:nvPr/>
        </p:nvSpPr>
        <p:spPr>
          <a:xfrm>
            <a:off x="1051560" y="4754879"/>
            <a:ext cx="2926080" cy="365760"/>
          </a:xfrm>
          <a:prstGeom prst="round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837175"/>
            <a:ext cx="2926080" cy="182880"/>
          </a:xfrm>
          <a:prstGeom prst="rect">
            <a:avLst/>
          </a:prstGeom>
          <a:noFill/>
        </p:spPr>
        <p:txBody>
          <a:bodyPr wrap="square" anchor="t">
            <a:spAutoFit/>
          </a:bodyPr>
          <a:lstStyle/>
          <a:p>
            <a:pPr algn="ctr"/>
            <a:r>
              <a:rPr sz="1050" b="1">
                <a:solidFill>
                  <a:srgbClr val="141414"/>
                </a:solidFill>
                <a:latin typeface="Aptos"/>
              </a:rPr>
              <a:t>Blog Scaffold</a:t>
            </a:r>
          </a:p>
        </p:txBody>
      </p:sp>
      <p:sp>
        <p:nvSpPr>
          <p:cNvPr id="19" name="Rounded Rectangle 18"/>
          <p:cNvSpPr/>
          <p:nvPr/>
        </p:nvSpPr>
        <p:spPr>
          <a:xfrm>
            <a:off x="4709160" y="1371600"/>
            <a:ext cx="6629400" cy="448056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83480" y="1645920"/>
            <a:ext cx="6080760" cy="274320"/>
          </a:xfrm>
          <a:prstGeom prst="rect">
            <a:avLst/>
          </a:prstGeom>
          <a:noFill/>
        </p:spPr>
        <p:txBody>
          <a:bodyPr wrap="square" anchor="t">
            <a:spAutoFit/>
          </a:bodyPr>
          <a:lstStyle/>
          <a:p>
            <a:pPr algn="ctr"/>
            <a:r>
              <a:rPr sz="1500" b="1">
                <a:solidFill>
                  <a:srgbClr val="234869"/>
                </a:solidFill>
                <a:latin typeface="Aptos"/>
              </a:rPr>
              <a:t>USER EXPERIENCE</a:t>
            </a:r>
          </a:p>
        </p:txBody>
      </p:sp>
      <p:sp>
        <p:nvSpPr>
          <p:cNvPr id="21" name="TextBox 20"/>
          <p:cNvSpPr txBox="1"/>
          <p:nvPr/>
        </p:nvSpPr>
        <p:spPr>
          <a:xfrm>
            <a:off x="5074920" y="2148840"/>
            <a:ext cx="5715000" cy="2377440"/>
          </a:xfrm>
          <a:prstGeom prst="rect">
            <a:avLst/>
          </a:prstGeom>
          <a:noFill/>
        </p:spPr>
        <p:txBody>
          <a:bodyPr wrap="square">
            <a:spAutoFit/>
          </a:bodyPr>
          <a:lstStyle/>
          <a:p>
            <a:pPr>
              <a:spcAft>
                <a:spcPts val="600"/>
              </a:spcAft>
              <a:defRPr sz="1300">
                <a:solidFill>
                  <a:srgbClr val="141414"/>
                </a:solidFill>
                <a:latin typeface="Aptos"/>
              </a:defRPr>
            </a:pPr>
            <a:r>
              <a:t>• Live station cards with latest observations.</a:t>
            </a:r>
          </a:p>
          <a:p>
            <a:pPr>
              <a:spcAft>
                <a:spcPts val="600"/>
              </a:spcAft>
              <a:defRPr sz="1300">
                <a:solidFill>
                  <a:srgbClr val="141414"/>
                </a:solidFill>
                <a:latin typeface="Aptos"/>
              </a:defRPr>
            </a:pPr>
            <a:r>
              <a:t>• 30-second auto-refresh for near-real-time monitoring.</a:t>
            </a:r>
          </a:p>
          <a:p>
            <a:pPr>
              <a:spcAft>
                <a:spcPts val="600"/>
              </a:spcAft>
              <a:defRPr sz="1300">
                <a:solidFill>
                  <a:srgbClr val="141414"/>
                </a:solidFill>
                <a:latin typeface="Aptos"/>
              </a:defRPr>
            </a:pPr>
            <a:r>
              <a:t>• Trend charts for historical temperature, humidity, pressure and rainfall-related signals.</a:t>
            </a:r>
          </a:p>
          <a:p>
            <a:pPr>
              <a:spcAft>
                <a:spcPts val="600"/>
              </a:spcAft>
              <a:defRPr sz="1300">
                <a:solidFill>
                  <a:srgbClr val="141414"/>
                </a:solidFill>
                <a:latin typeface="Aptos"/>
              </a:defRPr>
            </a:pPr>
            <a:r>
              <a:t>• Responsive search and station filtering.</a:t>
            </a:r>
          </a:p>
          <a:p>
            <a:pPr>
              <a:spcAft>
                <a:spcPts val="600"/>
              </a:spcAft>
              <a:defRPr sz="1300">
                <a:solidFill>
                  <a:srgbClr val="141414"/>
                </a:solidFill>
                <a:latin typeface="Aptos"/>
              </a:defRPr>
            </a:pPr>
            <a:r>
              <a:t>• Planned OAuth login using NextAuth.js + Firebase Auth.</a:t>
            </a:r>
          </a:p>
          <a:p>
            <a:pPr>
              <a:spcAft>
                <a:spcPts val="600"/>
              </a:spcAft>
              <a:defRPr sz="1300">
                <a:solidFill>
                  <a:srgbClr val="141414"/>
                </a:solidFill>
                <a:latin typeface="Aptos"/>
              </a:defRPr>
            </a:pPr>
            <a:r>
              <a:t>• Planned blog CMS and commenting system.</a:t>
            </a:r>
          </a:p>
        </p:txBody>
      </p:sp>
      <p:sp>
        <p:nvSpPr>
          <p:cNvPr id="22" name="Rounded Rectangle 21"/>
          <p:cNvSpPr/>
          <p:nvPr/>
        </p:nvSpPr>
        <p:spPr>
          <a:xfrm>
            <a:off x="5212080" y="4892040"/>
            <a:ext cx="5440680" cy="530352"/>
          </a:xfrm>
          <a:prstGeom prst="roundRect">
            <a:avLst/>
          </a:prstGeom>
          <a:solidFill>
            <a:srgbClr val="E8EEF3"/>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12080" y="5038344"/>
            <a:ext cx="5440680" cy="201168"/>
          </a:xfrm>
          <a:prstGeom prst="rect">
            <a:avLst/>
          </a:prstGeom>
          <a:noFill/>
        </p:spPr>
        <p:txBody>
          <a:bodyPr wrap="square" anchor="t">
            <a:spAutoFit/>
          </a:bodyPr>
          <a:lstStyle/>
          <a:p>
            <a:pPr algn="ctr"/>
            <a:r>
              <a:rPr sz="1050" b="1">
                <a:solidFill>
                  <a:srgbClr val="141414"/>
                </a:solidFill>
                <a:latin typeface="Aptos"/>
              </a:rPr>
              <a:t>Frontend: React + TypeScript + TailwindCSS + Recharts + Leaflet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Literature Survey – Part 1</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 name="Rectangle 4"/>
          <p:cNvSpPr/>
          <p:nvPr/>
        </p:nvSpPr>
        <p:spPr>
          <a:xfrm>
            <a:off x="347472" y="1298448"/>
            <a:ext cx="19659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 name="TextBox 5"/>
          <p:cNvSpPr txBox="1"/>
          <p:nvPr/>
        </p:nvSpPr>
        <p:spPr>
          <a:xfrm>
            <a:off x="393192" y="1371600"/>
            <a:ext cx="1874519" cy="261610"/>
          </a:xfrm>
          <a:prstGeom prst="rect">
            <a:avLst/>
          </a:prstGeom>
          <a:noFill/>
        </p:spPr>
        <p:txBody>
          <a:bodyPr wrap="square" anchor="t">
            <a:spAutoFit/>
          </a:bodyPr>
          <a:lstStyle/>
          <a:p>
            <a:pPr algn="l"/>
            <a:r>
              <a:rPr sz="1100" b="1" dirty="0">
                <a:solidFill>
                  <a:srgbClr val="141414"/>
                </a:solidFill>
                <a:latin typeface="Times New Roman" panose="02020603050405020304" pitchFamily="18" charset="0"/>
                <a:cs typeface="Times New Roman" panose="02020603050405020304" pitchFamily="18" charset="0"/>
              </a:rPr>
              <a:t>Title</a:t>
            </a:r>
          </a:p>
        </p:txBody>
      </p:sp>
      <p:sp>
        <p:nvSpPr>
          <p:cNvPr id="7" name="Rectangle 6"/>
          <p:cNvSpPr/>
          <p:nvPr/>
        </p:nvSpPr>
        <p:spPr>
          <a:xfrm>
            <a:off x="2313432" y="1298448"/>
            <a:ext cx="132588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8" name="TextBox 7"/>
          <p:cNvSpPr txBox="1"/>
          <p:nvPr/>
        </p:nvSpPr>
        <p:spPr>
          <a:xfrm>
            <a:off x="2359151" y="1371600"/>
            <a:ext cx="1234439"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Authors</a:t>
            </a:r>
          </a:p>
        </p:txBody>
      </p:sp>
      <p:sp>
        <p:nvSpPr>
          <p:cNvPr id="9" name="Rectangle 8"/>
          <p:cNvSpPr/>
          <p:nvPr/>
        </p:nvSpPr>
        <p:spPr>
          <a:xfrm>
            <a:off x="3639311" y="1298448"/>
            <a:ext cx="5943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0" name="TextBox 9"/>
          <p:cNvSpPr txBox="1"/>
          <p:nvPr/>
        </p:nvSpPr>
        <p:spPr>
          <a:xfrm>
            <a:off x="3685031" y="1371600"/>
            <a:ext cx="50292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Year</a:t>
            </a:r>
          </a:p>
        </p:txBody>
      </p:sp>
      <p:sp>
        <p:nvSpPr>
          <p:cNvPr id="11" name="Rectangle 10"/>
          <p:cNvSpPr/>
          <p:nvPr/>
        </p:nvSpPr>
        <p:spPr>
          <a:xfrm>
            <a:off x="4233672" y="1298448"/>
            <a:ext cx="141732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2" name="TextBox 11"/>
          <p:cNvSpPr txBox="1"/>
          <p:nvPr/>
        </p:nvSpPr>
        <p:spPr>
          <a:xfrm>
            <a:off x="4279392" y="1371600"/>
            <a:ext cx="132588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Methodology</a:t>
            </a:r>
          </a:p>
        </p:txBody>
      </p:sp>
      <p:sp>
        <p:nvSpPr>
          <p:cNvPr id="13" name="Rectangle 12"/>
          <p:cNvSpPr/>
          <p:nvPr/>
        </p:nvSpPr>
        <p:spPr>
          <a:xfrm>
            <a:off x="5650992" y="1298448"/>
            <a:ext cx="283464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4" name="TextBox 13"/>
          <p:cNvSpPr txBox="1"/>
          <p:nvPr/>
        </p:nvSpPr>
        <p:spPr>
          <a:xfrm>
            <a:off x="5696712" y="1371600"/>
            <a:ext cx="274320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Key Result</a:t>
            </a:r>
          </a:p>
        </p:txBody>
      </p:sp>
      <p:sp>
        <p:nvSpPr>
          <p:cNvPr id="15" name="Rectangle 14"/>
          <p:cNvSpPr/>
          <p:nvPr/>
        </p:nvSpPr>
        <p:spPr>
          <a:xfrm>
            <a:off x="8485632" y="1298448"/>
            <a:ext cx="33375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6" name="TextBox 15"/>
          <p:cNvSpPr txBox="1"/>
          <p:nvPr/>
        </p:nvSpPr>
        <p:spPr>
          <a:xfrm>
            <a:off x="8531352" y="1371600"/>
            <a:ext cx="324612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Gap Identified</a:t>
            </a:r>
          </a:p>
        </p:txBody>
      </p:sp>
      <p:sp>
        <p:nvSpPr>
          <p:cNvPr id="17" name="Rectangle 16"/>
          <p:cNvSpPr/>
          <p:nvPr/>
        </p:nvSpPr>
        <p:spPr>
          <a:xfrm>
            <a:off x="347472" y="2048255"/>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8" name="TextBox 17"/>
          <p:cNvSpPr txBox="1"/>
          <p:nvPr/>
        </p:nvSpPr>
        <p:spPr>
          <a:xfrm>
            <a:off x="393192" y="2103120"/>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Convolutional LSTM Network</a:t>
            </a:r>
          </a:p>
        </p:txBody>
      </p:sp>
      <p:sp>
        <p:nvSpPr>
          <p:cNvPr id="19" name="Rectangle 18"/>
          <p:cNvSpPr/>
          <p:nvPr/>
        </p:nvSpPr>
        <p:spPr>
          <a:xfrm>
            <a:off x="2313432" y="2048255"/>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0" name="TextBox 19"/>
          <p:cNvSpPr txBox="1"/>
          <p:nvPr/>
        </p:nvSpPr>
        <p:spPr>
          <a:xfrm>
            <a:off x="2359151" y="2103120"/>
            <a:ext cx="1234439"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Shi et al.</a:t>
            </a:r>
          </a:p>
        </p:txBody>
      </p:sp>
      <p:sp>
        <p:nvSpPr>
          <p:cNvPr id="21" name="Rectangle 20"/>
          <p:cNvSpPr/>
          <p:nvPr/>
        </p:nvSpPr>
        <p:spPr>
          <a:xfrm>
            <a:off x="3639311" y="2048255"/>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2" name="TextBox 21"/>
          <p:cNvSpPr txBox="1"/>
          <p:nvPr/>
        </p:nvSpPr>
        <p:spPr>
          <a:xfrm>
            <a:off x="3685031" y="2103120"/>
            <a:ext cx="5029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2015</a:t>
            </a:r>
          </a:p>
        </p:txBody>
      </p:sp>
      <p:sp>
        <p:nvSpPr>
          <p:cNvPr id="23" name="Rectangle 22"/>
          <p:cNvSpPr/>
          <p:nvPr/>
        </p:nvSpPr>
        <p:spPr>
          <a:xfrm>
            <a:off x="4233672" y="2048255"/>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4" name="TextBox 23"/>
          <p:cNvSpPr txBox="1"/>
          <p:nvPr/>
        </p:nvSpPr>
        <p:spPr>
          <a:xfrm>
            <a:off x="4279392" y="2103120"/>
            <a:ext cx="132588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ConvLSTM</a:t>
            </a:r>
          </a:p>
        </p:txBody>
      </p:sp>
      <p:sp>
        <p:nvSpPr>
          <p:cNvPr id="25" name="Rectangle 24"/>
          <p:cNvSpPr/>
          <p:nvPr/>
        </p:nvSpPr>
        <p:spPr>
          <a:xfrm>
            <a:off x="5650992" y="2048255"/>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6" name="TextBox 25"/>
          <p:cNvSpPr txBox="1"/>
          <p:nvPr/>
        </p:nvSpPr>
        <p:spPr>
          <a:xfrm>
            <a:off x="5696712" y="2103120"/>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Showed convolutional recurrent modeling for precipitation nowcasting.</a:t>
            </a:r>
          </a:p>
        </p:txBody>
      </p:sp>
      <p:sp>
        <p:nvSpPr>
          <p:cNvPr id="27" name="Rectangle 26"/>
          <p:cNvSpPr/>
          <p:nvPr/>
        </p:nvSpPr>
        <p:spPr>
          <a:xfrm>
            <a:off x="8485632" y="2048255"/>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8" name="TextBox 27"/>
          <p:cNvSpPr txBox="1"/>
          <p:nvPr/>
        </p:nvSpPr>
        <p:spPr>
          <a:xfrm>
            <a:off x="8531352" y="2103120"/>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Need stronger long-range motion / multi-source context.</a:t>
            </a:r>
          </a:p>
        </p:txBody>
      </p:sp>
      <p:sp>
        <p:nvSpPr>
          <p:cNvPr id="29" name="Rectangle 28"/>
          <p:cNvSpPr/>
          <p:nvPr/>
        </p:nvSpPr>
        <p:spPr>
          <a:xfrm>
            <a:off x="347472" y="2798063"/>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0" name="TextBox 29"/>
          <p:cNvSpPr txBox="1"/>
          <p:nvPr/>
        </p:nvSpPr>
        <p:spPr>
          <a:xfrm>
            <a:off x="393192" y="2852927"/>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Deep Learning for Precipitation Nowcasting</a:t>
            </a:r>
          </a:p>
        </p:txBody>
      </p:sp>
      <p:sp>
        <p:nvSpPr>
          <p:cNvPr id="31" name="Rectangle 30"/>
          <p:cNvSpPr/>
          <p:nvPr/>
        </p:nvSpPr>
        <p:spPr>
          <a:xfrm>
            <a:off x="2313432" y="2798063"/>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2" name="TextBox 31"/>
          <p:cNvSpPr txBox="1"/>
          <p:nvPr/>
        </p:nvSpPr>
        <p:spPr>
          <a:xfrm>
            <a:off x="2359151" y="2852927"/>
            <a:ext cx="1234439"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Shi et al.</a:t>
            </a:r>
          </a:p>
        </p:txBody>
      </p:sp>
      <p:sp>
        <p:nvSpPr>
          <p:cNvPr id="33" name="Rectangle 32"/>
          <p:cNvSpPr/>
          <p:nvPr/>
        </p:nvSpPr>
        <p:spPr>
          <a:xfrm>
            <a:off x="3639311" y="2798063"/>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4" name="TextBox 33"/>
          <p:cNvSpPr txBox="1"/>
          <p:nvPr/>
        </p:nvSpPr>
        <p:spPr>
          <a:xfrm>
            <a:off x="3685031" y="2852927"/>
            <a:ext cx="5029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2017</a:t>
            </a:r>
          </a:p>
        </p:txBody>
      </p:sp>
      <p:sp>
        <p:nvSpPr>
          <p:cNvPr id="35" name="Rectangle 34"/>
          <p:cNvSpPr/>
          <p:nvPr/>
        </p:nvSpPr>
        <p:spPr>
          <a:xfrm>
            <a:off x="4233672" y="2798063"/>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6" name="TextBox 35"/>
          <p:cNvSpPr txBox="1"/>
          <p:nvPr/>
        </p:nvSpPr>
        <p:spPr>
          <a:xfrm>
            <a:off x="4279392" y="2852927"/>
            <a:ext cx="132588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TrajGRU / deep recurrent</a:t>
            </a:r>
          </a:p>
        </p:txBody>
      </p:sp>
      <p:sp>
        <p:nvSpPr>
          <p:cNvPr id="37" name="Rectangle 36"/>
          <p:cNvSpPr/>
          <p:nvPr/>
        </p:nvSpPr>
        <p:spPr>
          <a:xfrm>
            <a:off x="5650992" y="2798063"/>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8" name="TextBox 37"/>
          <p:cNvSpPr txBox="1"/>
          <p:nvPr/>
        </p:nvSpPr>
        <p:spPr>
          <a:xfrm>
            <a:off x="5696712" y="2852927"/>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Improved nonlinear motion representation over standard recurrent approaches.</a:t>
            </a:r>
          </a:p>
        </p:txBody>
      </p:sp>
      <p:sp>
        <p:nvSpPr>
          <p:cNvPr id="39" name="Rectangle 38"/>
          <p:cNvSpPr/>
          <p:nvPr/>
        </p:nvSpPr>
        <p:spPr>
          <a:xfrm>
            <a:off x="8485632" y="2798063"/>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0" name="TextBox 39"/>
          <p:cNvSpPr txBox="1"/>
          <p:nvPr/>
        </p:nvSpPr>
        <p:spPr>
          <a:xfrm>
            <a:off x="8531352" y="2852927"/>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Radar-centric; local station + NWP fusion remains open.</a:t>
            </a:r>
          </a:p>
        </p:txBody>
      </p:sp>
      <p:sp>
        <p:nvSpPr>
          <p:cNvPr id="41" name="Rectangle 40"/>
          <p:cNvSpPr/>
          <p:nvPr/>
        </p:nvSpPr>
        <p:spPr>
          <a:xfrm>
            <a:off x="347472" y="3547872"/>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2" name="TextBox 41"/>
          <p:cNvSpPr txBox="1"/>
          <p:nvPr/>
        </p:nvSpPr>
        <p:spPr>
          <a:xfrm>
            <a:off x="393192" y="3602736"/>
            <a:ext cx="1874519" cy="600164"/>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Deep Learning Based Precipitation Nowcasting using BiLSTM + 1D CNN</a:t>
            </a:r>
          </a:p>
        </p:txBody>
      </p:sp>
      <p:sp>
        <p:nvSpPr>
          <p:cNvPr id="43" name="Rectangle 42"/>
          <p:cNvSpPr/>
          <p:nvPr/>
        </p:nvSpPr>
        <p:spPr>
          <a:xfrm>
            <a:off x="2313432" y="3547872"/>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4" name="TextBox 43"/>
          <p:cNvSpPr txBox="1"/>
          <p:nvPr/>
        </p:nvSpPr>
        <p:spPr>
          <a:xfrm>
            <a:off x="2359151" y="3602736"/>
            <a:ext cx="123443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Selected recent literature</a:t>
            </a:r>
          </a:p>
        </p:txBody>
      </p:sp>
      <p:sp>
        <p:nvSpPr>
          <p:cNvPr id="45" name="Rectangle 44"/>
          <p:cNvSpPr/>
          <p:nvPr/>
        </p:nvSpPr>
        <p:spPr>
          <a:xfrm>
            <a:off x="3639311" y="3547872"/>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6" name="TextBox 45"/>
          <p:cNvSpPr txBox="1"/>
          <p:nvPr/>
        </p:nvSpPr>
        <p:spPr>
          <a:xfrm>
            <a:off x="3685031" y="3602736"/>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2021–24</a:t>
            </a:r>
          </a:p>
        </p:txBody>
      </p:sp>
      <p:sp>
        <p:nvSpPr>
          <p:cNvPr id="47" name="Rectangle 46"/>
          <p:cNvSpPr/>
          <p:nvPr/>
        </p:nvSpPr>
        <p:spPr>
          <a:xfrm>
            <a:off x="4233672" y="3547872"/>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8" name="TextBox 47"/>
          <p:cNvSpPr txBox="1"/>
          <p:nvPr/>
        </p:nvSpPr>
        <p:spPr>
          <a:xfrm>
            <a:off x="4279392" y="3602736"/>
            <a:ext cx="132588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BiLSTM + CNN</a:t>
            </a:r>
          </a:p>
        </p:txBody>
      </p:sp>
      <p:sp>
        <p:nvSpPr>
          <p:cNvPr id="49" name="Rectangle 48"/>
          <p:cNvSpPr/>
          <p:nvPr/>
        </p:nvSpPr>
        <p:spPr>
          <a:xfrm>
            <a:off x="5650992" y="3547872"/>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0" name="TextBox 49"/>
          <p:cNvSpPr txBox="1"/>
          <p:nvPr/>
        </p:nvSpPr>
        <p:spPr>
          <a:xfrm>
            <a:off x="5696712" y="3602736"/>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Combines temporal sequence learning with local feature extraction.</a:t>
            </a:r>
          </a:p>
        </p:txBody>
      </p:sp>
      <p:sp>
        <p:nvSpPr>
          <p:cNvPr id="51" name="Rectangle 50"/>
          <p:cNvSpPr/>
          <p:nvPr/>
        </p:nvSpPr>
        <p:spPr>
          <a:xfrm>
            <a:off x="8485632" y="3547872"/>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2" name="TextBox 51"/>
          <p:cNvSpPr txBox="1"/>
          <p:nvPr/>
        </p:nvSpPr>
        <p:spPr>
          <a:xfrm>
            <a:off x="8531352" y="3602736"/>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Limited spatial graph structure and heterogeneous station fusion.</a:t>
            </a:r>
          </a:p>
        </p:txBody>
      </p:sp>
      <p:sp>
        <p:nvSpPr>
          <p:cNvPr id="53" name="Rectangle 52"/>
          <p:cNvSpPr/>
          <p:nvPr/>
        </p:nvSpPr>
        <p:spPr>
          <a:xfrm>
            <a:off x="347472" y="4297679"/>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4" name="TextBox 53"/>
          <p:cNvSpPr txBox="1"/>
          <p:nvPr/>
        </p:nvSpPr>
        <p:spPr>
          <a:xfrm>
            <a:off x="393192" y="4352543"/>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LSTMAtU-Net for precipitation nowcasting</a:t>
            </a:r>
          </a:p>
        </p:txBody>
      </p:sp>
      <p:sp>
        <p:nvSpPr>
          <p:cNvPr id="55" name="Rectangle 54"/>
          <p:cNvSpPr/>
          <p:nvPr/>
        </p:nvSpPr>
        <p:spPr>
          <a:xfrm>
            <a:off x="2313432" y="4297679"/>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6" name="TextBox 55"/>
          <p:cNvSpPr txBox="1"/>
          <p:nvPr/>
        </p:nvSpPr>
        <p:spPr>
          <a:xfrm>
            <a:off x="2359151" y="4352543"/>
            <a:ext cx="123443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Selected recent literature</a:t>
            </a:r>
          </a:p>
        </p:txBody>
      </p:sp>
      <p:sp>
        <p:nvSpPr>
          <p:cNvPr id="57" name="Rectangle 56"/>
          <p:cNvSpPr/>
          <p:nvPr/>
        </p:nvSpPr>
        <p:spPr>
          <a:xfrm>
            <a:off x="3639311" y="4297679"/>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8" name="TextBox 57"/>
          <p:cNvSpPr txBox="1"/>
          <p:nvPr/>
        </p:nvSpPr>
        <p:spPr>
          <a:xfrm>
            <a:off x="3685031" y="4352543"/>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2023–24</a:t>
            </a:r>
          </a:p>
        </p:txBody>
      </p:sp>
      <p:sp>
        <p:nvSpPr>
          <p:cNvPr id="59" name="Rectangle 58"/>
          <p:cNvSpPr/>
          <p:nvPr/>
        </p:nvSpPr>
        <p:spPr>
          <a:xfrm>
            <a:off x="4233672" y="4297679"/>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0" name="TextBox 59"/>
          <p:cNvSpPr txBox="1"/>
          <p:nvPr/>
        </p:nvSpPr>
        <p:spPr>
          <a:xfrm>
            <a:off x="4279392" y="4352543"/>
            <a:ext cx="132588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LSTM + attention U-Net</a:t>
            </a:r>
          </a:p>
        </p:txBody>
      </p:sp>
      <p:sp>
        <p:nvSpPr>
          <p:cNvPr id="61" name="Rectangle 60"/>
          <p:cNvSpPr/>
          <p:nvPr/>
        </p:nvSpPr>
        <p:spPr>
          <a:xfrm>
            <a:off x="5650992" y="4297679"/>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2" name="TextBox 61"/>
          <p:cNvSpPr txBox="1"/>
          <p:nvPr/>
        </p:nvSpPr>
        <p:spPr>
          <a:xfrm>
            <a:off x="5696712" y="4352543"/>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Attention helps focus on important spatial-temporal features.</a:t>
            </a:r>
          </a:p>
        </p:txBody>
      </p:sp>
      <p:sp>
        <p:nvSpPr>
          <p:cNvPr id="63" name="Rectangle 62"/>
          <p:cNvSpPr/>
          <p:nvPr/>
        </p:nvSpPr>
        <p:spPr>
          <a:xfrm>
            <a:off x="8485632" y="4297679"/>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4" name="TextBox 63"/>
          <p:cNvSpPr txBox="1"/>
          <p:nvPr/>
        </p:nvSpPr>
        <p:spPr>
          <a:xfrm>
            <a:off x="8531352" y="4352543"/>
            <a:ext cx="32461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Often dependent on dense radar / image inputs.</a:t>
            </a:r>
          </a:p>
        </p:txBody>
      </p:sp>
      <p:sp>
        <p:nvSpPr>
          <p:cNvPr id="65" name="Rectangle 64"/>
          <p:cNvSpPr/>
          <p:nvPr/>
        </p:nvSpPr>
        <p:spPr>
          <a:xfrm>
            <a:off x="347472" y="5047488"/>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6" name="TextBox 65"/>
          <p:cNvSpPr txBox="1"/>
          <p:nvPr/>
        </p:nvSpPr>
        <p:spPr>
          <a:xfrm>
            <a:off x="393192" y="5102351"/>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ConvLSTM with wind-field information</a:t>
            </a:r>
          </a:p>
        </p:txBody>
      </p:sp>
      <p:sp>
        <p:nvSpPr>
          <p:cNvPr id="67" name="Rectangle 66"/>
          <p:cNvSpPr/>
          <p:nvPr/>
        </p:nvSpPr>
        <p:spPr>
          <a:xfrm>
            <a:off x="2313432" y="5047488"/>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8" name="TextBox 67"/>
          <p:cNvSpPr txBox="1"/>
          <p:nvPr/>
        </p:nvSpPr>
        <p:spPr>
          <a:xfrm>
            <a:off x="2359151" y="5102351"/>
            <a:ext cx="123443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Selected recent literature</a:t>
            </a:r>
          </a:p>
        </p:txBody>
      </p:sp>
      <p:sp>
        <p:nvSpPr>
          <p:cNvPr id="69" name="Rectangle 68"/>
          <p:cNvSpPr/>
          <p:nvPr/>
        </p:nvSpPr>
        <p:spPr>
          <a:xfrm>
            <a:off x="3639311" y="5047488"/>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0" name="TextBox 69"/>
          <p:cNvSpPr txBox="1"/>
          <p:nvPr/>
        </p:nvSpPr>
        <p:spPr>
          <a:xfrm>
            <a:off x="3685031" y="5102351"/>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2020–24</a:t>
            </a:r>
          </a:p>
        </p:txBody>
      </p:sp>
      <p:sp>
        <p:nvSpPr>
          <p:cNvPr id="71" name="Rectangle 70"/>
          <p:cNvSpPr/>
          <p:nvPr/>
        </p:nvSpPr>
        <p:spPr>
          <a:xfrm>
            <a:off x="4233672" y="5047488"/>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2" name="TextBox 71"/>
          <p:cNvSpPr txBox="1"/>
          <p:nvPr/>
        </p:nvSpPr>
        <p:spPr>
          <a:xfrm>
            <a:off x="4279392" y="5102351"/>
            <a:ext cx="132588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ConvLSTM + wind features</a:t>
            </a:r>
          </a:p>
        </p:txBody>
      </p:sp>
      <p:sp>
        <p:nvSpPr>
          <p:cNvPr id="73" name="Rectangle 72"/>
          <p:cNvSpPr/>
          <p:nvPr/>
        </p:nvSpPr>
        <p:spPr>
          <a:xfrm>
            <a:off x="5650992" y="5047488"/>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4" name="TextBox 73"/>
          <p:cNvSpPr txBox="1"/>
          <p:nvPr/>
        </p:nvSpPr>
        <p:spPr>
          <a:xfrm>
            <a:off x="5696712" y="5102351"/>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Wind context improves representation of precipitation movement.</a:t>
            </a:r>
          </a:p>
        </p:txBody>
      </p:sp>
      <p:sp>
        <p:nvSpPr>
          <p:cNvPr id="75" name="Rectangle 74"/>
          <p:cNvSpPr/>
          <p:nvPr/>
        </p:nvSpPr>
        <p:spPr>
          <a:xfrm>
            <a:off x="8485632" y="5047488"/>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6" name="TextBox 75"/>
          <p:cNvSpPr txBox="1"/>
          <p:nvPr/>
        </p:nvSpPr>
        <p:spPr>
          <a:xfrm>
            <a:off x="8531352" y="5102351"/>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Requires richer spatial observations than sparse PWS alone.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Literature Survey – Part 2</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 name="Rectangle 4"/>
          <p:cNvSpPr/>
          <p:nvPr/>
        </p:nvSpPr>
        <p:spPr>
          <a:xfrm>
            <a:off x="347472" y="1298448"/>
            <a:ext cx="19659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 name="TextBox 5"/>
          <p:cNvSpPr txBox="1"/>
          <p:nvPr/>
        </p:nvSpPr>
        <p:spPr>
          <a:xfrm>
            <a:off x="393192" y="1371600"/>
            <a:ext cx="1874519"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Title</a:t>
            </a:r>
          </a:p>
        </p:txBody>
      </p:sp>
      <p:sp>
        <p:nvSpPr>
          <p:cNvPr id="7" name="Rectangle 6"/>
          <p:cNvSpPr/>
          <p:nvPr/>
        </p:nvSpPr>
        <p:spPr>
          <a:xfrm>
            <a:off x="2313432" y="1298448"/>
            <a:ext cx="132588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8" name="TextBox 7"/>
          <p:cNvSpPr txBox="1"/>
          <p:nvPr/>
        </p:nvSpPr>
        <p:spPr>
          <a:xfrm>
            <a:off x="2359151" y="1371600"/>
            <a:ext cx="1234439"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Authors</a:t>
            </a:r>
          </a:p>
        </p:txBody>
      </p:sp>
      <p:sp>
        <p:nvSpPr>
          <p:cNvPr id="9" name="Rectangle 8"/>
          <p:cNvSpPr/>
          <p:nvPr/>
        </p:nvSpPr>
        <p:spPr>
          <a:xfrm>
            <a:off x="3639311" y="1298448"/>
            <a:ext cx="5943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0" name="TextBox 9"/>
          <p:cNvSpPr txBox="1"/>
          <p:nvPr/>
        </p:nvSpPr>
        <p:spPr>
          <a:xfrm>
            <a:off x="3685031" y="1371600"/>
            <a:ext cx="50292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Year</a:t>
            </a:r>
          </a:p>
        </p:txBody>
      </p:sp>
      <p:sp>
        <p:nvSpPr>
          <p:cNvPr id="11" name="Rectangle 10"/>
          <p:cNvSpPr/>
          <p:nvPr/>
        </p:nvSpPr>
        <p:spPr>
          <a:xfrm>
            <a:off x="4233672" y="1298448"/>
            <a:ext cx="141732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2" name="TextBox 11"/>
          <p:cNvSpPr txBox="1"/>
          <p:nvPr/>
        </p:nvSpPr>
        <p:spPr>
          <a:xfrm>
            <a:off x="4279392" y="1371600"/>
            <a:ext cx="132588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Methodology</a:t>
            </a:r>
          </a:p>
        </p:txBody>
      </p:sp>
      <p:sp>
        <p:nvSpPr>
          <p:cNvPr id="13" name="Rectangle 12"/>
          <p:cNvSpPr/>
          <p:nvPr/>
        </p:nvSpPr>
        <p:spPr>
          <a:xfrm>
            <a:off x="5650992" y="1298448"/>
            <a:ext cx="283464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4" name="TextBox 13"/>
          <p:cNvSpPr txBox="1"/>
          <p:nvPr/>
        </p:nvSpPr>
        <p:spPr>
          <a:xfrm>
            <a:off x="5696712" y="1371600"/>
            <a:ext cx="274320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Key Result</a:t>
            </a:r>
          </a:p>
        </p:txBody>
      </p:sp>
      <p:sp>
        <p:nvSpPr>
          <p:cNvPr id="15" name="Rectangle 14"/>
          <p:cNvSpPr/>
          <p:nvPr/>
        </p:nvSpPr>
        <p:spPr>
          <a:xfrm>
            <a:off x="8485632" y="1298448"/>
            <a:ext cx="3337560" cy="749808"/>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6" name="TextBox 15"/>
          <p:cNvSpPr txBox="1"/>
          <p:nvPr/>
        </p:nvSpPr>
        <p:spPr>
          <a:xfrm>
            <a:off x="8531352" y="1371600"/>
            <a:ext cx="3246120" cy="261610"/>
          </a:xfrm>
          <a:prstGeom prst="rect">
            <a:avLst/>
          </a:prstGeom>
          <a:noFill/>
        </p:spPr>
        <p:txBody>
          <a:bodyPr wrap="square" anchor="t">
            <a:spAutoFit/>
          </a:bodyPr>
          <a:lstStyle/>
          <a:p>
            <a:pPr algn="l"/>
            <a:r>
              <a:rPr sz="1100" b="1">
                <a:solidFill>
                  <a:srgbClr val="141414"/>
                </a:solidFill>
                <a:latin typeface="Times New Roman" panose="02020603050405020304" pitchFamily="18" charset="0"/>
                <a:cs typeface="Times New Roman" panose="02020603050405020304" pitchFamily="18" charset="0"/>
              </a:rPr>
              <a:t>Gap Identified</a:t>
            </a:r>
          </a:p>
        </p:txBody>
      </p:sp>
      <p:sp>
        <p:nvSpPr>
          <p:cNvPr id="17" name="Rectangle 16"/>
          <p:cNvSpPr/>
          <p:nvPr/>
        </p:nvSpPr>
        <p:spPr>
          <a:xfrm>
            <a:off x="347472" y="2048255"/>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18" name="TextBox 17"/>
          <p:cNvSpPr txBox="1"/>
          <p:nvPr/>
        </p:nvSpPr>
        <p:spPr>
          <a:xfrm>
            <a:off x="393192" y="2103120"/>
            <a:ext cx="1874519"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Two-stream ConvLSTM</a:t>
            </a:r>
          </a:p>
        </p:txBody>
      </p:sp>
      <p:sp>
        <p:nvSpPr>
          <p:cNvPr id="19" name="Rectangle 18"/>
          <p:cNvSpPr/>
          <p:nvPr/>
        </p:nvSpPr>
        <p:spPr>
          <a:xfrm>
            <a:off x="2313432" y="2048255"/>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0" name="TextBox 19"/>
          <p:cNvSpPr txBox="1"/>
          <p:nvPr/>
        </p:nvSpPr>
        <p:spPr>
          <a:xfrm>
            <a:off x="2359151" y="2103120"/>
            <a:ext cx="1234439" cy="769441"/>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Recent precipitation-nowcasting studies</a:t>
            </a:r>
          </a:p>
        </p:txBody>
      </p:sp>
      <p:sp>
        <p:nvSpPr>
          <p:cNvPr id="21" name="Rectangle 20"/>
          <p:cNvSpPr/>
          <p:nvPr/>
        </p:nvSpPr>
        <p:spPr>
          <a:xfrm>
            <a:off x="3639311" y="2048255"/>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2" name="TextBox 21"/>
          <p:cNvSpPr txBox="1"/>
          <p:nvPr/>
        </p:nvSpPr>
        <p:spPr>
          <a:xfrm>
            <a:off x="3685031" y="2103120"/>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2022–24</a:t>
            </a:r>
          </a:p>
        </p:txBody>
      </p:sp>
      <p:sp>
        <p:nvSpPr>
          <p:cNvPr id="23" name="Rectangle 22"/>
          <p:cNvSpPr/>
          <p:nvPr/>
        </p:nvSpPr>
        <p:spPr>
          <a:xfrm>
            <a:off x="4233672" y="2048255"/>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4" name="TextBox 23"/>
          <p:cNvSpPr txBox="1"/>
          <p:nvPr/>
        </p:nvSpPr>
        <p:spPr>
          <a:xfrm>
            <a:off x="4279392" y="2103120"/>
            <a:ext cx="132588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Two-stream ConvLSTM</a:t>
            </a:r>
          </a:p>
        </p:txBody>
      </p:sp>
      <p:sp>
        <p:nvSpPr>
          <p:cNvPr id="25" name="Rectangle 24"/>
          <p:cNvSpPr/>
          <p:nvPr/>
        </p:nvSpPr>
        <p:spPr>
          <a:xfrm>
            <a:off x="5650992" y="2048255"/>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6" name="TextBox 25"/>
          <p:cNvSpPr txBox="1"/>
          <p:nvPr/>
        </p:nvSpPr>
        <p:spPr>
          <a:xfrm>
            <a:off x="5696712" y="2103120"/>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Separates complementary spatial / temporal representations.</a:t>
            </a:r>
          </a:p>
        </p:txBody>
      </p:sp>
      <p:sp>
        <p:nvSpPr>
          <p:cNvPr id="27" name="Rectangle 26"/>
          <p:cNvSpPr/>
          <p:nvPr/>
        </p:nvSpPr>
        <p:spPr>
          <a:xfrm>
            <a:off x="8485632" y="2048255"/>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28" name="TextBox 27"/>
          <p:cNvSpPr txBox="1"/>
          <p:nvPr/>
        </p:nvSpPr>
        <p:spPr>
          <a:xfrm>
            <a:off x="8531352" y="2103120"/>
            <a:ext cx="32461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Data-intensive and commonly radar-based.</a:t>
            </a:r>
          </a:p>
        </p:txBody>
      </p:sp>
      <p:sp>
        <p:nvSpPr>
          <p:cNvPr id="29" name="Rectangle 28"/>
          <p:cNvSpPr/>
          <p:nvPr/>
        </p:nvSpPr>
        <p:spPr>
          <a:xfrm>
            <a:off x="347472" y="2798063"/>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0" name="TextBox 29"/>
          <p:cNvSpPr txBox="1"/>
          <p:nvPr/>
        </p:nvSpPr>
        <p:spPr>
          <a:xfrm>
            <a:off x="393192" y="2852927"/>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Spatiotemporal GNN for rainfall</a:t>
            </a:r>
          </a:p>
        </p:txBody>
      </p:sp>
      <p:sp>
        <p:nvSpPr>
          <p:cNvPr id="31" name="Rectangle 30"/>
          <p:cNvSpPr/>
          <p:nvPr/>
        </p:nvSpPr>
        <p:spPr>
          <a:xfrm>
            <a:off x="2313432" y="2798063"/>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2" name="TextBox 31"/>
          <p:cNvSpPr txBox="1"/>
          <p:nvPr/>
        </p:nvSpPr>
        <p:spPr>
          <a:xfrm>
            <a:off x="2359151" y="2852927"/>
            <a:ext cx="123443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Recent GNN literature</a:t>
            </a:r>
          </a:p>
        </p:txBody>
      </p:sp>
      <p:sp>
        <p:nvSpPr>
          <p:cNvPr id="33" name="Rectangle 32"/>
          <p:cNvSpPr/>
          <p:nvPr/>
        </p:nvSpPr>
        <p:spPr>
          <a:xfrm>
            <a:off x="3639311" y="2798063"/>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4" name="TextBox 33"/>
          <p:cNvSpPr txBox="1"/>
          <p:nvPr/>
        </p:nvSpPr>
        <p:spPr>
          <a:xfrm>
            <a:off x="3685031" y="2852927"/>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2022–25</a:t>
            </a:r>
          </a:p>
        </p:txBody>
      </p:sp>
      <p:sp>
        <p:nvSpPr>
          <p:cNvPr id="35" name="Rectangle 34"/>
          <p:cNvSpPr/>
          <p:nvPr/>
        </p:nvSpPr>
        <p:spPr>
          <a:xfrm>
            <a:off x="4233672" y="2798063"/>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6" name="TextBox 35"/>
          <p:cNvSpPr txBox="1"/>
          <p:nvPr/>
        </p:nvSpPr>
        <p:spPr>
          <a:xfrm>
            <a:off x="4279392" y="2852927"/>
            <a:ext cx="132588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Graph neural network</a:t>
            </a:r>
          </a:p>
        </p:txBody>
      </p:sp>
      <p:sp>
        <p:nvSpPr>
          <p:cNvPr id="37" name="Rectangle 36"/>
          <p:cNvSpPr/>
          <p:nvPr/>
        </p:nvSpPr>
        <p:spPr>
          <a:xfrm>
            <a:off x="5650992" y="2798063"/>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38" name="TextBox 37"/>
          <p:cNvSpPr txBox="1"/>
          <p:nvPr/>
        </p:nvSpPr>
        <p:spPr>
          <a:xfrm>
            <a:off x="5696712" y="2852927"/>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Models stations as nodes and spatial relations as edges.</a:t>
            </a:r>
          </a:p>
        </p:txBody>
      </p:sp>
      <p:sp>
        <p:nvSpPr>
          <p:cNvPr id="39" name="Rectangle 38"/>
          <p:cNvSpPr/>
          <p:nvPr/>
        </p:nvSpPr>
        <p:spPr>
          <a:xfrm>
            <a:off x="8485632" y="2798063"/>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0" name="TextBox 39"/>
          <p:cNvSpPr txBox="1"/>
          <p:nvPr/>
        </p:nvSpPr>
        <p:spPr>
          <a:xfrm>
            <a:off x="8531352" y="2852927"/>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Requires careful graph construction for sparse, heterogeneous stations.</a:t>
            </a:r>
          </a:p>
        </p:txBody>
      </p:sp>
      <p:sp>
        <p:nvSpPr>
          <p:cNvPr id="41" name="Rectangle 40"/>
          <p:cNvSpPr/>
          <p:nvPr/>
        </p:nvSpPr>
        <p:spPr>
          <a:xfrm>
            <a:off x="347472" y="3547872"/>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2" name="TextBox 41"/>
          <p:cNvSpPr txBox="1"/>
          <p:nvPr/>
        </p:nvSpPr>
        <p:spPr>
          <a:xfrm>
            <a:off x="393192" y="3602736"/>
            <a:ext cx="1874519"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ST-GRF</a:t>
            </a:r>
          </a:p>
        </p:txBody>
      </p:sp>
      <p:sp>
        <p:nvSpPr>
          <p:cNvPr id="43" name="Rectangle 42"/>
          <p:cNvSpPr/>
          <p:nvPr/>
        </p:nvSpPr>
        <p:spPr>
          <a:xfrm>
            <a:off x="2313432" y="3547872"/>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4" name="TextBox 43"/>
          <p:cNvSpPr txBox="1"/>
          <p:nvPr/>
        </p:nvSpPr>
        <p:spPr>
          <a:xfrm>
            <a:off x="2359151" y="3602736"/>
            <a:ext cx="1234439" cy="600164"/>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Recent spatiotemporal graph research</a:t>
            </a:r>
          </a:p>
        </p:txBody>
      </p:sp>
      <p:sp>
        <p:nvSpPr>
          <p:cNvPr id="45" name="Rectangle 44"/>
          <p:cNvSpPr/>
          <p:nvPr/>
        </p:nvSpPr>
        <p:spPr>
          <a:xfrm>
            <a:off x="3639311" y="3547872"/>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6" name="TextBox 45"/>
          <p:cNvSpPr txBox="1"/>
          <p:nvPr/>
        </p:nvSpPr>
        <p:spPr>
          <a:xfrm>
            <a:off x="3685031" y="3602736"/>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2023–25</a:t>
            </a:r>
          </a:p>
        </p:txBody>
      </p:sp>
      <p:sp>
        <p:nvSpPr>
          <p:cNvPr id="47" name="Rectangle 46"/>
          <p:cNvSpPr/>
          <p:nvPr/>
        </p:nvSpPr>
        <p:spPr>
          <a:xfrm>
            <a:off x="4233672" y="3547872"/>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48" name="TextBox 47"/>
          <p:cNvSpPr txBox="1"/>
          <p:nvPr/>
        </p:nvSpPr>
        <p:spPr>
          <a:xfrm>
            <a:off x="4279392" y="3602736"/>
            <a:ext cx="1325880" cy="600164"/>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Spatiotemporal graph + recurrent features</a:t>
            </a:r>
          </a:p>
        </p:txBody>
      </p:sp>
      <p:sp>
        <p:nvSpPr>
          <p:cNvPr id="49" name="Rectangle 48"/>
          <p:cNvSpPr/>
          <p:nvPr/>
        </p:nvSpPr>
        <p:spPr>
          <a:xfrm>
            <a:off x="5650992" y="3547872"/>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0" name="TextBox 49"/>
          <p:cNvSpPr txBox="1"/>
          <p:nvPr/>
        </p:nvSpPr>
        <p:spPr>
          <a:xfrm>
            <a:off x="5696712" y="3602736"/>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Captures spatial dependency and temporal evolution.</a:t>
            </a:r>
          </a:p>
        </p:txBody>
      </p:sp>
      <p:sp>
        <p:nvSpPr>
          <p:cNvPr id="51" name="Rectangle 50"/>
          <p:cNvSpPr/>
          <p:nvPr/>
        </p:nvSpPr>
        <p:spPr>
          <a:xfrm>
            <a:off x="8485632" y="3547872"/>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2" name="TextBox 51"/>
          <p:cNvSpPr txBox="1"/>
          <p:nvPr/>
        </p:nvSpPr>
        <p:spPr>
          <a:xfrm>
            <a:off x="8531352" y="3602736"/>
            <a:ext cx="32461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Operational deployment and regional data fusion remain challenging.</a:t>
            </a:r>
          </a:p>
        </p:txBody>
      </p:sp>
      <p:sp>
        <p:nvSpPr>
          <p:cNvPr id="53" name="Rectangle 52"/>
          <p:cNvSpPr/>
          <p:nvPr/>
        </p:nvSpPr>
        <p:spPr>
          <a:xfrm>
            <a:off x="347472" y="4297679"/>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4" name="TextBox 53"/>
          <p:cNvSpPr txBox="1"/>
          <p:nvPr/>
        </p:nvSpPr>
        <p:spPr>
          <a:xfrm>
            <a:off x="393192" y="4352543"/>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GIPMN: NWP + GNN precipitation model</a:t>
            </a:r>
          </a:p>
        </p:txBody>
      </p:sp>
      <p:sp>
        <p:nvSpPr>
          <p:cNvPr id="55" name="Rectangle 54"/>
          <p:cNvSpPr/>
          <p:nvPr/>
        </p:nvSpPr>
        <p:spPr>
          <a:xfrm>
            <a:off x="2313432" y="4297679"/>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6" name="TextBox 55"/>
          <p:cNvSpPr txBox="1"/>
          <p:nvPr/>
        </p:nvSpPr>
        <p:spPr>
          <a:xfrm>
            <a:off x="2359151" y="4352543"/>
            <a:ext cx="1234439" cy="600164"/>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Recent hybrid NWP-GNN research</a:t>
            </a:r>
          </a:p>
        </p:txBody>
      </p:sp>
      <p:sp>
        <p:nvSpPr>
          <p:cNvPr id="57" name="Rectangle 56"/>
          <p:cNvSpPr/>
          <p:nvPr/>
        </p:nvSpPr>
        <p:spPr>
          <a:xfrm>
            <a:off x="3639311" y="4297679"/>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58" name="TextBox 57"/>
          <p:cNvSpPr txBox="1"/>
          <p:nvPr/>
        </p:nvSpPr>
        <p:spPr>
          <a:xfrm>
            <a:off x="3685031" y="4352543"/>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2024–25</a:t>
            </a:r>
          </a:p>
        </p:txBody>
      </p:sp>
      <p:sp>
        <p:nvSpPr>
          <p:cNvPr id="59" name="Rectangle 58"/>
          <p:cNvSpPr/>
          <p:nvPr/>
        </p:nvSpPr>
        <p:spPr>
          <a:xfrm>
            <a:off x="4233672" y="4297679"/>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0" name="TextBox 59"/>
          <p:cNvSpPr txBox="1"/>
          <p:nvPr/>
        </p:nvSpPr>
        <p:spPr>
          <a:xfrm>
            <a:off x="4279392" y="4352543"/>
            <a:ext cx="132588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NWP + GNN</a:t>
            </a:r>
          </a:p>
        </p:txBody>
      </p:sp>
      <p:sp>
        <p:nvSpPr>
          <p:cNvPr id="61" name="Rectangle 60"/>
          <p:cNvSpPr/>
          <p:nvPr/>
        </p:nvSpPr>
        <p:spPr>
          <a:xfrm>
            <a:off x="5650992" y="4297679"/>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2" name="TextBox 61"/>
          <p:cNvSpPr txBox="1"/>
          <p:nvPr/>
        </p:nvSpPr>
        <p:spPr>
          <a:xfrm>
            <a:off x="5696712" y="4352543"/>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Combines physical forecast context with learned spatial relations.</a:t>
            </a:r>
          </a:p>
        </p:txBody>
      </p:sp>
      <p:sp>
        <p:nvSpPr>
          <p:cNvPr id="63" name="Rectangle 62"/>
          <p:cNvSpPr/>
          <p:nvPr/>
        </p:nvSpPr>
        <p:spPr>
          <a:xfrm>
            <a:off x="8485632" y="4297679"/>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4" name="TextBox 63"/>
          <p:cNvSpPr txBox="1"/>
          <p:nvPr/>
        </p:nvSpPr>
        <p:spPr>
          <a:xfrm>
            <a:off x="8531352" y="4352543"/>
            <a:ext cx="32461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Model complexity and data alignment are significant.</a:t>
            </a:r>
          </a:p>
        </p:txBody>
      </p:sp>
      <p:sp>
        <p:nvSpPr>
          <p:cNvPr id="65" name="Rectangle 64"/>
          <p:cNvSpPr/>
          <p:nvPr/>
        </p:nvSpPr>
        <p:spPr>
          <a:xfrm>
            <a:off x="347472" y="5047488"/>
            <a:ext cx="19659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6" name="TextBox 65"/>
          <p:cNvSpPr txBox="1"/>
          <p:nvPr/>
        </p:nvSpPr>
        <p:spPr>
          <a:xfrm>
            <a:off x="393192" y="5102351"/>
            <a:ext cx="187451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RF/XGBoost comparison for rainfall</a:t>
            </a:r>
          </a:p>
        </p:txBody>
      </p:sp>
      <p:sp>
        <p:nvSpPr>
          <p:cNvPr id="67" name="Rectangle 66"/>
          <p:cNvSpPr/>
          <p:nvPr/>
        </p:nvSpPr>
        <p:spPr>
          <a:xfrm>
            <a:off x="2313432" y="5047488"/>
            <a:ext cx="132588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68" name="TextBox 67"/>
          <p:cNvSpPr txBox="1"/>
          <p:nvPr/>
        </p:nvSpPr>
        <p:spPr>
          <a:xfrm>
            <a:off x="2359151" y="5102351"/>
            <a:ext cx="1234439"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Applied ML weather studies</a:t>
            </a:r>
          </a:p>
        </p:txBody>
      </p:sp>
      <p:sp>
        <p:nvSpPr>
          <p:cNvPr id="69" name="Rectangle 68"/>
          <p:cNvSpPr/>
          <p:nvPr/>
        </p:nvSpPr>
        <p:spPr>
          <a:xfrm>
            <a:off x="3639311" y="5047488"/>
            <a:ext cx="5943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0" name="TextBox 69"/>
          <p:cNvSpPr txBox="1"/>
          <p:nvPr/>
        </p:nvSpPr>
        <p:spPr>
          <a:xfrm>
            <a:off x="3685031" y="5102351"/>
            <a:ext cx="50292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2019–25</a:t>
            </a:r>
          </a:p>
        </p:txBody>
      </p:sp>
      <p:sp>
        <p:nvSpPr>
          <p:cNvPr id="71" name="Rectangle 70"/>
          <p:cNvSpPr/>
          <p:nvPr/>
        </p:nvSpPr>
        <p:spPr>
          <a:xfrm>
            <a:off x="4233672" y="5047488"/>
            <a:ext cx="141732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2" name="TextBox 71"/>
          <p:cNvSpPr txBox="1"/>
          <p:nvPr/>
        </p:nvSpPr>
        <p:spPr>
          <a:xfrm>
            <a:off x="4279392" y="5102351"/>
            <a:ext cx="132588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Tree ensembles</a:t>
            </a:r>
          </a:p>
        </p:txBody>
      </p:sp>
      <p:sp>
        <p:nvSpPr>
          <p:cNvPr id="73" name="Rectangle 72"/>
          <p:cNvSpPr/>
          <p:nvPr/>
        </p:nvSpPr>
        <p:spPr>
          <a:xfrm>
            <a:off x="5650992" y="5047488"/>
            <a:ext cx="283464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4" name="TextBox 73"/>
          <p:cNvSpPr txBox="1"/>
          <p:nvPr/>
        </p:nvSpPr>
        <p:spPr>
          <a:xfrm>
            <a:off x="5696712" y="5102351"/>
            <a:ext cx="2743200" cy="430887"/>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Strong baselines on engineered tabular weather features.</a:t>
            </a:r>
          </a:p>
        </p:txBody>
      </p:sp>
      <p:sp>
        <p:nvSpPr>
          <p:cNvPr id="75" name="Rectangle 74"/>
          <p:cNvSpPr/>
          <p:nvPr/>
        </p:nvSpPr>
        <p:spPr>
          <a:xfrm>
            <a:off x="8485632" y="5047488"/>
            <a:ext cx="3337560" cy="749808"/>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latin typeface="Times New Roman" panose="02020603050405020304" pitchFamily="18" charset="0"/>
              <a:cs typeface="Times New Roman" panose="02020603050405020304" pitchFamily="18" charset="0"/>
            </a:endParaRPr>
          </a:p>
        </p:txBody>
      </p:sp>
      <p:sp>
        <p:nvSpPr>
          <p:cNvPr id="76" name="TextBox 75"/>
          <p:cNvSpPr txBox="1"/>
          <p:nvPr/>
        </p:nvSpPr>
        <p:spPr>
          <a:xfrm>
            <a:off x="8531352" y="5102351"/>
            <a:ext cx="3246120" cy="261610"/>
          </a:xfrm>
          <a:prstGeom prst="rect">
            <a:avLst/>
          </a:prstGeom>
          <a:noFill/>
        </p:spPr>
        <p:txBody>
          <a:bodyPr wrap="square" anchor="t">
            <a:spAutoFit/>
          </a:bodyPr>
          <a:lstStyle/>
          <a:p>
            <a:pPr algn="l"/>
            <a:r>
              <a:rPr sz="1100" b="0">
                <a:solidFill>
                  <a:srgbClr val="141414"/>
                </a:solidFill>
                <a:latin typeface="Times New Roman" panose="02020603050405020304" pitchFamily="18" charset="0"/>
                <a:cs typeface="Times New Roman" panose="02020603050405020304" pitchFamily="18" charset="0"/>
              </a:rPr>
              <a:t>Does not fully capture sequential spatial evolution.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Scope &amp; Objectives</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452628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64208"/>
            <a:ext cx="4572000" cy="274320"/>
          </a:xfrm>
          <a:prstGeom prst="rect">
            <a:avLst/>
          </a:prstGeom>
          <a:noFill/>
        </p:spPr>
        <p:txBody>
          <a:bodyPr wrap="square" anchor="t">
            <a:spAutoFit/>
          </a:bodyPr>
          <a:lstStyle/>
          <a:p>
            <a:pPr algn="ctr"/>
            <a:r>
              <a:rPr sz="1600" b="1">
                <a:solidFill>
                  <a:srgbClr val="234869"/>
                </a:solidFill>
                <a:latin typeface="Aptos"/>
              </a:rPr>
              <a:t>SCOPE</a:t>
            </a:r>
          </a:p>
        </p:txBody>
      </p:sp>
      <p:sp>
        <p:nvSpPr>
          <p:cNvPr id="7" name="TextBox 6"/>
          <p:cNvSpPr txBox="1"/>
          <p:nvPr/>
        </p:nvSpPr>
        <p:spPr>
          <a:xfrm>
            <a:off x="960120" y="2103120"/>
            <a:ext cx="4526280" cy="3291840"/>
          </a:xfrm>
          <a:prstGeom prst="rect">
            <a:avLst/>
          </a:prstGeom>
          <a:noFill/>
        </p:spPr>
        <p:txBody>
          <a:bodyPr wrap="square">
            <a:spAutoFit/>
          </a:bodyPr>
          <a:lstStyle/>
          <a:p>
            <a:pPr>
              <a:spcAft>
                <a:spcPts val="600"/>
              </a:spcAft>
              <a:defRPr sz="1300">
                <a:solidFill>
                  <a:srgbClr val="141414"/>
                </a:solidFill>
                <a:latin typeface="Aptos"/>
              </a:defRPr>
            </a:pPr>
            <a:r>
              <a:t>• Puducherry and selected nearby Tamil Nadu locations.</a:t>
            </a:r>
          </a:p>
          <a:p>
            <a:pPr>
              <a:spcAft>
                <a:spcPts val="600"/>
              </a:spcAft>
              <a:defRPr sz="1300">
                <a:solidFill>
                  <a:srgbClr val="141414"/>
                </a:solidFill>
                <a:latin typeface="Aptos"/>
              </a:defRPr>
            </a:pPr>
            <a:r>
              <a:t>• 0–3 hour rainfall nowcasting as the primary prediction horizon.</a:t>
            </a:r>
          </a:p>
          <a:p>
            <a:pPr>
              <a:spcAft>
                <a:spcPts val="600"/>
              </a:spcAft>
              <a:defRPr sz="1300">
                <a:solidFill>
                  <a:srgbClr val="141414"/>
                </a:solidFill>
                <a:latin typeface="Aptos"/>
              </a:defRPr>
            </a:pPr>
            <a:r>
              <a:t>• Multi-source station observations with data quality handling.</a:t>
            </a:r>
          </a:p>
          <a:p>
            <a:pPr>
              <a:spcAft>
                <a:spcPts val="600"/>
              </a:spcAft>
              <a:defRPr sz="1300">
                <a:solidFill>
                  <a:srgbClr val="141414"/>
                </a:solidFill>
                <a:latin typeface="Aptos"/>
              </a:defRPr>
            </a:pPr>
            <a:r>
              <a:t>• ML model comparison from RF/XGBoost to temporal and spatiotemporal models.</a:t>
            </a:r>
          </a:p>
          <a:p>
            <a:pPr>
              <a:spcAft>
                <a:spcPts val="600"/>
              </a:spcAft>
              <a:defRPr sz="1300">
                <a:solidFill>
                  <a:srgbClr val="141414"/>
                </a:solidFill>
                <a:latin typeface="Aptos"/>
              </a:defRPr>
            </a:pPr>
            <a:r>
              <a:t>• ECMWF NWP visualization as complementary context.</a:t>
            </a:r>
          </a:p>
          <a:p>
            <a:pPr>
              <a:spcAft>
                <a:spcPts val="600"/>
              </a:spcAft>
              <a:defRPr sz="1300">
                <a:solidFill>
                  <a:srgbClr val="141414"/>
                </a:solidFill>
                <a:latin typeface="Aptos"/>
              </a:defRPr>
            </a:pPr>
            <a:r>
              <a:t>• Public-facing full-stack dashboard with maps and station analytics.</a:t>
            </a:r>
          </a:p>
        </p:txBody>
      </p:sp>
      <p:sp>
        <p:nvSpPr>
          <p:cNvPr id="8" name="Rounded Rectangle 7"/>
          <p:cNvSpPr/>
          <p:nvPr/>
        </p:nvSpPr>
        <p:spPr>
          <a:xfrm>
            <a:off x="6172200" y="1417320"/>
            <a:ext cx="5120640" cy="452628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64208"/>
            <a:ext cx="4572000" cy="274320"/>
          </a:xfrm>
          <a:prstGeom prst="rect">
            <a:avLst/>
          </a:prstGeom>
          <a:noFill/>
        </p:spPr>
        <p:txBody>
          <a:bodyPr wrap="square" anchor="t">
            <a:spAutoFit/>
          </a:bodyPr>
          <a:lstStyle/>
          <a:p>
            <a:pPr algn="ctr"/>
            <a:r>
              <a:rPr sz="1600" b="1">
                <a:solidFill>
                  <a:srgbClr val="234869"/>
                </a:solidFill>
                <a:latin typeface="Aptos"/>
              </a:rPr>
              <a:t>OBJECTIVES</a:t>
            </a:r>
          </a:p>
        </p:txBody>
      </p:sp>
      <p:sp>
        <p:nvSpPr>
          <p:cNvPr id="10" name="TextBox 9"/>
          <p:cNvSpPr txBox="1"/>
          <p:nvPr/>
        </p:nvSpPr>
        <p:spPr>
          <a:xfrm>
            <a:off x="6400800" y="2103120"/>
            <a:ext cx="4526280" cy="3291840"/>
          </a:xfrm>
          <a:prstGeom prst="rect">
            <a:avLst/>
          </a:prstGeom>
          <a:noFill/>
        </p:spPr>
        <p:txBody>
          <a:bodyPr wrap="square">
            <a:spAutoFit/>
          </a:bodyPr>
          <a:lstStyle/>
          <a:p>
            <a:pPr>
              <a:spcAft>
                <a:spcPts val="600"/>
              </a:spcAft>
              <a:defRPr sz="1300">
                <a:solidFill>
                  <a:srgbClr val="141414"/>
                </a:solidFill>
                <a:latin typeface="Aptos"/>
              </a:defRPr>
            </a:pPr>
            <a:r>
              <a:t>• Build a reliable automated weather-data ingestion pipeline.</a:t>
            </a:r>
          </a:p>
          <a:p>
            <a:pPr>
              <a:spcAft>
                <a:spcPts val="600"/>
              </a:spcAft>
              <a:defRPr sz="1300">
                <a:solidFill>
                  <a:srgbClr val="141414"/>
                </a:solidFill>
                <a:latin typeface="Aptos"/>
              </a:defRPr>
            </a:pPr>
            <a:r>
              <a:t>• Create a clean time-aligned multi-station dataset.</a:t>
            </a:r>
          </a:p>
          <a:p>
            <a:pPr>
              <a:spcAft>
                <a:spcPts val="600"/>
              </a:spcAft>
              <a:defRPr sz="1300">
                <a:solidFill>
                  <a:srgbClr val="141414"/>
                </a:solidFill>
                <a:latin typeface="Aptos"/>
              </a:defRPr>
            </a:pPr>
            <a:r>
              <a:t>• Engineer physically meaningful temporal and spatial features.</a:t>
            </a:r>
          </a:p>
          <a:p>
            <a:pPr>
              <a:spcAft>
                <a:spcPts val="600"/>
              </a:spcAft>
              <a:defRPr sz="1300">
                <a:solidFill>
                  <a:srgbClr val="141414"/>
                </a:solidFill>
                <a:latin typeface="Aptos"/>
              </a:defRPr>
            </a:pPr>
            <a:r>
              <a:t>• Train and compare ML nowcasting models.</a:t>
            </a:r>
          </a:p>
          <a:p>
            <a:pPr>
              <a:spcAft>
                <a:spcPts val="600"/>
              </a:spcAft>
              <a:defRPr sz="1300">
                <a:solidFill>
                  <a:srgbClr val="141414"/>
                </a:solidFill>
                <a:latin typeface="Aptos"/>
              </a:defRPr>
            </a:pPr>
            <a:r>
              <a:t>• Process ECMWF forecast grids into interactive map layers.</a:t>
            </a:r>
          </a:p>
          <a:p>
            <a:pPr>
              <a:spcAft>
                <a:spcPts val="600"/>
              </a:spcAft>
              <a:defRPr sz="1300">
                <a:solidFill>
                  <a:srgbClr val="141414"/>
                </a:solidFill>
                <a:latin typeface="Aptos"/>
              </a:defRPr>
            </a:pPr>
            <a:r>
              <a:t>• Deliver an integrated platform for monitoring, prediction and visualization.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Technology Stack</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417320"/>
            <a:ext cx="1965960" cy="621792"/>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6" name="TextBox 5"/>
          <p:cNvSpPr txBox="1"/>
          <p:nvPr/>
        </p:nvSpPr>
        <p:spPr>
          <a:xfrm>
            <a:off x="777240" y="1490472"/>
            <a:ext cx="1874519" cy="323165"/>
          </a:xfrm>
          <a:prstGeom prst="rect">
            <a:avLst/>
          </a:prstGeom>
          <a:noFill/>
        </p:spPr>
        <p:txBody>
          <a:bodyPr wrap="square" anchor="t">
            <a:spAutoFit/>
          </a:bodyPr>
          <a:lstStyle/>
          <a:p>
            <a:pPr algn="l"/>
            <a:r>
              <a:rPr sz="1500" b="1">
                <a:solidFill>
                  <a:srgbClr val="141414"/>
                </a:solidFill>
                <a:latin typeface="Times New Roman" panose="02020603050405020304" pitchFamily="18" charset="0"/>
                <a:cs typeface="Times New Roman" panose="02020603050405020304" pitchFamily="18" charset="0"/>
              </a:rPr>
              <a:t>Component</a:t>
            </a:r>
          </a:p>
        </p:txBody>
      </p:sp>
      <p:sp>
        <p:nvSpPr>
          <p:cNvPr id="7" name="Rectangle 6"/>
          <p:cNvSpPr/>
          <p:nvPr/>
        </p:nvSpPr>
        <p:spPr>
          <a:xfrm>
            <a:off x="2697480" y="1417320"/>
            <a:ext cx="8778240" cy="621792"/>
          </a:xfrm>
          <a:prstGeom prst="rect">
            <a:avLst/>
          </a:prstGeom>
          <a:solidFill>
            <a:srgbClr val="F2F2F2"/>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8" name="TextBox 7"/>
          <p:cNvSpPr txBox="1"/>
          <p:nvPr/>
        </p:nvSpPr>
        <p:spPr>
          <a:xfrm>
            <a:off x="2743200" y="1490472"/>
            <a:ext cx="8686800" cy="323165"/>
          </a:xfrm>
          <a:prstGeom prst="rect">
            <a:avLst/>
          </a:prstGeom>
          <a:noFill/>
        </p:spPr>
        <p:txBody>
          <a:bodyPr wrap="square" anchor="t">
            <a:spAutoFit/>
          </a:bodyPr>
          <a:lstStyle/>
          <a:p>
            <a:pPr algn="l"/>
            <a:r>
              <a:rPr sz="1500" b="1">
                <a:solidFill>
                  <a:srgbClr val="141414"/>
                </a:solidFill>
                <a:latin typeface="Times New Roman" panose="02020603050405020304" pitchFamily="18" charset="0"/>
                <a:cs typeface="Times New Roman" panose="02020603050405020304" pitchFamily="18" charset="0"/>
              </a:rPr>
              <a:t>Technology</a:t>
            </a:r>
          </a:p>
        </p:txBody>
      </p:sp>
      <p:sp>
        <p:nvSpPr>
          <p:cNvPr id="9" name="Rectangle 8"/>
          <p:cNvSpPr/>
          <p:nvPr/>
        </p:nvSpPr>
        <p:spPr>
          <a:xfrm>
            <a:off x="731520" y="2039112"/>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0" name="TextBox 9"/>
          <p:cNvSpPr txBox="1"/>
          <p:nvPr/>
        </p:nvSpPr>
        <p:spPr>
          <a:xfrm>
            <a:off x="777240" y="2093976"/>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Frontend</a:t>
            </a:r>
          </a:p>
        </p:txBody>
      </p:sp>
      <p:sp>
        <p:nvSpPr>
          <p:cNvPr id="11" name="Rectangle 10"/>
          <p:cNvSpPr/>
          <p:nvPr/>
        </p:nvSpPr>
        <p:spPr>
          <a:xfrm>
            <a:off x="2697480" y="2039112"/>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2" name="TextBox 11"/>
          <p:cNvSpPr txBox="1"/>
          <p:nvPr/>
        </p:nvSpPr>
        <p:spPr>
          <a:xfrm>
            <a:off x="2743200" y="2093976"/>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Next.js 16 · React 19 · TypeScript · TailwindCSS v4 · Recharts · Leaflet</a:t>
            </a:r>
          </a:p>
        </p:txBody>
      </p:sp>
      <p:sp>
        <p:nvSpPr>
          <p:cNvPr id="13" name="Rectangle 12"/>
          <p:cNvSpPr/>
          <p:nvPr/>
        </p:nvSpPr>
        <p:spPr>
          <a:xfrm>
            <a:off x="731520" y="2660904"/>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4" name="TextBox 13"/>
          <p:cNvSpPr txBox="1"/>
          <p:nvPr/>
        </p:nvSpPr>
        <p:spPr>
          <a:xfrm>
            <a:off x="777240" y="2715768"/>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Backend</a:t>
            </a:r>
          </a:p>
        </p:txBody>
      </p:sp>
      <p:sp>
        <p:nvSpPr>
          <p:cNvPr id="15" name="Rectangle 14"/>
          <p:cNvSpPr/>
          <p:nvPr/>
        </p:nvSpPr>
        <p:spPr>
          <a:xfrm>
            <a:off x="2697480" y="2660904"/>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6" name="TextBox 15"/>
          <p:cNvSpPr txBox="1"/>
          <p:nvPr/>
        </p:nvSpPr>
        <p:spPr>
          <a:xfrm>
            <a:off x="2743200" y="2715768"/>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FastAPI · Uvicorn · APScheduler · Pydantic · HTTPX</a:t>
            </a:r>
          </a:p>
        </p:txBody>
      </p:sp>
      <p:sp>
        <p:nvSpPr>
          <p:cNvPr id="17" name="Rectangle 16"/>
          <p:cNvSpPr/>
          <p:nvPr/>
        </p:nvSpPr>
        <p:spPr>
          <a:xfrm>
            <a:off x="731520" y="3282696"/>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18" name="TextBox 17"/>
          <p:cNvSpPr txBox="1"/>
          <p:nvPr/>
        </p:nvSpPr>
        <p:spPr>
          <a:xfrm>
            <a:off x="777240" y="3337560"/>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Database</a:t>
            </a:r>
          </a:p>
        </p:txBody>
      </p:sp>
      <p:sp>
        <p:nvSpPr>
          <p:cNvPr id="19" name="Rectangle 18"/>
          <p:cNvSpPr/>
          <p:nvPr/>
        </p:nvSpPr>
        <p:spPr>
          <a:xfrm>
            <a:off x="2697480" y="3282696"/>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0" name="TextBox 19"/>
          <p:cNvSpPr txBox="1"/>
          <p:nvPr/>
        </p:nvSpPr>
        <p:spPr>
          <a:xfrm>
            <a:off x="2743200" y="3337560"/>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SQLAlchemy Async ORM · SQLite (development) · PostgreSQL (production)</a:t>
            </a:r>
          </a:p>
        </p:txBody>
      </p:sp>
      <p:sp>
        <p:nvSpPr>
          <p:cNvPr id="21" name="Rectangle 20"/>
          <p:cNvSpPr/>
          <p:nvPr/>
        </p:nvSpPr>
        <p:spPr>
          <a:xfrm>
            <a:off x="731520" y="3904488"/>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2" name="TextBox 21"/>
          <p:cNvSpPr txBox="1"/>
          <p:nvPr/>
        </p:nvSpPr>
        <p:spPr>
          <a:xfrm>
            <a:off x="777240" y="3959352"/>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ML / Data</a:t>
            </a:r>
          </a:p>
        </p:txBody>
      </p:sp>
      <p:sp>
        <p:nvSpPr>
          <p:cNvPr id="23" name="Rectangle 22"/>
          <p:cNvSpPr/>
          <p:nvPr/>
        </p:nvSpPr>
        <p:spPr>
          <a:xfrm>
            <a:off x="2697480" y="3904488"/>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4" name="TextBox 23"/>
          <p:cNvSpPr txBox="1"/>
          <p:nvPr/>
        </p:nvSpPr>
        <p:spPr>
          <a:xfrm>
            <a:off x="2743200" y="3959352"/>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Python · Pandas · NumPy · scikit-learn · XGBoost · PyTorch</a:t>
            </a:r>
          </a:p>
        </p:txBody>
      </p:sp>
      <p:sp>
        <p:nvSpPr>
          <p:cNvPr id="25" name="Rectangle 24"/>
          <p:cNvSpPr/>
          <p:nvPr/>
        </p:nvSpPr>
        <p:spPr>
          <a:xfrm>
            <a:off x="731520" y="4526280"/>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6" name="TextBox 25"/>
          <p:cNvSpPr txBox="1"/>
          <p:nvPr/>
        </p:nvSpPr>
        <p:spPr>
          <a:xfrm>
            <a:off x="777240" y="4581144"/>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NWP / Geo</a:t>
            </a:r>
          </a:p>
        </p:txBody>
      </p:sp>
      <p:sp>
        <p:nvSpPr>
          <p:cNvPr id="27" name="Rectangle 26"/>
          <p:cNvSpPr/>
          <p:nvPr/>
        </p:nvSpPr>
        <p:spPr>
          <a:xfrm>
            <a:off x="2697480" y="4526280"/>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28" name="TextBox 27"/>
          <p:cNvSpPr txBox="1"/>
          <p:nvPr/>
        </p:nvSpPr>
        <p:spPr>
          <a:xfrm>
            <a:off x="2743200" y="4581144"/>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xarray · cfgrib · rasterio · Matplotlib · Cartopy · GeoTIFF</a:t>
            </a:r>
          </a:p>
        </p:txBody>
      </p:sp>
      <p:sp>
        <p:nvSpPr>
          <p:cNvPr id="29" name="Rectangle 28"/>
          <p:cNvSpPr/>
          <p:nvPr/>
        </p:nvSpPr>
        <p:spPr>
          <a:xfrm>
            <a:off x="731520" y="5148072"/>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0" name="TextBox 29"/>
          <p:cNvSpPr txBox="1"/>
          <p:nvPr/>
        </p:nvSpPr>
        <p:spPr>
          <a:xfrm>
            <a:off x="777240" y="5202936"/>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Authentication</a:t>
            </a:r>
          </a:p>
        </p:txBody>
      </p:sp>
      <p:sp>
        <p:nvSpPr>
          <p:cNvPr id="31" name="Rectangle 30"/>
          <p:cNvSpPr/>
          <p:nvPr/>
        </p:nvSpPr>
        <p:spPr>
          <a:xfrm>
            <a:off x="2697480" y="5148072"/>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2" name="TextBox 31"/>
          <p:cNvSpPr txBox="1"/>
          <p:nvPr/>
        </p:nvSpPr>
        <p:spPr>
          <a:xfrm>
            <a:off x="2743200" y="5202936"/>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NextAuth.js · Firebase Auth · Google/Facebook OAuth</a:t>
            </a:r>
          </a:p>
        </p:txBody>
      </p:sp>
      <p:sp>
        <p:nvSpPr>
          <p:cNvPr id="33" name="Rectangle 32"/>
          <p:cNvSpPr/>
          <p:nvPr/>
        </p:nvSpPr>
        <p:spPr>
          <a:xfrm>
            <a:off x="731520" y="5769864"/>
            <a:ext cx="196596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4" name="TextBox 33"/>
          <p:cNvSpPr txBox="1"/>
          <p:nvPr/>
        </p:nvSpPr>
        <p:spPr>
          <a:xfrm>
            <a:off x="777240" y="5824728"/>
            <a:ext cx="1874519"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Deployment</a:t>
            </a:r>
          </a:p>
        </p:txBody>
      </p:sp>
      <p:sp>
        <p:nvSpPr>
          <p:cNvPr id="35" name="Rectangle 34"/>
          <p:cNvSpPr/>
          <p:nvPr/>
        </p:nvSpPr>
        <p:spPr>
          <a:xfrm>
            <a:off x="2697480" y="5769864"/>
            <a:ext cx="8778240" cy="621792"/>
          </a:xfrm>
          <a:prstGeom prst="rect">
            <a:avLst/>
          </a:prstGeom>
          <a:solidFill>
            <a:srgbClr val="FFFFFF"/>
          </a:solidFill>
          <a:ln>
            <a:solidFill>
              <a:srgbClr val="B9B9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500">
              <a:latin typeface="Times New Roman" panose="02020603050405020304" pitchFamily="18" charset="0"/>
              <a:cs typeface="Times New Roman" panose="02020603050405020304" pitchFamily="18" charset="0"/>
            </a:endParaRPr>
          </a:p>
        </p:txBody>
      </p:sp>
      <p:sp>
        <p:nvSpPr>
          <p:cNvPr id="36" name="TextBox 35"/>
          <p:cNvSpPr txBox="1"/>
          <p:nvPr/>
        </p:nvSpPr>
        <p:spPr>
          <a:xfrm>
            <a:off x="2743200" y="5824728"/>
            <a:ext cx="8686800" cy="323165"/>
          </a:xfrm>
          <a:prstGeom prst="rect">
            <a:avLst/>
          </a:prstGeom>
          <a:noFill/>
        </p:spPr>
        <p:txBody>
          <a:bodyPr wrap="square" anchor="t">
            <a:spAutoFit/>
          </a:bodyPr>
          <a:lstStyle/>
          <a:p>
            <a:pPr algn="l"/>
            <a:r>
              <a:rPr sz="1500" b="0">
                <a:solidFill>
                  <a:srgbClr val="141414"/>
                </a:solidFill>
                <a:latin typeface="Times New Roman" panose="02020603050405020304" pitchFamily="18" charset="0"/>
                <a:cs typeface="Times New Roman" panose="02020603050405020304" pitchFamily="18" charset="0"/>
              </a:rPr>
              <a:t>Docker · Vercel · Azure · GitHub 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Conclusion &amp; Future Work</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120640" cy="43891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64208"/>
            <a:ext cx="4572000" cy="274320"/>
          </a:xfrm>
          <a:prstGeom prst="rect">
            <a:avLst/>
          </a:prstGeom>
          <a:noFill/>
        </p:spPr>
        <p:txBody>
          <a:bodyPr wrap="square" anchor="t">
            <a:spAutoFit/>
          </a:bodyPr>
          <a:lstStyle/>
          <a:p>
            <a:pPr algn="ctr"/>
            <a:r>
              <a:rPr sz="1600" b="1">
                <a:solidFill>
                  <a:srgbClr val="234869"/>
                </a:solidFill>
                <a:latin typeface="Aptos"/>
              </a:rPr>
              <a:t>CURRENT PHASE 1 STATUS</a:t>
            </a:r>
          </a:p>
        </p:txBody>
      </p:sp>
      <p:sp>
        <p:nvSpPr>
          <p:cNvPr id="7" name="TextBox 6"/>
          <p:cNvSpPr txBox="1"/>
          <p:nvPr/>
        </p:nvSpPr>
        <p:spPr>
          <a:xfrm>
            <a:off x="960120" y="2057400"/>
            <a:ext cx="4526280" cy="3291840"/>
          </a:xfrm>
          <a:prstGeom prst="rect">
            <a:avLst/>
          </a:prstGeom>
          <a:noFill/>
        </p:spPr>
        <p:txBody>
          <a:bodyPr wrap="square">
            <a:spAutoFit/>
          </a:bodyPr>
          <a:lstStyle/>
          <a:p>
            <a:pPr>
              <a:spcAft>
                <a:spcPts val="600"/>
              </a:spcAft>
              <a:defRPr sz="1300">
                <a:solidFill>
                  <a:srgbClr val="141414"/>
                </a:solidFill>
                <a:latin typeface="Aptos"/>
              </a:defRPr>
            </a:pPr>
            <a:r>
              <a:t>• FastAPI backend operational with scheduled ingestion.</a:t>
            </a:r>
          </a:p>
          <a:p>
            <a:pPr>
              <a:spcAft>
                <a:spcPts val="600"/>
              </a:spcAft>
              <a:defRPr sz="1300">
                <a:solidFill>
                  <a:srgbClr val="141414"/>
                </a:solidFill>
                <a:latin typeface="Aptos"/>
              </a:defRPr>
            </a:pPr>
            <a:r>
              <a:t>• Six live PWS stations integrated for Puducherry/Auroville.</a:t>
            </a:r>
          </a:p>
          <a:p>
            <a:pPr>
              <a:spcAft>
                <a:spcPts val="600"/>
              </a:spcAft>
              <a:defRPr sz="1300">
                <a:solidFill>
                  <a:srgbClr val="141414"/>
                </a:solidFill>
                <a:latin typeface="Aptos"/>
              </a:defRPr>
            </a:pPr>
            <a:r>
              <a:t>• Core API endpoints implemented.</a:t>
            </a:r>
          </a:p>
          <a:p>
            <a:pPr>
              <a:spcAft>
                <a:spcPts val="600"/>
              </a:spcAft>
              <a:defRPr sz="1300">
                <a:solidFill>
                  <a:srgbClr val="141414"/>
                </a:solidFill>
                <a:latin typeface="Aptos"/>
              </a:defRPr>
            </a:pPr>
            <a:r>
              <a:t>• SQLAlchemy async database schema established.</a:t>
            </a:r>
          </a:p>
          <a:p>
            <a:pPr>
              <a:spcAft>
                <a:spcPts val="600"/>
              </a:spcAft>
              <a:defRPr sz="1300">
                <a:solidFill>
                  <a:srgbClr val="141414"/>
                </a:solidFill>
                <a:latin typeface="Aptos"/>
              </a:defRPr>
            </a:pPr>
            <a:r>
              <a:t>• Next.js dashboard with auto-refresh, charts and station search/filter.</a:t>
            </a:r>
          </a:p>
          <a:p>
            <a:pPr>
              <a:spcAft>
                <a:spcPts val="600"/>
              </a:spcAft>
              <a:defRPr sz="1300">
                <a:solidFill>
                  <a:srgbClr val="141414"/>
                </a:solidFill>
                <a:latin typeface="Aptos"/>
              </a:defRPr>
            </a:pPr>
            <a:r>
              <a:t>• Initial feature engineering pipeline established.</a:t>
            </a:r>
          </a:p>
        </p:txBody>
      </p:sp>
      <p:sp>
        <p:nvSpPr>
          <p:cNvPr id="8" name="Rounded Rectangle 7"/>
          <p:cNvSpPr/>
          <p:nvPr/>
        </p:nvSpPr>
        <p:spPr>
          <a:xfrm>
            <a:off x="6172200" y="1417320"/>
            <a:ext cx="5120640" cy="4389120"/>
          </a:xfrm>
          <a:prstGeom prst="roundRect">
            <a:avLst/>
          </a:prstGeom>
          <a:solidFill>
            <a:srgbClr val="FFFFFF"/>
          </a:solidFill>
          <a:ln>
            <a:solidFill>
              <a:srgbClr val="14141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64208"/>
            <a:ext cx="4572000" cy="274320"/>
          </a:xfrm>
          <a:prstGeom prst="rect">
            <a:avLst/>
          </a:prstGeom>
          <a:noFill/>
        </p:spPr>
        <p:txBody>
          <a:bodyPr wrap="square" anchor="t">
            <a:spAutoFit/>
          </a:bodyPr>
          <a:lstStyle/>
          <a:p>
            <a:pPr algn="ctr"/>
            <a:r>
              <a:rPr sz="1600" b="1">
                <a:solidFill>
                  <a:srgbClr val="234869"/>
                </a:solidFill>
                <a:latin typeface="Aptos"/>
              </a:rPr>
              <a:t>FUTURE WORK · PHASE 2</a:t>
            </a:r>
          </a:p>
        </p:txBody>
      </p:sp>
      <p:sp>
        <p:nvSpPr>
          <p:cNvPr id="10" name="TextBox 9"/>
          <p:cNvSpPr txBox="1"/>
          <p:nvPr/>
        </p:nvSpPr>
        <p:spPr>
          <a:xfrm>
            <a:off x="6400800" y="2057400"/>
            <a:ext cx="4526280" cy="3291840"/>
          </a:xfrm>
          <a:prstGeom prst="rect">
            <a:avLst/>
          </a:prstGeom>
          <a:noFill/>
        </p:spPr>
        <p:txBody>
          <a:bodyPr wrap="square">
            <a:spAutoFit/>
          </a:bodyPr>
          <a:lstStyle/>
          <a:p>
            <a:pPr>
              <a:spcAft>
                <a:spcPts val="600"/>
              </a:spcAft>
              <a:defRPr sz="1300">
                <a:solidFill>
                  <a:srgbClr val="141414"/>
                </a:solidFill>
                <a:latin typeface="Aptos"/>
              </a:defRPr>
            </a:pPr>
            <a:r>
              <a:t>• Train and evaluate RF, XGBoost, LSTM and CNN/GNN-LSTM models.</a:t>
            </a:r>
          </a:p>
          <a:p>
            <a:pPr>
              <a:spcAft>
                <a:spcPts val="600"/>
              </a:spcAft>
              <a:defRPr sz="1300">
                <a:solidFill>
                  <a:srgbClr val="141414"/>
                </a:solidFill>
                <a:latin typeface="Aptos"/>
              </a:defRPr>
            </a:pPr>
            <a:r>
              <a:t>• Expand and validate multi-station training data.</a:t>
            </a:r>
          </a:p>
          <a:p>
            <a:pPr>
              <a:spcAft>
                <a:spcPts val="600"/>
              </a:spcAft>
              <a:defRPr sz="1300">
                <a:solidFill>
                  <a:srgbClr val="141414"/>
                </a:solidFill>
                <a:latin typeface="Aptos"/>
              </a:defRPr>
            </a:pPr>
            <a:r>
              <a:t>• Add ECMWF GRIB2 → GeoTIFF processing.</a:t>
            </a:r>
          </a:p>
          <a:p>
            <a:pPr>
              <a:spcAft>
                <a:spcPts val="600"/>
              </a:spcAft>
              <a:defRPr sz="1300">
                <a:solidFill>
                  <a:srgbClr val="141414"/>
                </a:solidFill>
                <a:latin typeface="Aptos"/>
              </a:defRPr>
            </a:pPr>
            <a:r>
              <a:t>• Build interactive NWP + station overlay maps.</a:t>
            </a:r>
          </a:p>
          <a:p>
            <a:pPr>
              <a:spcAft>
                <a:spcPts val="600"/>
              </a:spcAft>
              <a:defRPr sz="1300">
                <a:solidFill>
                  <a:srgbClr val="141414"/>
                </a:solidFill>
                <a:latin typeface="Aptos"/>
              </a:defRPr>
            </a:pPr>
            <a:r>
              <a:t>• Implement authentication and blog CMS.</a:t>
            </a:r>
          </a:p>
          <a:p>
            <a:pPr>
              <a:spcAft>
                <a:spcPts val="600"/>
              </a:spcAft>
              <a:defRPr sz="1300">
                <a:solidFill>
                  <a:srgbClr val="141414"/>
                </a:solidFill>
                <a:latin typeface="Aptos"/>
              </a:defRPr>
            </a:pPr>
            <a:r>
              <a:t>• Containerize and deploy the complete production pipeline.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566928"/>
            <a:ext cx="10972800" cy="502920"/>
          </a:xfrm>
          <a:prstGeom prst="rect">
            <a:avLst/>
          </a:prstGeom>
          <a:noFill/>
        </p:spPr>
        <p:txBody>
          <a:bodyPr wrap="square" anchor="t">
            <a:spAutoFit/>
          </a:bodyPr>
          <a:lstStyle/>
          <a:p>
            <a:pPr algn="l"/>
            <a:r>
              <a:rPr sz="2700" b="1">
                <a:solidFill>
                  <a:srgbClr val="141414"/>
                </a:solidFill>
                <a:latin typeface="Aptos"/>
              </a:rPr>
              <a:t>References</a:t>
            </a:r>
          </a:p>
        </p:txBody>
      </p:sp>
      <p:sp>
        <p:nvSpPr>
          <p:cNvPr id="4" name="Rectangle 3"/>
          <p:cNvSpPr/>
          <p:nvPr/>
        </p:nvSpPr>
        <p:spPr>
          <a:xfrm>
            <a:off x="594360" y="1143000"/>
            <a:ext cx="10972800" cy="2286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latin typeface="Times New Roman" panose="02020603050405020304" pitchFamily="18" charset="0"/>
              <a:cs typeface="Times New Roman" panose="02020603050405020304" pitchFamily="18" charset="0"/>
            </a:endParaRPr>
          </a:p>
        </p:txBody>
      </p:sp>
      <p:sp>
        <p:nvSpPr>
          <p:cNvPr id="5" name="TextBox 4"/>
          <p:cNvSpPr txBox="1"/>
          <p:nvPr/>
        </p:nvSpPr>
        <p:spPr>
          <a:xfrm>
            <a:off x="822960" y="1325880"/>
            <a:ext cx="10515600" cy="492443"/>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[1] Shi, X., Chen, Z., Wang, H., Yeung, D.-Y., Wong, W.-K., &amp; Woo, W.-c. (2015). Convolutional LSTM Network: A Machine Learning Approach for Precipitation Nowcasting.</a:t>
            </a:r>
          </a:p>
        </p:txBody>
      </p:sp>
      <p:sp>
        <p:nvSpPr>
          <p:cNvPr id="6" name="TextBox 5"/>
          <p:cNvSpPr txBox="1"/>
          <p:nvPr/>
        </p:nvSpPr>
        <p:spPr>
          <a:xfrm>
            <a:off x="822960" y="1819656"/>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[2] Shi, X., Gao, Z., Lausen, L., et al. (2017). Deep Learning for Precipitation Nowcasting: A Benchmark and a New Model. NeurIPS.</a:t>
            </a:r>
          </a:p>
        </p:txBody>
      </p:sp>
      <p:sp>
        <p:nvSpPr>
          <p:cNvPr id="7" name="TextBox 6"/>
          <p:cNvSpPr txBox="1"/>
          <p:nvPr/>
        </p:nvSpPr>
        <p:spPr>
          <a:xfrm>
            <a:off x="822960" y="2313432"/>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[3] Ravuri, S., Lenc, K., Willson, M., et al. (2021). Skilful precipitation nowcasting using deep generative models of radar. Nature, 597, 672–677.</a:t>
            </a:r>
          </a:p>
        </p:txBody>
      </p:sp>
      <p:sp>
        <p:nvSpPr>
          <p:cNvPr id="8" name="TextBox 7"/>
          <p:cNvSpPr txBox="1"/>
          <p:nvPr/>
        </p:nvSpPr>
        <p:spPr>
          <a:xfrm>
            <a:off x="822960" y="2807208"/>
            <a:ext cx="10515600" cy="492443"/>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[4] Bowler, N. E., Pierce, C. E., &amp; Seed, A. W. (2006). STEPS: A probabilistic precipitation forecasting scheme which merges an extrapolation nowcast with downscaled NWP. QJRMS, 132, 2127–2155.</a:t>
            </a:r>
          </a:p>
        </p:txBody>
      </p:sp>
      <p:sp>
        <p:nvSpPr>
          <p:cNvPr id="9" name="TextBox 8"/>
          <p:cNvSpPr txBox="1"/>
          <p:nvPr/>
        </p:nvSpPr>
        <p:spPr>
          <a:xfrm>
            <a:off x="822960" y="3300984"/>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[5] ECMWF. Open Data: Real-time IFS and AIFS forecast products and documentation.</a:t>
            </a:r>
          </a:p>
        </p:txBody>
      </p:sp>
      <p:sp>
        <p:nvSpPr>
          <p:cNvPr id="10" name="TextBox 9"/>
          <p:cNvSpPr txBox="1"/>
          <p:nvPr/>
        </p:nvSpPr>
        <p:spPr>
          <a:xfrm>
            <a:off x="822960" y="3794760"/>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[6] Weather Underground. Personal Weather Station API / network documentation.</a:t>
            </a:r>
          </a:p>
        </p:txBody>
      </p:sp>
      <p:sp>
        <p:nvSpPr>
          <p:cNvPr id="11" name="TextBox 10"/>
          <p:cNvSpPr txBox="1"/>
          <p:nvPr/>
        </p:nvSpPr>
        <p:spPr>
          <a:xfrm>
            <a:off x="822960" y="4288536"/>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[7] Ambient Weather. Ambient Weather Network and API documentation.</a:t>
            </a:r>
          </a:p>
        </p:txBody>
      </p:sp>
      <p:sp>
        <p:nvSpPr>
          <p:cNvPr id="12" name="TextBox 11"/>
          <p:cNvSpPr txBox="1"/>
          <p:nvPr/>
        </p:nvSpPr>
        <p:spPr>
          <a:xfrm>
            <a:off x="822960" y="4782312"/>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[8] Leaflet.js Documentation. Interactive maps and geospatial layers.</a:t>
            </a:r>
          </a:p>
        </p:txBody>
      </p:sp>
      <p:sp>
        <p:nvSpPr>
          <p:cNvPr id="13" name="TextBox 12"/>
          <p:cNvSpPr txBox="1"/>
          <p:nvPr/>
        </p:nvSpPr>
        <p:spPr>
          <a:xfrm>
            <a:off x="822960" y="5276088"/>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[9] FastAPI Documentation. Modern Python API framework.</a:t>
            </a:r>
          </a:p>
        </p:txBody>
      </p:sp>
      <p:sp>
        <p:nvSpPr>
          <p:cNvPr id="14" name="TextBox 13"/>
          <p:cNvSpPr txBox="1"/>
          <p:nvPr/>
        </p:nvSpPr>
        <p:spPr>
          <a:xfrm>
            <a:off x="822960" y="5769864"/>
            <a:ext cx="10515600" cy="292388"/>
          </a:xfrm>
          <a:prstGeom prst="rect">
            <a:avLst/>
          </a:prstGeom>
          <a:noFill/>
        </p:spPr>
        <p:txBody>
          <a:bodyPr wrap="square" anchor="t">
            <a:spAutoFit/>
          </a:bodyPr>
          <a:lstStyle/>
          <a:p>
            <a:pPr algn="l"/>
            <a:r>
              <a:rPr sz="1300" b="0">
                <a:solidFill>
                  <a:srgbClr val="141414"/>
                </a:solidFill>
                <a:latin typeface="Times New Roman" panose="02020603050405020304" pitchFamily="18" charset="0"/>
                <a:cs typeface="Times New Roman" panose="02020603050405020304" pitchFamily="18" charset="0"/>
              </a:rPr>
              <a:t>[10] xarray, cfgrib and rasterio documentation for multidimensional and raster meteorological data processing.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2608</Words>
  <Application>Microsoft Office PowerPoint</Application>
  <PresentationFormat>Widescreen</PresentationFormat>
  <Paragraphs>276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B</cp:lastModifiedBy>
  <cp:revision>5</cp:revision>
  <dcterms:created xsi:type="dcterms:W3CDTF">2013-01-27T09:14:16Z</dcterms:created>
  <dcterms:modified xsi:type="dcterms:W3CDTF">2026-09-23T14:06:21Z</dcterms:modified>
  <cp:category/>
</cp:coreProperties>
</file>