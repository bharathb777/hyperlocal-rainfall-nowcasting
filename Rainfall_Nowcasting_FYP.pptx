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40266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4572000" cy="45720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778240" y="5120640"/>
            <a:ext cx="1920240" cy="1920240"/>
          </a:xfrm>
          <a:prstGeom prst="ellipse">
            <a:avLst/>
          </a:prstGeom>
          <a:solidFill>
            <a:srgbClr val="5FA8A0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2438400" y="1508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kern="0" spc="200" dirty="0">
                <a:solidFill>
                  <a:srgbClr val="5FA8A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DEPARTMENT OF COMPUTER SCIENCE AND ENGINEERING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205740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Hyperlocal Rainfall Nowcasting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22960" y="291562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E7F1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through Multi-Source Weather Data Fusion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22960" y="3527584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IMD AWS Network  +  Personal Weather Stations  +  ECMWF NWP Visualization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4160520"/>
            <a:ext cx="2011680" cy="0"/>
          </a:xfrm>
          <a:prstGeom prst="line">
            <a:avLst/>
          </a:prstGeom>
          <a:noFill/>
          <a:ln w="25400">
            <a:solidFill>
              <a:srgbClr val="5FA8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6035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Artificial Intelligence &amp; Machine Learning — Applied Meteorology</a:t>
            </a:r>
            <a:endParaRPr lang="en-US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BF340BD-EDE4-F163-612A-DDE0162126FD}"/>
              </a:ext>
            </a:extLst>
          </p:cNvPr>
          <p:cNvSpPr txBox="1"/>
          <p:nvPr/>
        </p:nvSpPr>
        <p:spPr>
          <a:xfrm>
            <a:off x="627391" y="4381976"/>
            <a:ext cx="278903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TEAM MEMBERS:</a:t>
            </a:r>
            <a:br>
              <a:rPr lang="en-IN" dirty="0">
                <a:solidFill>
                  <a:schemeClr val="bg1"/>
                </a:solidFill>
              </a:rPr>
            </a:br>
            <a:r>
              <a:rPr lang="en-IN" dirty="0">
                <a:solidFill>
                  <a:schemeClr val="bg1"/>
                </a:solidFill>
              </a:rPr>
              <a:t>1. Bharath B – 23UCS025</a:t>
            </a:r>
          </a:p>
          <a:p>
            <a:r>
              <a:rPr lang="en-IN" dirty="0">
                <a:solidFill>
                  <a:schemeClr val="bg1"/>
                </a:solidFill>
              </a:rPr>
              <a:t>2. Ariyan M – 23UCS015</a:t>
            </a:r>
          </a:p>
          <a:p>
            <a:r>
              <a:rPr lang="en-IN" dirty="0">
                <a:solidFill>
                  <a:schemeClr val="bg1"/>
                </a:solidFill>
              </a:rPr>
              <a:t>3. </a:t>
            </a:r>
            <a:r>
              <a:rPr lang="en-IN" dirty="0" err="1">
                <a:solidFill>
                  <a:schemeClr val="bg1"/>
                </a:solidFill>
              </a:rPr>
              <a:t>Hemnnath</a:t>
            </a:r>
            <a:r>
              <a:rPr lang="en-IN" dirty="0">
                <a:solidFill>
                  <a:schemeClr val="bg1"/>
                </a:solidFill>
              </a:rPr>
              <a:t> G – 23UCS066</a:t>
            </a:r>
          </a:p>
          <a:p>
            <a:r>
              <a:rPr lang="en-IN" dirty="0" err="1">
                <a:solidFill>
                  <a:schemeClr val="bg1"/>
                </a:solidFill>
              </a:rPr>
              <a:t>IVth</a:t>
            </a:r>
            <a:r>
              <a:rPr lang="en-IN" dirty="0">
                <a:solidFill>
                  <a:schemeClr val="bg1"/>
                </a:solidFill>
              </a:rPr>
              <a:t> year – A sec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FB19948-ABF6-32FC-CB7B-701434CDEA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3308" y="462915"/>
            <a:ext cx="8839200" cy="77152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E9CB5A3-4E5B-55B6-EA06-E9CEEC093D1F}"/>
              </a:ext>
            </a:extLst>
          </p:cNvPr>
          <p:cNvSpPr txBox="1"/>
          <p:nvPr/>
        </p:nvSpPr>
        <p:spPr>
          <a:xfrm>
            <a:off x="6145395" y="4373098"/>
            <a:ext cx="337021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cs typeface="Times New Roman" panose="02020603050405020304" pitchFamily="18" charset="0"/>
              </a:rPr>
              <a:t>TEAM GUIDE:</a:t>
            </a:r>
          </a:p>
          <a:p>
            <a:r>
              <a:rPr lang="en-US" dirty="0">
                <a:solidFill>
                  <a:schemeClr val="bg1"/>
                </a:solidFill>
                <a:cs typeface="Times New Roman" panose="02020603050405020304" pitchFamily="18" charset="0"/>
              </a:rPr>
              <a:t>Mrs. N. </a:t>
            </a:r>
            <a:r>
              <a:rPr lang="en-US" dirty="0" err="1">
                <a:solidFill>
                  <a:schemeClr val="bg1"/>
                </a:solidFill>
                <a:cs typeface="Times New Roman" panose="02020603050405020304" pitchFamily="18" charset="0"/>
              </a:rPr>
              <a:t>Danapaquiame</a:t>
            </a:r>
            <a:r>
              <a:rPr lang="en-US" dirty="0">
                <a:solidFill>
                  <a:schemeClr val="bg1"/>
                </a:solidFill>
                <a:cs typeface="Times New Roman" panose="02020603050405020304" pitchFamily="18" charset="0"/>
              </a:rPr>
              <a:t>, Professor</a:t>
            </a:r>
          </a:p>
          <a:p>
            <a:r>
              <a:rPr lang="en-US" dirty="0">
                <a:solidFill>
                  <a:schemeClr val="bg1"/>
                </a:solidFill>
                <a:cs typeface="Times New Roman" panose="02020603050405020304" pitchFamily="18" charset="0"/>
              </a:rPr>
              <a:t>Head of the Department, CSE</a:t>
            </a:r>
            <a:endParaRPr lang="en-IN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30" dirty="0"/>
          </a:p>
        </p:txBody>
      </p:sp>
      <p:sp>
        <p:nvSpPr>
          <p:cNvPr id="5" name="Text 3"/>
          <p:cNvSpPr/>
          <p:nvPr/>
        </p:nvSpPr>
        <p:spPr>
          <a:xfrm>
            <a:off x="1508760" y="13716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/ Machine Learning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08760" y="173736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Spatiotemporal deep learning for short-term precipitation forecasting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46888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468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30" dirty="0"/>
          </a:p>
        </p:txBody>
      </p:sp>
      <p:sp>
        <p:nvSpPr>
          <p:cNvPr id="9" name="Text 7"/>
          <p:cNvSpPr/>
          <p:nvPr/>
        </p:nvSpPr>
        <p:spPr>
          <a:xfrm>
            <a:off x="1508760" y="24231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Applied Meteorology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08760" y="278892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Weather Prediction (NWP) data interpretation &amp; visualization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520440"/>
            <a:ext cx="594360" cy="594360"/>
          </a:xfrm>
          <a:prstGeom prst="ellipse">
            <a:avLst/>
          </a:prstGeom>
          <a:solidFill>
            <a:srgbClr val="5FA8A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520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30" dirty="0"/>
          </a:p>
        </p:txBody>
      </p:sp>
      <p:sp>
        <p:nvSpPr>
          <p:cNvPr id="13" name="Text 11"/>
          <p:cNvSpPr/>
          <p:nvPr/>
        </p:nvSpPr>
        <p:spPr>
          <a:xfrm>
            <a:off x="1508760" y="34747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IoT &amp; Sensor Data Fusion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08760" y="384048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 integration of government (IMD) and personal weather stations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572000"/>
            <a:ext cx="594360" cy="59436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5720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30" dirty="0"/>
          </a:p>
        </p:txBody>
      </p:sp>
      <p:sp>
        <p:nvSpPr>
          <p:cNvPr id="17" name="Text 15"/>
          <p:cNvSpPr/>
          <p:nvPr/>
        </p:nvSpPr>
        <p:spPr>
          <a:xfrm>
            <a:off x="1508760" y="45262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Full-Stack Web Development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08760" y="489204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dashboards, geospatial mapping, and community platforms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Hyperlocal Rainfall Nowcasting — FYP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Introduction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6675120" cy="4846320"/>
          </a:xfrm>
          <a:prstGeom prst="rect">
            <a:avLst/>
          </a:prstGeom>
          <a:solidFill>
            <a:srgbClr val="F5F9FB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637294"/>
            <a:ext cx="612648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450" dirty="0">
                <a:solidFill>
                  <a:srgbClr val="1B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Weather affects nearly every sector — agriculture, aviation, transport, and disaster management — yet most forecasting tools operate at coarse spatial resolution and longer time horizons.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450" dirty="0">
                <a:solidFill>
                  <a:srgbClr val="1B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There exists a critical gap between real-time station observations and multi-day forecasts: the 0–3 hour window, where rain onset, intensity, and local variation matter most.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B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This project builds a unified web platform that fuses live IMD and personal weather station data with a trained ML nowcasting model and ECMWF forecast visualization — closing that gap for a hyperlocal region.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498080" y="1463040"/>
            <a:ext cx="4114800" cy="1417320"/>
          </a:xfrm>
          <a:prstGeom prst="roundRect">
            <a:avLst>
              <a:gd name="adj" fmla="val 6452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726680" y="16002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0–3 hrs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726680" y="2331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7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Nowcast horizon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498080" y="3154680"/>
            <a:ext cx="4114800" cy="1417320"/>
          </a:xfrm>
          <a:prstGeom prst="roundRect">
            <a:avLst>
              <a:gd name="adj" fmla="val 6452"/>
            </a:avLst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7726680" y="32918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1–10 days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726680" y="40233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7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NWP forecast horizon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498080" y="4846320"/>
            <a:ext cx="4114800" cy="1417320"/>
          </a:xfrm>
          <a:prstGeom prst="roundRect">
            <a:avLst>
              <a:gd name="adj" fmla="val 6452"/>
            </a:avLst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7726680" y="49834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7726680" y="57150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7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Fused data layers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Hyperlocal Rainfall Nowcasting — FYP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7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6424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6B7A8C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645920"/>
            <a:ext cx="1042416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Short-term rainfall prediction — nowcasting — is essential for hyperlocal decision-making but is under-served by existing tools that are either purely observational (live station data with no prediction) or purely model-driven (coarse NWP with multi-hour to multi-day granularity). This project proposes a three-layer weather intelligence platform for the Puducherry–Tamil Nadu region: (1) an observation layer fusing IMD Automatic Weather Station (AWS) data with a network of personal weather stations (Ambient Weather / Weather Underground); (2) a machine learning nowcasting layer that predicts rainfall likelihood and intensity for the next 1–3 hours using engineered features such as pressure-drop rate, humidity trend, and dew-point spread, progressing from Random Forest/XGBoost baselines to a CNN/GNN–LSTM hybrid that models spatial station relationships and temporal buildup; and (3) an NWP visualization layer rendering ECMWF Open Data as gridded forecast maps for the 1–10 day horizon. The three layers are served through a public web dashboard with live cards, comparison graphs, forecast maps, a blog, and an authenticated commenting system — delivering both a novel ML research contribution and a deployable, real-world weather platform.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Hyperlocal Rainfall Nowcasting — FYP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Objective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21295C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Design and deploy a hyperlocal rainfall nowcasting system that fuses multi-source weather data and presents it through a real-time, publicly accessible platform.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25880" y="248716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live data pipeline fusing IMD AWS and personal weather station (PWS) readings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22783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227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25880" y="320040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predictive features (pressure trend, humidity trend, dew-point spread, spatial neighbors)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3941064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941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325880" y="3913632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Design, train, and evaluate ML models (RF/XGBoost → LSTM → CNN/GNN-LSTM hybrid) for 0–3 hr rainfall nowcasting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465429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654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325880" y="4626864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ECMWF Open Data for 1–10 day gridded forecast visualization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536752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5367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325880" y="5340096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 full-stack dashboard with live cards, graphs, maps, blog, and OAuth-based user comments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Hyperlocal Rainfall Nowcasting — FYP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54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Scope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2011680"/>
            <a:ext cx="48463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Puducherry &amp; Tamil Nadu region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 hr ML-based nowcasting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1–10 day ECMWF NWP maps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IMD AWS + Ambient Weather PWS fusion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dashboard, blog, and comments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/ Facebook OAuth login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217920" y="1371600"/>
            <a:ext cx="539496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6492240" y="15544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 of Scope (this phase)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92240" y="2011680"/>
            <a:ext cx="48463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Doppler radar reflectivity processing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Nationwide / multi-state coverage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X (Twitter) API auto-posting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weather alerting / SMS notifications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native app (web-first only)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Hyperlocal Rainfall Nowcasting — FYP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Modules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5F9FB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6459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1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Acquisition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74320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IMD AWS API, Ambient Weather API, ECMWF Open Data ingestion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89120" y="141732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5F9FB"/>
          </a:solidFill>
          <a:ln/>
        </p:spPr>
      </p:sp>
      <p:sp>
        <p:nvSpPr>
          <p:cNvPr id="9" name="Shape 7"/>
          <p:cNvSpPr/>
          <p:nvPr/>
        </p:nvSpPr>
        <p:spPr>
          <a:xfrm>
            <a:off x="4617720" y="16459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10" dirty="0"/>
          </a:p>
        </p:txBody>
      </p:sp>
      <p:sp>
        <p:nvSpPr>
          <p:cNvPr id="11" name="Text 9"/>
          <p:cNvSpPr/>
          <p:nvPr/>
        </p:nvSpPr>
        <p:spPr>
          <a:xfrm>
            <a:off x="4617720" y="228600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Fusion &amp; Feature Engg.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17720" y="274320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Cleaning, alignment, rolling trends, spatial neighbor features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0" y="141732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5F9FB"/>
          </a:solidFill>
          <a:ln/>
        </p:spPr>
      </p:sp>
      <p:sp>
        <p:nvSpPr>
          <p:cNvPr id="14" name="Shape 12"/>
          <p:cNvSpPr/>
          <p:nvPr/>
        </p:nvSpPr>
        <p:spPr>
          <a:xfrm>
            <a:off x="8458200" y="1645920"/>
            <a:ext cx="502920" cy="50292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5" name="Text 13"/>
          <p:cNvSpPr/>
          <p:nvPr/>
        </p:nvSpPr>
        <p:spPr>
          <a:xfrm>
            <a:off x="845820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10" dirty="0"/>
          </a:p>
        </p:txBody>
      </p:sp>
      <p:sp>
        <p:nvSpPr>
          <p:cNvPr id="16" name="Text 14"/>
          <p:cNvSpPr/>
          <p:nvPr/>
        </p:nvSpPr>
        <p:spPr>
          <a:xfrm>
            <a:off x="8458200" y="228600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Nowcasting Engine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458200" y="274320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training, scheduled inference, 0–3 hr prediction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84048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5F9FB"/>
          </a:solidFill>
          <a:ln/>
        </p:spPr>
      </p:sp>
      <p:sp>
        <p:nvSpPr>
          <p:cNvPr id="19" name="Shape 17"/>
          <p:cNvSpPr/>
          <p:nvPr/>
        </p:nvSpPr>
        <p:spPr>
          <a:xfrm>
            <a:off x="777240" y="4069080"/>
            <a:ext cx="502920" cy="502920"/>
          </a:xfrm>
          <a:prstGeom prst="ellipse">
            <a:avLst/>
          </a:prstGeom>
          <a:solidFill>
            <a:srgbClr val="5FA8A0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10" dirty="0"/>
          </a:p>
        </p:txBody>
      </p:sp>
      <p:sp>
        <p:nvSpPr>
          <p:cNvPr id="21" name="Text 19"/>
          <p:cNvSpPr/>
          <p:nvPr/>
        </p:nvSpPr>
        <p:spPr>
          <a:xfrm>
            <a:off x="777240" y="470916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NWP Visualization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77240" y="516636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GRIB2 → gridded forecast map rendering (1–10 days)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389120" y="384048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5F9FB"/>
          </a:solidFill>
          <a:ln/>
        </p:spPr>
      </p:sp>
      <p:sp>
        <p:nvSpPr>
          <p:cNvPr id="24" name="Shape 22"/>
          <p:cNvSpPr/>
          <p:nvPr/>
        </p:nvSpPr>
        <p:spPr>
          <a:xfrm>
            <a:off x="4617720" y="40690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5" name="Text 23"/>
          <p:cNvSpPr/>
          <p:nvPr/>
        </p:nvSpPr>
        <p:spPr>
          <a:xfrm>
            <a:off x="461772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10" dirty="0"/>
          </a:p>
        </p:txBody>
      </p:sp>
      <p:sp>
        <p:nvSpPr>
          <p:cNvPr id="26" name="Text 24"/>
          <p:cNvSpPr/>
          <p:nvPr/>
        </p:nvSpPr>
        <p:spPr>
          <a:xfrm>
            <a:off x="4617720" y="470916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Dashboard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617720" y="516636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cards, comparison graphs, forecast maps, nowcast widget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229600" y="384048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5F9FB"/>
          </a:solidFill>
          <a:ln/>
        </p:spPr>
      </p:sp>
      <p:sp>
        <p:nvSpPr>
          <p:cNvPr id="29" name="Shape 27"/>
          <p:cNvSpPr/>
          <p:nvPr/>
        </p:nvSpPr>
        <p:spPr>
          <a:xfrm>
            <a:off x="8458200" y="40690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0" name="Text 28"/>
          <p:cNvSpPr/>
          <p:nvPr/>
        </p:nvSpPr>
        <p:spPr>
          <a:xfrm>
            <a:off x="845820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10" dirty="0"/>
          </a:p>
        </p:txBody>
      </p:sp>
      <p:sp>
        <p:nvSpPr>
          <p:cNvPr id="31" name="Text 29"/>
          <p:cNvSpPr/>
          <p:nvPr/>
        </p:nvSpPr>
        <p:spPr>
          <a:xfrm>
            <a:off x="8458200" y="470916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Blog &amp; Community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458200" y="516636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 CMS, OAuth login, comments, social feed integration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Hyperlocal Rainfall Nowcasting — FYP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Tech Stack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49240" cy="1051560"/>
          </a:xfrm>
          <a:prstGeom prst="roundRect">
            <a:avLst>
              <a:gd name="adj" fmla="val 6087"/>
            </a:avLst>
          </a:prstGeom>
          <a:solidFill>
            <a:srgbClr val="065A82">
              <a:alpha val="8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444752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FA8A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Frontend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E7F1F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Next.js / React, Recharts, Leaflet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263640" y="1371600"/>
            <a:ext cx="5349240" cy="1051560"/>
          </a:xfrm>
          <a:prstGeom prst="roundRect">
            <a:avLst>
              <a:gd name="adj" fmla="val 6087"/>
            </a:avLst>
          </a:prstGeom>
          <a:solidFill>
            <a:srgbClr val="065A82">
              <a:alpha val="8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492240" y="1444752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FA8A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Backend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92240" y="178308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E7F1F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Node.js, REST APIs, Cron scheduling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2624328"/>
            <a:ext cx="5349240" cy="1051560"/>
          </a:xfrm>
          <a:prstGeom prst="roundRect">
            <a:avLst>
              <a:gd name="adj" fmla="val 6087"/>
            </a:avLst>
          </a:prstGeom>
          <a:solidFill>
            <a:srgbClr val="065A82">
              <a:alpha val="8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69748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FA8A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ML / Data Science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77240" y="3035808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E7F1F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Python, scikit-learn, XGBoost, PyTorch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263640" y="2624328"/>
            <a:ext cx="5349240" cy="1051560"/>
          </a:xfrm>
          <a:prstGeom prst="roundRect">
            <a:avLst>
              <a:gd name="adj" fmla="val 6087"/>
            </a:avLst>
          </a:prstGeom>
          <a:solidFill>
            <a:srgbClr val="065A82">
              <a:alpha val="8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269748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FA8A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Weather Data Sources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492240" y="3035808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E7F1F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IMD AWS API, Ambient Weather API, ECMWF Open Data, Open-Meteo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48640" y="3877056"/>
            <a:ext cx="5349240" cy="1051560"/>
          </a:xfrm>
          <a:prstGeom prst="roundRect">
            <a:avLst>
              <a:gd name="adj" fmla="val 6087"/>
            </a:avLst>
          </a:prstGeom>
          <a:solidFill>
            <a:srgbClr val="065A82">
              <a:alpha val="8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950208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FA8A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Authentication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77240" y="4288536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E7F1F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NextAuth.js / Firebase Auth (Google &amp; Facebook OAuth)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263640" y="3877056"/>
            <a:ext cx="5349240" cy="1051560"/>
          </a:xfrm>
          <a:prstGeom prst="roundRect">
            <a:avLst>
              <a:gd name="adj" fmla="val 6087"/>
            </a:avLst>
          </a:prstGeom>
          <a:solidFill>
            <a:srgbClr val="065A82">
              <a:alpha val="8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3950208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FA8A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Database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492240" y="4288536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E7F1F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PostgreSQL / MongoDB (time-series storage)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48640" y="5129784"/>
            <a:ext cx="5349240" cy="1051560"/>
          </a:xfrm>
          <a:prstGeom prst="roundRect">
            <a:avLst>
              <a:gd name="adj" fmla="val 6087"/>
            </a:avLst>
          </a:prstGeom>
          <a:solidFill>
            <a:srgbClr val="065A82">
              <a:alpha val="85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202936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FA8A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Geospatial Processing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77240" y="5541264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E7F1F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xarray, cfgrib, matplotlib, Cartopy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263640" y="5129784"/>
            <a:ext cx="5349240" cy="1051560"/>
          </a:xfrm>
          <a:prstGeom prst="roundRect">
            <a:avLst>
              <a:gd name="adj" fmla="val 6087"/>
            </a:avLst>
          </a:prstGeom>
          <a:solidFill>
            <a:srgbClr val="065A82">
              <a:alpha val="85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492240" y="5202936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FA8A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Deployment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492240" y="5541264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E7F1F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Docker, </a:t>
            </a:r>
            <a:r>
              <a:rPr lang="en-US" sz="1350" dirty="0" err="1">
                <a:solidFill>
                  <a:srgbClr val="E7F1F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Vercel</a:t>
            </a:r>
            <a:r>
              <a:rPr lang="en-US" sz="1350" dirty="0">
                <a:solidFill>
                  <a:srgbClr val="E7F1F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/Azure, GitHub Actions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6B7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Hyperlocal Rainfall Nowcasting — FYP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dirty="0">
                <a:solidFill>
                  <a:srgbClr val="5A6B7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8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Identification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1064240" cy="1051560"/>
          </a:xfrm>
          <a:prstGeom prst="roundRect">
            <a:avLst>
              <a:gd name="adj" fmla="val 6087"/>
            </a:avLst>
          </a:prstGeom>
          <a:solidFill>
            <a:srgbClr val="F5F9FB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78308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20" dirty="0"/>
          </a:p>
        </p:txBody>
      </p:sp>
      <p:sp>
        <p:nvSpPr>
          <p:cNvPr id="6" name="Text 4"/>
          <p:cNvSpPr/>
          <p:nvPr/>
        </p:nvSpPr>
        <p:spPr>
          <a:xfrm>
            <a:off x="1600200" y="1645920"/>
            <a:ext cx="9784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public platform fuses government (IMD) and personal weather station data for the Puducherry–TN region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761488"/>
            <a:ext cx="11064240" cy="1051560"/>
          </a:xfrm>
          <a:prstGeom prst="roundRect">
            <a:avLst>
              <a:gd name="adj" fmla="val 6087"/>
            </a:avLst>
          </a:prstGeom>
          <a:solidFill>
            <a:srgbClr val="E7F1F5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" y="2990088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9900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1600200" y="2852928"/>
            <a:ext cx="9784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forecast apps are either purely NWP-based (coarse resolution, 6–12 hr update cycles) or purely observational, with no bridging short-term prediction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3968496"/>
            <a:ext cx="11064240" cy="1051560"/>
          </a:xfrm>
          <a:prstGeom prst="roundRect">
            <a:avLst>
              <a:gd name="adj" fmla="val 6087"/>
            </a:avLst>
          </a:prstGeom>
          <a:solidFill>
            <a:srgbClr val="F5F9FB"/>
          </a:solidFill>
          <a:ln/>
        </p:spPr>
      </p:sp>
      <p:sp>
        <p:nvSpPr>
          <p:cNvPr id="12" name="Shape 10"/>
          <p:cNvSpPr/>
          <p:nvPr/>
        </p:nvSpPr>
        <p:spPr>
          <a:xfrm>
            <a:off x="777240" y="4197096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1970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1600200" y="4059936"/>
            <a:ext cx="9784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0–3 hour rainfall window — most critical for daily decisions — is largely unaddressed at hyperlocal scale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5175504"/>
            <a:ext cx="11064240" cy="1051560"/>
          </a:xfrm>
          <a:prstGeom prst="roundRect">
            <a:avLst>
              <a:gd name="adj" fmla="val 6087"/>
            </a:avLst>
          </a:prstGeom>
          <a:solidFill>
            <a:srgbClr val="E7F1F5"/>
          </a:solidFill>
          <a:ln/>
        </p:spPr>
      </p:sp>
      <p:sp>
        <p:nvSpPr>
          <p:cNvPr id="16" name="Shape 14"/>
          <p:cNvSpPr/>
          <p:nvPr/>
        </p:nvSpPr>
        <p:spPr>
          <a:xfrm>
            <a:off x="777240" y="5404104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54041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1600200" y="5266944"/>
            <a:ext cx="9784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IMD Doppler radar and ECMWF model data are technically accessible but rarely combined into an accessible, visual, community-facing product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Hyperlocal Rainfall Nowcasting — FYP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Systems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4630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429000" y="1463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offers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995160" y="14630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11064240" cy="1005840"/>
          </a:xfrm>
          <a:prstGeom prst="rect">
            <a:avLst/>
          </a:prstGeom>
          <a:solidFill>
            <a:srgbClr val="F5F9FB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947672"/>
            <a:ext cx="24688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IMD Mausam App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429000" y="1947672"/>
            <a:ext cx="3291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NWP forecasts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995160" y="1947672"/>
            <a:ext cx="44805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Coarse resolution, no local ML nowcast, no PWS fusion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880360"/>
            <a:ext cx="11064240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953512"/>
            <a:ext cx="24688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Windy / RainViewer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429000" y="2953512"/>
            <a:ext cx="3291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radar &amp; model visualization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995160" y="2953512"/>
            <a:ext cx="44805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global view, no hyperlocal station fusion or community layer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886200"/>
            <a:ext cx="11064240" cy="1005840"/>
          </a:xfrm>
          <a:prstGeom prst="rect">
            <a:avLst/>
          </a:prstGeom>
          <a:solidFill>
            <a:srgbClr val="F5F9FB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959352"/>
            <a:ext cx="24688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 Weather / WU Network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429000" y="3959352"/>
            <a:ext cx="3291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personal station readings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995160" y="3959352"/>
            <a:ext cx="44805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only — no predictive model layered on top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892040"/>
            <a:ext cx="11064240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4965192"/>
            <a:ext cx="24688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Telegram Weather Bots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429000" y="4965192"/>
            <a:ext cx="3291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curated AWS updates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995160" y="4965192"/>
            <a:ext cx="44805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forecasting, no web dashboard, no historical trends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Hyperlocal Rainfall Nowcasting — FYP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7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System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platform spanning three complementary weather-intelligence layers: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66160" cy="2834640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6B7A8C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103120" y="201168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0116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28803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Observation Layer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34290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IMD AWS + PWS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34840" y="1783080"/>
            <a:ext cx="3566160" cy="2834640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6B7A8C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897880" y="20116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434840" y="20116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 hours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63440" y="28803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Nowcast Layer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63440" y="34290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CNN/GNN + LSTM hybrid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0" y="1783080"/>
            <a:ext cx="3566160" cy="2834640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6B7A8C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692640" y="2011680"/>
            <a:ext cx="640080" cy="640080"/>
          </a:xfrm>
          <a:prstGeom prst="ellipse">
            <a:avLst/>
          </a:prstGeom>
          <a:solidFill>
            <a:srgbClr val="5FA8A0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0" y="20116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1–10 days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458200" y="28803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NWP Layer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58200" y="34290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ECMWF Open Data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89204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21295C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4892040"/>
            <a:ext cx="10424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Public Dashboard  ·  Blog  ·  OAuth Login  ·  Comments — unifying all three layers for end users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Hyperlocal Rainfall Nowcasting — FYP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463039" y="1069848"/>
            <a:ext cx="9235440" cy="868680"/>
          </a:xfrm>
          <a:prstGeom prst="roundRect">
            <a:avLst>
              <a:gd name="adj" fmla="val 7368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" name="Text 2"/>
          <p:cNvSpPr/>
          <p:nvPr/>
        </p:nvSpPr>
        <p:spPr>
          <a:xfrm>
            <a:off x="1645920" y="137160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389120" y="1371600"/>
            <a:ext cx="6126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IMD AWS  ·  Ambient PWS  ·  ECMWF Open Data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 rot="10800000">
            <a:off x="5971032" y="2103121"/>
            <a:ext cx="219456" cy="118872"/>
          </a:xfrm>
          <a:prstGeom prst="triangle">
            <a:avLst/>
          </a:prstGeom>
          <a:solidFill>
            <a:srgbClr val="5A6B78"/>
          </a:solidFill>
          <a:ln/>
        </p:spPr>
      </p:sp>
      <p:sp>
        <p:nvSpPr>
          <p:cNvPr id="7" name="Shape 5"/>
          <p:cNvSpPr/>
          <p:nvPr/>
        </p:nvSpPr>
        <p:spPr>
          <a:xfrm>
            <a:off x="1463039" y="2318004"/>
            <a:ext cx="9235440" cy="868680"/>
          </a:xfrm>
          <a:prstGeom prst="roundRect">
            <a:avLst>
              <a:gd name="adj" fmla="val 7368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1645920" y="2542032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Ingestion &amp; Storage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389120" y="2542032"/>
            <a:ext cx="6126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 Fetchers  ·  Cache  ·  Time-Series DB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 rot="10800000">
            <a:off x="5942276" y="3291839"/>
            <a:ext cx="219456" cy="118872"/>
          </a:xfrm>
          <a:prstGeom prst="triangle">
            <a:avLst/>
          </a:prstGeom>
          <a:solidFill>
            <a:srgbClr val="5A6B78"/>
          </a:solidFill>
          <a:ln/>
        </p:spPr>
      </p:sp>
      <p:sp>
        <p:nvSpPr>
          <p:cNvPr id="11" name="Shape 9"/>
          <p:cNvSpPr/>
          <p:nvPr/>
        </p:nvSpPr>
        <p:spPr>
          <a:xfrm>
            <a:off x="1478280" y="3496890"/>
            <a:ext cx="9235440" cy="868680"/>
          </a:xfrm>
          <a:prstGeom prst="roundRect">
            <a:avLst>
              <a:gd name="adj" fmla="val 7368"/>
            </a:avLst>
          </a:prstGeom>
          <a:solidFill>
            <a:srgbClr val="21295C"/>
          </a:solidFill>
          <a:ln/>
        </p:spPr>
      </p:sp>
      <p:sp>
        <p:nvSpPr>
          <p:cNvPr id="12" name="Text 10"/>
          <p:cNvSpPr/>
          <p:nvPr/>
        </p:nvSpPr>
        <p:spPr>
          <a:xfrm>
            <a:off x="1645920" y="3712464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389120" y="3712464"/>
            <a:ext cx="6126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Engg.  ·  ML Inference  ·  GRIB → Map Render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 rot="10800000">
            <a:off x="5976783" y="4480560"/>
            <a:ext cx="219456" cy="118872"/>
          </a:xfrm>
          <a:prstGeom prst="triangle">
            <a:avLst/>
          </a:prstGeom>
          <a:solidFill>
            <a:srgbClr val="5A6B78"/>
          </a:solidFill>
          <a:ln/>
        </p:spPr>
      </p:sp>
      <p:sp>
        <p:nvSpPr>
          <p:cNvPr id="15" name="Shape 13"/>
          <p:cNvSpPr/>
          <p:nvPr/>
        </p:nvSpPr>
        <p:spPr>
          <a:xfrm>
            <a:off x="1463040" y="4672584"/>
            <a:ext cx="9235440" cy="868680"/>
          </a:xfrm>
          <a:prstGeom prst="roundRect">
            <a:avLst>
              <a:gd name="adj" fmla="val 7368"/>
            </a:avLst>
          </a:prstGeom>
          <a:solidFill>
            <a:srgbClr val="5FA8A0"/>
          </a:solidFill>
          <a:ln/>
        </p:spPr>
      </p:sp>
      <p:sp>
        <p:nvSpPr>
          <p:cNvPr id="16" name="Text 14"/>
          <p:cNvSpPr/>
          <p:nvPr/>
        </p:nvSpPr>
        <p:spPr>
          <a:xfrm>
            <a:off x="1645920" y="4882896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Layer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389120" y="4882896"/>
            <a:ext cx="6126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Endpoints  ·  Auth Service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 rot="10800000">
            <a:off x="5986272" y="5577840"/>
            <a:ext cx="219456" cy="118872"/>
          </a:xfrm>
          <a:prstGeom prst="triangle">
            <a:avLst/>
          </a:prstGeom>
          <a:solidFill>
            <a:srgbClr val="5A6B78"/>
          </a:solidFill>
          <a:ln/>
        </p:spPr>
      </p:sp>
      <p:sp>
        <p:nvSpPr>
          <p:cNvPr id="19" name="Shape 17"/>
          <p:cNvSpPr/>
          <p:nvPr/>
        </p:nvSpPr>
        <p:spPr>
          <a:xfrm>
            <a:off x="1463039" y="5733289"/>
            <a:ext cx="9235440" cy="868680"/>
          </a:xfrm>
          <a:prstGeom prst="roundRect">
            <a:avLst>
              <a:gd name="adj" fmla="val 7368"/>
            </a:avLst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1645920" y="6053328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Application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389120" y="6053328"/>
            <a:ext cx="6126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 ·  Blog  ·  Comments  ·  Login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Hyperlocal Rainfall Nowcasting — FYP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55448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6B7A8C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67512" y="1298448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667512" y="12984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3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32" dirty="0"/>
          </a:p>
        </p:txBody>
      </p:sp>
      <p:sp>
        <p:nvSpPr>
          <p:cNvPr id="6" name="Text 4"/>
          <p:cNvSpPr/>
          <p:nvPr/>
        </p:nvSpPr>
        <p:spPr>
          <a:xfrm>
            <a:off x="685800" y="1847088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live readings from IMD AWS &amp; PWS every 10–15 min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 rot="5400000">
            <a:off x="3127248" y="2189988"/>
            <a:ext cx="146304" cy="146304"/>
          </a:xfrm>
          <a:prstGeom prst="triangle">
            <a:avLst/>
          </a:prstGeom>
          <a:solidFill>
            <a:srgbClr val="5A6B78"/>
          </a:solidFill>
          <a:ln/>
        </p:spPr>
      </p:sp>
      <p:sp>
        <p:nvSpPr>
          <p:cNvPr id="8" name="Shape 6"/>
          <p:cNvSpPr/>
          <p:nvPr/>
        </p:nvSpPr>
        <p:spPr>
          <a:xfrm>
            <a:off x="3337560" y="155448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6B7A8C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502152" y="1298448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3502152" y="12984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3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32" dirty="0"/>
          </a:p>
        </p:txBody>
      </p:sp>
      <p:sp>
        <p:nvSpPr>
          <p:cNvPr id="11" name="Text 9"/>
          <p:cNvSpPr/>
          <p:nvPr/>
        </p:nvSpPr>
        <p:spPr>
          <a:xfrm>
            <a:off x="3520440" y="1847088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 &amp; engineer features (pressure trend, humidity trend, dew-point spread)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 rot="5400000">
            <a:off x="5961888" y="2189988"/>
            <a:ext cx="146304" cy="146304"/>
          </a:xfrm>
          <a:prstGeom prst="triangle">
            <a:avLst/>
          </a:prstGeom>
          <a:solidFill>
            <a:srgbClr val="5A6B78"/>
          </a:solidFill>
          <a:ln/>
        </p:spPr>
      </p:sp>
      <p:sp>
        <p:nvSpPr>
          <p:cNvPr id="13" name="Shape 11"/>
          <p:cNvSpPr/>
          <p:nvPr/>
        </p:nvSpPr>
        <p:spPr>
          <a:xfrm>
            <a:off x="6172200" y="155448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6B7A8C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36792" y="1298448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6336792" y="12984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3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32" dirty="0"/>
          </a:p>
        </p:txBody>
      </p:sp>
      <p:sp>
        <p:nvSpPr>
          <p:cNvPr id="16" name="Text 14"/>
          <p:cNvSpPr/>
          <p:nvPr/>
        </p:nvSpPr>
        <p:spPr>
          <a:xfrm>
            <a:off x="6355080" y="1847088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scheduled ML inference for 0–3 hr rainfall nowcast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 rot="5400000">
            <a:off x="8796528" y="2189988"/>
            <a:ext cx="146304" cy="146304"/>
          </a:xfrm>
          <a:prstGeom prst="triangle">
            <a:avLst/>
          </a:prstGeom>
          <a:solidFill>
            <a:srgbClr val="5A6B78"/>
          </a:solidFill>
          <a:ln/>
        </p:spPr>
      </p:sp>
      <p:sp>
        <p:nvSpPr>
          <p:cNvPr id="18" name="Shape 16"/>
          <p:cNvSpPr/>
          <p:nvPr/>
        </p:nvSpPr>
        <p:spPr>
          <a:xfrm>
            <a:off x="9006840" y="155448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6B7A8C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171432" y="1298448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9171432" y="12984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3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32" dirty="0"/>
          </a:p>
        </p:txBody>
      </p:sp>
      <p:sp>
        <p:nvSpPr>
          <p:cNvPr id="21" name="Text 19"/>
          <p:cNvSpPr/>
          <p:nvPr/>
        </p:nvSpPr>
        <p:spPr>
          <a:xfrm>
            <a:off x="9189720" y="1847088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&amp; render ECMWF GRIB2 data as forecast maps (every 6–12 hrs)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34747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6B7A8C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67512" y="3218688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" y="32186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3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32" dirty="0"/>
          </a:p>
        </p:txBody>
      </p:sp>
      <p:sp>
        <p:nvSpPr>
          <p:cNvPr id="25" name="Text 23"/>
          <p:cNvSpPr/>
          <p:nvPr/>
        </p:nvSpPr>
        <p:spPr>
          <a:xfrm>
            <a:off x="685800" y="3767328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predictions &amp; observations via REST API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 rot="5400000">
            <a:off x="3127248" y="4110228"/>
            <a:ext cx="146304" cy="146304"/>
          </a:xfrm>
          <a:prstGeom prst="triangle">
            <a:avLst/>
          </a:prstGeom>
          <a:solidFill>
            <a:srgbClr val="5A6B78"/>
          </a:solidFill>
          <a:ln/>
        </p:spPr>
      </p:sp>
      <p:sp>
        <p:nvSpPr>
          <p:cNvPr id="27" name="Shape 25"/>
          <p:cNvSpPr/>
          <p:nvPr/>
        </p:nvSpPr>
        <p:spPr>
          <a:xfrm>
            <a:off x="3337560" y="34747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6B7A8C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502152" y="3218688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9" name="Text 27"/>
          <p:cNvSpPr/>
          <p:nvPr/>
        </p:nvSpPr>
        <p:spPr>
          <a:xfrm>
            <a:off x="3502152" y="32186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3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32" dirty="0"/>
          </a:p>
        </p:txBody>
      </p:sp>
      <p:sp>
        <p:nvSpPr>
          <p:cNvPr id="30" name="Text 28"/>
          <p:cNvSpPr/>
          <p:nvPr/>
        </p:nvSpPr>
        <p:spPr>
          <a:xfrm>
            <a:off x="3520440" y="3767328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on dashboard — cards, graphs, maps, nowcast widget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 rot="5400000">
            <a:off x="5961888" y="4110228"/>
            <a:ext cx="146304" cy="146304"/>
          </a:xfrm>
          <a:prstGeom prst="triangle">
            <a:avLst/>
          </a:prstGeom>
          <a:solidFill>
            <a:srgbClr val="5A6B78"/>
          </a:solidFill>
          <a:ln/>
        </p:spPr>
      </p:sp>
      <p:sp>
        <p:nvSpPr>
          <p:cNvPr id="32" name="Shape 30"/>
          <p:cNvSpPr/>
          <p:nvPr/>
        </p:nvSpPr>
        <p:spPr>
          <a:xfrm>
            <a:off x="6172200" y="34747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6B7A8C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336792" y="3218688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4" name="Text 32"/>
          <p:cNvSpPr/>
          <p:nvPr/>
        </p:nvSpPr>
        <p:spPr>
          <a:xfrm>
            <a:off x="6336792" y="32186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3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32" dirty="0"/>
          </a:p>
        </p:txBody>
      </p:sp>
      <p:sp>
        <p:nvSpPr>
          <p:cNvPr id="35" name="Text 33"/>
          <p:cNvSpPr/>
          <p:nvPr/>
        </p:nvSpPr>
        <p:spPr>
          <a:xfrm>
            <a:off x="6355080" y="3767328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logs in via Google/Facebook, comments on blog posts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Hyperlocal Rainfall Nowcasting — FYP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 — Base Papers (1/2)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F5F9FB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517904"/>
            <a:ext cx="10607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Shi, X., Chen, Z., Wang, H., Yeung, D.-Y., Wong, W.-K., &amp; Woo, W.-C. (2015). Convolutional LSTM Network: A Machine Learning Approach for Precipitation Nowcasting. arXiv:1506.04214.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2487168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F5F9F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542032"/>
            <a:ext cx="10607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Shi, X., Gao, Z., Lausen, L., Wang, H., Yeung, D.-Y., Wong, W.-K., &amp; Woo, W.-C. (2017). Deep Learning for Precipitation Nowcasting: A Benchmark and A New Model. NeurIPS / arXiv:1706.03458.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3511296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F5F9FB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566160"/>
            <a:ext cx="10607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Patel, M., Patel, A., &amp; Ghosh, R. Precipitation Nowcasting: Leveraging Bidirectional LSTM and 1D CNN. DA-IICT. arXiv:1810.10485.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4535424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F5F9FB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4590288"/>
            <a:ext cx="10607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LSTMAtU-Net: A Precipitation Nowcasting Model Based on ECSA Module. Sensors, 23(13), 5785 (2023).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5559552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F5F9FB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5614416"/>
            <a:ext cx="10607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ConvLSTM Network-Based Rainfall Nowcasting Method with Combined Reflectance and Radar-Retrieved Wind Field as Inputs. Atmosphere, 13(3), 411 (2022), MDPI.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Hyperlocal Rainfall Nowcasting — FYP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 — Base Papers (2/2)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F5F9FB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517904"/>
            <a:ext cx="10607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Two-Stream Convolutional LSTM for Precipitation Nowcasting. Neural Computing and Applications, 34 (2022), Springer.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2487168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F5F9F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542032"/>
            <a:ext cx="10607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A Data-Driven Approach for High Accurate Spatiotemporal Precipitation Estimation (GNN encoder–decoder with multimodal fusion). Neural Computing and Applications (2024), Springer.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3511296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F5F9FB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566160"/>
            <a:ext cx="10607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ST-GRF: Spatiotemporal Graph Neural Networks for Rainfall Forecasting. Digital Signal Processing, ScienceDirect (2023).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4535424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F5F9FB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4590288"/>
            <a:ext cx="10607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A Structured Graph Neural Network for Improving the Numerical Weather Prediction of Rainfall (GIPMN — NWP + GNN hybrid). (2023).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5559552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F5F9FB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5614416"/>
            <a:ext cx="10607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 Rainfall Prediction using Random Forest and XGBoost — A Comparative Study (Jammu Region). IEEE Conference Publication.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Hyperlocal Rainfall Nowcasting — FYP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1612</Words>
  <Application>Microsoft Office PowerPoint</Application>
  <PresentationFormat>Widescreen</PresentationFormat>
  <Paragraphs>218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Bharath B</cp:lastModifiedBy>
  <cp:revision>7</cp:revision>
  <dcterms:created xsi:type="dcterms:W3CDTF">2026-07-10T15:56:06Z</dcterms:created>
  <dcterms:modified xsi:type="dcterms:W3CDTF">2026-09-22T09:03:05Z</dcterms:modified>
</cp:coreProperties>
</file>